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</p:sldMasterIdLst>
  <p:notesMasterIdLst>
    <p:notesMasterId r:id="rId80"/>
  </p:notesMasterIdLst>
  <p:sldIdLst>
    <p:sldId id="320" r:id="rId2"/>
    <p:sldId id="321" r:id="rId3"/>
    <p:sldId id="322" r:id="rId4"/>
    <p:sldId id="323" r:id="rId5"/>
    <p:sldId id="324" r:id="rId6"/>
    <p:sldId id="325" r:id="rId7"/>
    <p:sldId id="317" r:id="rId8"/>
    <p:sldId id="318" r:id="rId9"/>
    <p:sldId id="319" r:id="rId10"/>
    <p:sldId id="326" r:id="rId11"/>
    <p:sldId id="327" r:id="rId12"/>
    <p:sldId id="256" r:id="rId13"/>
    <p:sldId id="257" r:id="rId14"/>
    <p:sldId id="258" r:id="rId15"/>
    <p:sldId id="259" r:id="rId16"/>
    <p:sldId id="314" r:id="rId17"/>
    <p:sldId id="315" r:id="rId18"/>
    <p:sldId id="260" r:id="rId19"/>
    <p:sldId id="316" r:id="rId20"/>
    <p:sldId id="328" r:id="rId21"/>
    <p:sldId id="329" r:id="rId22"/>
    <p:sldId id="262" r:id="rId23"/>
    <p:sldId id="261" r:id="rId24"/>
    <p:sldId id="263" r:id="rId25"/>
    <p:sldId id="264" r:id="rId26"/>
    <p:sldId id="265" r:id="rId27"/>
    <p:sldId id="266" r:id="rId28"/>
    <p:sldId id="330" r:id="rId29"/>
    <p:sldId id="267" r:id="rId30"/>
    <p:sldId id="268" r:id="rId31"/>
    <p:sldId id="269" r:id="rId32"/>
    <p:sldId id="270" r:id="rId33"/>
    <p:sldId id="332" r:id="rId34"/>
    <p:sldId id="331" r:id="rId35"/>
    <p:sldId id="274" r:id="rId36"/>
    <p:sldId id="275" r:id="rId37"/>
    <p:sldId id="276" r:id="rId38"/>
    <p:sldId id="335" r:id="rId39"/>
    <p:sldId id="271" r:id="rId40"/>
    <p:sldId id="272" r:id="rId41"/>
    <p:sldId id="333" r:id="rId42"/>
    <p:sldId id="334" r:id="rId43"/>
    <p:sldId id="278" r:id="rId44"/>
    <p:sldId id="279" r:id="rId45"/>
    <p:sldId id="281" r:id="rId46"/>
    <p:sldId id="282" r:id="rId47"/>
    <p:sldId id="284" r:id="rId48"/>
    <p:sldId id="283" r:id="rId49"/>
    <p:sldId id="287" r:id="rId50"/>
    <p:sldId id="285" r:id="rId51"/>
    <p:sldId id="286" r:id="rId52"/>
    <p:sldId id="280" r:id="rId53"/>
    <p:sldId id="288" r:id="rId54"/>
    <p:sldId id="289" r:id="rId55"/>
    <p:sldId id="290" r:id="rId56"/>
    <p:sldId id="291" r:id="rId57"/>
    <p:sldId id="292" r:id="rId58"/>
    <p:sldId id="293" r:id="rId59"/>
    <p:sldId id="294" r:id="rId60"/>
    <p:sldId id="295" r:id="rId61"/>
    <p:sldId id="297" r:id="rId62"/>
    <p:sldId id="296" r:id="rId63"/>
    <p:sldId id="298" r:id="rId64"/>
    <p:sldId id="301" r:id="rId65"/>
    <p:sldId id="302" r:id="rId66"/>
    <p:sldId id="299" r:id="rId67"/>
    <p:sldId id="300" r:id="rId68"/>
    <p:sldId id="303" r:id="rId69"/>
    <p:sldId id="304" r:id="rId70"/>
    <p:sldId id="305" r:id="rId71"/>
    <p:sldId id="306" r:id="rId72"/>
    <p:sldId id="312" r:id="rId73"/>
    <p:sldId id="307" r:id="rId74"/>
    <p:sldId id="308" r:id="rId75"/>
    <p:sldId id="310" r:id="rId76"/>
    <p:sldId id="311" r:id="rId77"/>
    <p:sldId id="313" r:id="rId78"/>
    <p:sldId id="309" r:id="rId7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2" d="100"/>
          <a:sy n="62" d="100"/>
        </p:scale>
        <p:origin x="14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1:08:59.7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1:12:58.4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1:13:04.2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F5FFBA-9818-4BE7-A2E7-30911F04CE6B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CC6C0A-949B-40E6-AFD1-DB0C60C1462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8922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CC6C0A-949B-40E6-AFD1-DB0C60C14626}" type="slidenum">
              <a:rPr lang="pt-BR" smtClean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17923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F9A648C8-0436-6FAF-8B52-BA15EFB5F90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1" y="343038"/>
            <a:ext cx="11506200" cy="4792766"/>
          </a:xfrm>
          <a:custGeom>
            <a:avLst/>
            <a:gdLst>
              <a:gd name="connsiteX0" fmla="*/ 292023 w 11506200"/>
              <a:gd name="connsiteY0" fmla="*/ 0 h 4792766"/>
              <a:gd name="connsiteX1" fmla="*/ 11214177 w 11506200"/>
              <a:gd name="connsiteY1" fmla="*/ 0 h 4792766"/>
              <a:gd name="connsiteX2" fmla="*/ 11506200 w 11506200"/>
              <a:gd name="connsiteY2" fmla="*/ 292023 h 4792766"/>
              <a:gd name="connsiteX3" fmla="*/ 11506200 w 11506200"/>
              <a:gd name="connsiteY3" fmla="*/ 4500743 h 4792766"/>
              <a:gd name="connsiteX4" fmla="*/ 11214177 w 11506200"/>
              <a:gd name="connsiteY4" fmla="*/ 4792766 h 4792766"/>
              <a:gd name="connsiteX5" fmla="*/ 292023 w 11506200"/>
              <a:gd name="connsiteY5" fmla="*/ 4792766 h 4792766"/>
              <a:gd name="connsiteX6" fmla="*/ 0 w 11506200"/>
              <a:gd name="connsiteY6" fmla="*/ 4500743 h 4792766"/>
              <a:gd name="connsiteX7" fmla="*/ 0 w 11506200"/>
              <a:gd name="connsiteY7" fmla="*/ 292023 h 4792766"/>
              <a:gd name="connsiteX8" fmla="*/ 292023 w 11506200"/>
              <a:gd name="connsiteY8" fmla="*/ 0 h 4792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6200" h="4792766">
                <a:moveTo>
                  <a:pt x="292023" y="0"/>
                </a:moveTo>
                <a:lnTo>
                  <a:pt x="11214177" y="0"/>
                </a:lnTo>
                <a:cubicBezTo>
                  <a:pt x="11375457" y="0"/>
                  <a:pt x="11506200" y="130743"/>
                  <a:pt x="11506200" y="292023"/>
                </a:cubicBezTo>
                <a:lnTo>
                  <a:pt x="11506200" y="4500743"/>
                </a:lnTo>
                <a:cubicBezTo>
                  <a:pt x="11506200" y="4662023"/>
                  <a:pt x="11375457" y="4792766"/>
                  <a:pt x="11214177" y="4792766"/>
                </a:cubicBezTo>
                <a:lnTo>
                  <a:pt x="292023" y="4792766"/>
                </a:lnTo>
                <a:cubicBezTo>
                  <a:pt x="130743" y="4792766"/>
                  <a:pt x="0" y="4662023"/>
                  <a:pt x="0" y="4500743"/>
                </a:cubicBezTo>
                <a:lnTo>
                  <a:pt x="0" y="292023"/>
                </a:lnTo>
                <a:cubicBezTo>
                  <a:pt x="0" y="130743"/>
                  <a:pt x="130743" y="0"/>
                  <a:pt x="292023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6CD91AB5-8D64-469B-81DF-A26B406D2B54}" type="datetime1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8313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96B54-ED46-4036-80F8-E8EFB102CB24}" type="datetime1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896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4590288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2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55FC269D-AA10-2D35-8DD6-33E0E2CC40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91348" y="343038"/>
            <a:ext cx="6257031" cy="6172200"/>
          </a:xfrm>
          <a:custGeom>
            <a:avLst/>
            <a:gdLst>
              <a:gd name="connsiteX0" fmla="*/ 318609 w 6257031"/>
              <a:gd name="connsiteY0" fmla="*/ 0 h 6172200"/>
              <a:gd name="connsiteX1" fmla="*/ 5938422 w 6257031"/>
              <a:gd name="connsiteY1" fmla="*/ 0 h 6172200"/>
              <a:gd name="connsiteX2" fmla="*/ 6257031 w 6257031"/>
              <a:gd name="connsiteY2" fmla="*/ 318609 h 6172200"/>
              <a:gd name="connsiteX3" fmla="*/ 6257031 w 6257031"/>
              <a:gd name="connsiteY3" fmla="*/ 5853591 h 6172200"/>
              <a:gd name="connsiteX4" fmla="*/ 5938422 w 6257031"/>
              <a:gd name="connsiteY4" fmla="*/ 6172200 h 6172200"/>
              <a:gd name="connsiteX5" fmla="*/ 318609 w 6257031"/>
              <a:gd name="connsiteY5" fmla="*/ 6172200 h 6172200"/>
              <a:gd name="connsiteX6" fmla="*/ 0 w 6257031"/>
              <a:gd name="connsiteY6" fmla="*/ 5853591 h 6172200"/>
              <a:gd name="connsiteX7" fmla="*/ 0 w 6257031"/>
              <a:gd name="connsiteY7" fmla="*/ 318609 h 6172200"/>
              <a:gd name="connsiteX8" fmla="*/ 318609 w 6257031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57031" h="6172200">
                <a:moveTo>
                  <a:pt x="318609" y="0"/>
                </a:moveTo>
                <a:lnTo>
                  <a:pt x="5938422" y="0"/>
                </a:lnTo>
                <a:cubicBezTo>
                  <a:pt x="6114385" y="0"/>
                  <a:pt x="6257031" y="142646"/>
                  <a:pt x="6257031" y="318609"/>
                </a:cubicBezTo>
                <a:lnTo>
                  <a:pt x="6257031" y="5853591"/>
                </a:lnTo>
                <a:cubicBezTo>
                  <a:pt x="6257031" y="6029554"/>
                  <a:pt x="6114385" y="6172200"/>
                  <a:pt x="5938422" y="6172200"/>
                </a:cubicBezTo>
                <a:lnTo>
                  <a:pt x="318609" y="6172200"/>
                </a:lnTo>
                <a:cubicBezTo>
                  <a:pt x="142646" y="6172200"/>
                  <a:pt x="0" y="6029554"/>
                  <a:pt x="0" y="5853591"/>
                </a:cubicBezTo>
                <a:lnTo>
                  <a:pt x="0" y="318609"/>
                </a:lnTo>
                <a:cubicBezTo>
                  <a:pt x="0" y="142646"/>
                  <a:pt x="142646" y="0"/>
                  <a:pt x="31860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164B5AC7-D387-41BC-BBB6-F6DD0E8CACDB}" type="datetime1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4322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5397718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517136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A0D73698-4765-4C7F-8C74-6EF048F95E94}" type="datetime1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8F28510C-0939-D915-FCC8-7D8AD447578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20113" y="342900"/>
            <a:ext cx="5131133" cy="6172200"/>
          </a:xfrm>
          <a:custGeom>
            <a:avLst/>
            <a:gdLst>
              <a:gd name="connsiteX0" fmla="*/ 305905 w 5334000"/>
              <a:gd name="connsiteY0" fmla="*/ 0 h 6172200"/>
              <a:gd name="connsiteX1" fmla="*/ 5028095 w 5334000"/>
              <a:gd name="connsiteY1" fmla="*/ 0 h 6172200"/>
              <a:gd name="connsiteX2" fmla="*/ 5334000 w 5334000"/>
              <a:gd name="connsiteY2" fmla="*/ 305905 h 6172200"/>
              <a:gd name="connsiteX3" fmla="*/ 5334000 w 5334000"/>
              <a:gd name="connsiteY3" fmla="*/ 5866295 h 6172200"/>
              <a:gd name="connsiteX4" fmla="*/ 5028095 w 5334000"/>
              <a:gd name="connsiteY4" fmla="*/ 6172200 h 6172200"/>
              <a:gd name="connsiteX5" fmla="*/ 305905 w 5334000"/>
              <a:gd name="connsiteY5" fmla="*/ 6172200 h 6172200"/>
              <a:gd name="connsiteX6" fmla="*/ 0 w 5334000"/>
              <a:gd name="connsiteY6" fmla="*/ 5866295 h 6172200"/>
              <a:gd name="connsiteX7" fmla="*/ 0 w 5334000"/>
              <a:gd name="connsiteY7" fmla="*/ 305905 h 6172200"/>
              <a:gd name="connsiteX8" fmla="*/ 305905 w 53340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34000" h="6172200">
                <a:moveTo>
                  <a:pt x="305905" y="0"/>
                </a:moveTo>
                <a:lnTo>
                  <a:pt x="5028095" y="0"/>
                </a:lnTo>
                <a:cubicBezTo>
                  <a:pt x="5197042" y="0"/>
                  <a:pt x="5334000" y="136958"/>
                  <a:pt x="5334000" y="305905"/>
                </a:cubicBezTo>
                <a:lnTo>
                  <a:pt x="5334000" y="5866295"/>
                </a:lnTo>
                <a:cubicBezTo>
                  <a:pt x="5334000" y="6035242"/>
                  <a:pt x="5197042" y="6172200"/>
                  <a:pt x="5028095" y="6172200"/>
                </a:cubicBezTo>
                <a:lnTo>
                  <a:pt x="305905" y="6172200"/>
                </a:lnTo>
                <a:cubicBezTo>
                  <a:pt x="136958" y="6172200"/>
                  <a:pt x="0" y="6035242"/>
                  <a:pt x="0" y="5866295"/>
                </a:cubicBezTo>
                <a:lnTo>
                  <a:pt x="0" y="305905"/>
                </a:lnTo>
                <a:cubicBezTo>
                  <a:pt x="0" y="136958"/>
                  <a:pt x="136958" y="0"/>
                  <a:pt x="305905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481969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9480" y="411480"/>
            <a:ext cx="4361688" cy="39684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2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9480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55FC269D-AA10-2D35-8DD6-33E0E2CC40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7472" y="343038"/>
            <a:ext cx="6257031" cy="6172200"/>
          </a:xfrm>
          <a:custGeom>
            <a:avLst/>
            <a:gdLst>
              <a:gd name="connsiteX0" fmla="*/ 318609 w 6257031"/>
              <a:gd name="connsiteY0" fmla="*/ 0 h 6172200"/>
              <a:gd name="connsiteX1" fmla="*/ 5938422 w 6257031"/>
              <a:gd name="connsiteY1" fmla="*/ 0 h 6172200"/>
              <a:gd name="connsiteX2" fmla="*/ 6257031 w 6257031"/>
              <a:gd name="connsiteY2" fmla="*/ 318609 h 6172200"/>
              <a:gd name="connsiteX3" fmla="*/ 6257031 w 6257031"/>
              <a:gd name="connsiteY3" fmla="*/ 5853591 h 6172200"/>
              <a:gd name="connsiteX4" fmla="*/ 5938422 w 6257031"/>
              <a:gd name="connsiteY4" fmla="*/ 6172200 h 6172200"/>
              <a:gd name="connsiteX5" fmla="*/ 318609 w 6257031"/>
              <a:gd name="connsiteY5" fmla="*/ 6172200 h 6172200"/>
              <a:gd name="connsiteX6" fmla="*/ 0 w 6257031"/>
              <a:gd name="connsiteY6" fmla="*/ 5853591 h 6172200"/>
              <a:gd name="connsiteX7" fmla="*/ 0 w 6257031"/>
              <a:gd name="connsiteY7" fmla="*/ 318609 h 6172200"/>
              <a:gd name="connsiteX8" fmla="*/ 318609 w 6257031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57031" h="6172200">
                <a:moveTo>
                  <a:pt x="318609" y="0"/>
                </a:moveTo>
                <a:lnTo>
                  <a:pt x="5938422" y="0"/>
                </a:lnTo>
                <a:cubicBezTo>
                  <a:pt x="6114385" y="0"/>
                  <a:pt x="6257031" y="142646"/>
                  <a:pt x="6257031" y="318609"/>
                </a:cubicBezTo>
                <a:lnTo>
                  <a:pt x="6257031" y="5853591"/>
                </a:lnTo>
                <a:cubicBezTo>
                  <a:pt x="6257031" y="6029554"/>
                  <a:pt x="6114385" y="6172200"/>
                  <a:pt x="5938422" y="6172200"/>
                </a:cubicBezTo>
                <a:lnTo>
                  <a:pt x="318609" y="6172200"/>
                </a:lnTo>
                <a:cubicBezTo>
                  <a:pt x="142646" y="6172200"/>
                  <a:pt x="0" y="6029554"/>
                  <a:pt x="0" y="5853591"/>
                </a:cubicBezTo>
                <a:lnTo>
                  <a:pt x="0" y="318609"/>
                </a:lnTo>
                <a:cubicBezTo>
                  <a:pt x="0" y="142646"/>
                  <a:pt x="142646" y="0"/>
                  <a:pt x="31860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19A3EA51-69C4-4090-B98A-31CA47A2E35E}" type="datetime1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5808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38912"/>
            <a:ext cx="9317736" cy="445312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9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965192"/>
            <a:ext cx="5431536" cy="128930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6633933-AD95-42CF-A390-A7073FD506A1}" type="datetime1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8102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8176" y="1536192"/>
            <a:ext cx="9171432" cy="2615184"/>
          </a:xfrm>
        </p:spPr>
        <p:txBody>
          <a:bodyPr anchor="ctr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8176" y="4427554"/>
            <a:ext cx="9171432" cy="11430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D50E307-C64C-483A-9485-A61D01D72197}" type="datetime1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2579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38912"/>
            <a:ext cx="11494008" cy="46542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25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093208"/>
            <a:ext cx="5669280" cy="116128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BC36CA3-7064-4E52-B24E-E3CC37B36CB8}" type="datetime1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3401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7A12A6-507C-2714-2F24-09ADE11584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810512"/>
            <a:ext cx="7772400" cy="4562856"/>
          </a:xfrm>
        </p:spPr>
        <p:txBody>
          <a:bodyPr anchor="b">
            <a:normAutofit/>
          </a:bodyPr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3F469A-9BA4-41D9-A358-7174319CB857}" type="datetime1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0394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 anchor="t">
            <a:normAutofit/>
          </a:bodyPr>
          <a:lstStyle>
            <a:lvl1pPr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98464" y="2423160"/>
            <a:ext cx="5486400" cy="3886200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>
              <a:buFont typeface="+mj-lt"/>
              <a:buAutoNum type="arabicPeriod"/>
              <a:defRPr lang="en-US" dirty="0"/>
            </a:lvl4pPr>
            <a:lvl5pPr>
              <a:buFont typeface="+mj-lt"/>
              <a:buAutoNum type="arabicPeriod"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B0C55-2E11-4E7F-9EF8-868B07C6C42C}" type="datetime1">
              <a:rPr lang="en-US" smtClean="0"/>
              <a:t>8/22/2026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5655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4384" y="1012952"/>
            <a:ext cx="4023360" cy="1636776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FE8E4848-C9F6-6844-AB1C-C4F0E8A472A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42901" y="345109"/>
            <a:ext cx="6714969" cy="6163508"/>
          </a:xfrm>
          <a:custGeom>
            <a:avLst/>
            <a:gdLst>
              <a:gd name="connsiteX0" fmla="*/ 281857 w 6714969"/>
              <a:gd name="connsiteY0" fmla="*/ 0 h 6163508"/>
              <a:gd name="connsiteX1" fmla="*/ 6433112 w 6714969"/>
              <a:gd name="connsiteY1" fmla="*/ 0 h 6163508"/>
              <a:gd name="connsiteX2" fmla="*/ 6714969 w 6714969"/>
              <a:gd name="connsiteY2" fmla="*/ 281857 h 6163508"/>
              <a:gd name="connsiteX3" fmla="*/ 6714969 w 6714969"/>
              <a:gd name="connsiteY3" fmla="*/ 5881651 h 6163508"/>
              <a:gd name="connsiteX4" fmla="*/ 6433112 w 6714969"/>
              <a:gd name="connsiteY4" fmla="*/ 6163508 h 6163508"/>
              <a:gd name="connsiteX5" fmla="*/ 281857 w 6714969"/>
              <a:gd name="connsiteY5" fmla="*/ 6163508 h 6163508"/>
              <a:gd name="connsiteX6" fmla="*/ 0 w 6714969"/>
              <a:gd name="connsiteY6" fmla="*/ 5881651 h 6163508"/>
              <a:gd name="connsiteX7" fmla="*/ 0 w 6714969"/>
              <a:gd name="connsiteY7" fmla="*/ 281857 h 6163508"/>
              <a:gd name="connsiteX8" fmla="*/ 281857 w 6714969"/>
              <a:gd name="connsiteY8" fmla="*/ 0 h 6163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14969" h="6163508">
                <a:moveTo>
                  <a:pt x="281857" y="0"/>
                </a:moveTo>
                <a:lnTo>
                  <a:pt x="6433112" y="0"/>
                </a:lnTo>
                <a:cubicBezTo>
                  <a:pt x="6588777" y="0"/>
                  <a:pt x="6714969" y="126192"/>
                  <a:pt x="6714969" y="281857"/>
                </a:cubicBezTo>
                <a:lnTo>
                  <a:pt x="6714969" y="5881651"/>
                </a:lnTo>
                <a:cubicBezTo>
                  <a:pt x="6714969" y="6037316"/>
                  <a:pt x="6588777" y="6163508"/>
                  <a:pt x="6433112" y="6163508"/>
                </a:cubicBezTo>
                <a:lnTo>
                  <a:pt x="281857" y="6163508"/>
                </a:lnTo>
                <a:cubicBezTo>
                  <a:pt x="126192" y="6163508"/>
                  <a:pt x="0" y="6037316"/>
                  <a:pt x="0" y="5881651"/>
                </a:cubicBezTo>
                <a:lnTo>
                  <a:pt x="0" y="281857"/>
                </a:lnTo>
                <a:cubicBezTo>
                  <a:pt x="0" y="126192"/>
                  <a:pt x="126192" y="0"/>
                  <a:pt x="281857" y="0"/>
                </a:cubicBezTo>
                <a:close/>
              </a:path>
            </a:pathLst>
          </a:custGeom>
          <a:blipFill dpi="0" rotWithShape="1">
            <a:blip r:embed="rId2">
              <a:alphaModFix amt="6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44384" y="2896616"/>
            <a:ext cx="4023360" cy="3364992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>
              <a:buFont typeface="+mj-lt"/>
              <a:buAutoNum type="arabicPeriod"/>
              <a:defRPr lang="en-US" dirty="0"/>
            </a:lvl4pPr>
            <a:lvl5pPr>
              <a:buFont typeface="+mj-lt"/>
              <a:buAutoNum type="arabicPeriod"/>
              <a:defRPr lang="en-US" dirty="0"/>
            </a:lvl5pPr>
          </a:lstStyle>
          <a:p>
            <a:pPr marL="228600" lvl="0" indent="-228600"/>
            <a:r>
              <a:rPr lang="en-US" dirty="0"/>
              <a:t>Click to edit Master text styles</a:t>
            </a:r>
          </a:p>
          <a:p>
            <a:pPr marL="228600" lvl="1" indent="-228600"/>
            <a:r>
              <a:rPr lang="en-US" dirty="0"/>
              <a:t>Second level</a:t>
            </a:r>
          </a:p>
          <a:p>
            <a:pPr marL="228600" lvl="2" indent="-228600"/>
            <a:r>
              <a:rPr lang="en-US" dirty="0"/>
              <a:t>Third level</a:t>
            </a:r>
          </a:p>
          <a:p>
            <a:pPr marL="228600" lvl="3" indent="-228600"/>
            <a:r>
              <a:rPr lang="en-US" dirty="0"/>
              <a:t>Fourth level</a:t>
            </a:r>
          </a:p>
          <a:p>
            <a:pPr marL="228600" lvl="4" indent="-228600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9FCAD-E19B-4A0F-866E-979EDEC4B525}" type="datetime1">
              <a:rPr lang="en-US" smtClean="0"/>
              <a:t>8/22/2026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4371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478024"/>
            <a:ext cx="4325112" cy="2454796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478024"/>
            <a:ext cx="4325112" cy="24597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B4A14-E3E2-4038-B0C4-0EC5ECBDA17A}" type="datetime1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3694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039112"/>
            <a:ext cx="3813048" cy="353872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2039112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01396-E7F4-44BB-B3C1-CAADE8EE1BCB}" type="datetime1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3322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00200"/>
            <a:ext cx="4142232" cy="46360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1600200"/>
            <a:ext cx="5788152" cy="46360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03B70-0873-4F91-B20E-188F8FCBC95A}" type="datetime1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2299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4032504" cy="3621024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640080"/>
            <a:ext cx="5971032" cy="57241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11211-1BBF-43C8-98F1-415153382D43}" type="datetime1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3660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3493008" cy="362102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5696" y="640080"/>
            <a:ext cx="7159752" cy="57197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C37F1-4FE0-40C5-A1CC-AC65E60D9E3F}" type="datetime1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9853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0408" y="548640"/>
            <a:ext cx="6035040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F226A48-373B-47E6-1E90-9892366CC9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0" y="342900"/>
            <a:ext cx="4501152" cy="6172200"/>
          </a:xfrm>
          <a:custGeom>
            <a:avLst/>
            <a:gdLst>
              <a:gd name="connsiteX0" fmla="*/ 332635 w 4501152"/>
              <a:gd name="connsiteY0" fmla="*/ 0 h 6172200"/>
              <a:gd name="connsiteX1" fmla="*/ 4168517 w 4501152"/>
              <a:gd name="connsiteY1" fmla="*/ 0 h 6172200"/>
              <a:gd name="connsiteX2" fmla="*/ 4501152 w 4501152"/>
              <a:gd name="connsiteY2" fmla="*/ 331423 h 6172200"/>
              <a:gd name="connsiteX3" fmla="*/ 4501152 w 4501152"/>
              <a:gd name="connsiteY3" fmla="*/ 5840778 h 6172200"/>
              <a:gd name="connsiteX4" fmla="*/ 4168517 w 4501152"/>
              <a:gd name="connsiteY4" fmla="*/ 6172200 h 6172200"/>
              <a:gd name="connsiteX5" fmla="*/ 332635 w 4501152"/>
              <a:gd name="connsiteY5" fmla="*/ 6172200 h 6172200"/>
              <a:gd name="connsiteX6" fmla="*/ 0 w 4501152"/>
              <a:gd name="connsiteY6" fmla="*/ 5840778 h 6172200"/>
              <a:gd name="connsiteX7" fmla="*/ 0 w 4501152"/>
              <a:gd name="connsiteY7" fmla="*/ 331423 h 6172200"/>
              <a:gd name="connsiteX8" fmla="*/ 332635 w 4501152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01152" h="6172200">
                <a:moveTo>
                  <a:pt x="332635" y="0"/>
                </a:moveTo>
                <a:lnTo>
                  <a:pt x="4168517" y="0"/>
                </a:lnTo>
                <a:cubicBezTo>
                  <a:pt x="4352226" y="0"/>
                  <a:pt x="4501152" y="148383"/>
                  <a:pt x="4501152" y="331423"/>
                </a:cubicBezTo>
                <a:lnTo>
                  <a:pt x="4501152" y="5840778"/>
                </a:lnTo>
                <a:cubicBezTo>
                  <a:pt x="4501152" y="6023817"/>
                  <a:pt x="4352226" y="6172200"/>
                  <a:pt x="4168517" y="6172200"/>
                </a:cubicBezTo>
                <a:lnTo>
                  <a:pt x="332635" y="6172200"/>
                </a:lnTo>
                <a:cubicBezTo>
                  <a:pt x="148926" y="6172200"/>
                  <a:pt x="0" y="6023817"/>
                  <a:pt x="0" y="5840778"/>
                </a:cubicBezTo>
                <a:lnTo>
                  <a:pt x="0" y="331423"/>
                </a:lnTo>
                <a:cubicBezTo>
                  <a:pt x="0" y="148383"/>
                  <a:pt x="148926" y="0"/>
                  <a:pt x="33263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50408" y="1828800"/>
            <a:ext cx="6035040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0F37310-2C84-4F72-97F3-ED5E52F7A674}" type="datetime1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0686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40"/>
            <a:ext cx="6135624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828800"/>
            <a:ext cx="6135624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7373D-8BEF-4D11-A85D-4ADD8461D8CF}" type="datetime1">
              <a:rPr lang="en-US" smtClean="0"/>
              <a:t>8/22/2026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F11DC52-D1FD-A255-1A04-7A15A9DE3C8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53304" y="352327"/>
            <a:ext cx="4495799" cy="6172200"/>
          </a:xfrm>
          <a:custGeom>
            <a:avLst/>
            <a:gdLst>
              <a:gd name="connsiteX0" fmla="*/ 293171 w 4495799"/>
              <a:gd name="connsiteY0" fmla="*/ 0 h 6172200"/>
              <a:gd name="connsiteX1" fmla="*/ 4202628 w 4495799"/>
              <a:gd name="connsiteY1" fmla="*/ 0 h 6172200"/>
              <a:gd name="connsiteX2" fmla="*/ 4495799 w 4495799"/>
              <a:gd name="connsiteY2" fmla="*/ 293171 h 6172200"/>
              <a:gd name="connsiteX3" fmla="*/ 4495799 w 4495799"/>
              <a:gd name="connsiteY3" fmla="*/ 5879029 h 6172200"/>
              <a:gd name="connsiteX4" fmla="*/ 4202628 w 4495799"/>
              <a:gd name="connsiteY4" fmla="*/ 6172200 h 6172200"/>
              <a:gd name="connsiteX5" fmla="*/ 293171 w 4495799"/>
              <a:gd name="connsiteY5" fmla="*/ 6172200 h 6172200"/>
              <a:gd name="connsiteX6" fmla="*/ 0 w 4495799"/>
              <a:gd name="connsiteY6" fmla="*/ 5879029 h 6172200"/>
              <a:gd name="connsiteX7" fmla="*/ 0 w 4495799"/>
              <a:gd name="connsiteY7" fmla="*/ 293171 h 6172200"/>
              <a:gd name="connsiteX8" fmla="*/ 293171 w 4495799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95799" h="6172200">
                <a:moveTo>
                  <a:pt x="293171" y="0"/>
                </a:moveTo>
                <a:lnTo>
                  <a:pt x="4202628" y="0"/>
                </a:lnTo>
                <a:cubicBezTo>
                  <a:pt x="4364542" y="0"/>
                  <a:pt x="4495799" y="131257"/>
                  <a:pt x="4495799" y="293171"/>
                </a:cubicBezTo>
                <a:lnTo>
                  <a:pt x="4495799" y="5879029"/>
                </a:lnTo>
                <a:cubicBezTo>
                  <a:pt x="4495799" y="6040943"/>
                  <a:pt x="4364542" y="6172200"/>
                  <a:pt x="4202628" y="6172200"/>
                </a:cubicBezTo>
                <a:lnTo>
                  <a:pt x="293171" y="6172200"/>
                </a:lnTo>
                <a:cubicBezTo>
                  <a:pt x="131257" y="6172200"/>
                  <a:pt x="0" y="6040943"/>
                  <a:pt x="0" y="5879029"/>
                </a:cubicBezTo>
                <a:lnTo>
                  <a:pt x="0" y="293171"/>
                </a:lnTo>
                <a:cubicBezTo>
                  <a:pt x="0" y="131257"/>
                  <a:pt x="131257" y="0"/>
                  <a:pt x="293171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6397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076" y="320040"/>
            <a:ext cx="676656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539F8C7-DD74-7177-C2DA-02533B6576F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9373" y="344424"/>
            <a:ext cx="3808553" cy="61722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20076" y="1380744"/>
            <a:ext cx="676656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04D0A65-74B1-4258-9347-517577BEF7B0}" type="datetime1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9127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320040"/>
            <a:ext cx="685800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380744"/>
            <a:ext cx="6858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00591-709C-49DC-8FE0-9F32B5969F72}" type="datetime1">
              <a:rPr lang="en-US" smtClean="0"/>
              <a:t>8/22/2026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6768" y="344424"/>
            <a:ext cx="3808553" cy="61722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30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601755"/>
            <a:ext cx="4389120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B281557-D8C5-3666-A17C-BD66A5F9C04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1522" y="342902"/>
            <a:ext cx="6249778" cy="6172343"/>
          </a:xfrm>
          <a:custGeom>
            <a:avLst/>
            <a:gdLst>
              <a:gd name="connsiteX0" fmla="*/ 258473 w 6249778"/>
              <a:gd name="connsiteY0" fmla="*/ 0 h 6172343"/>
              <a:gd name="connsiteX1" fmla="*/ 5991306 w 6249778"/>
              <a:gd name="connsiteY1" fmla="*/ 0 h 6172343"/>
              <a:gd name="connsiteX2" fmla="*/ 6249778 w 6249778"/>
              <a:gd name="connsiteY2" fmla="*/ 257942 h 6172343"/>
              <a:gd name="connsiteX3" fmla="*/ 6249778 w 6249778"/>
              <a:gd name="connsiteY3" fmla="*/ 5914401 h 6172343"/>
              <a:gd name="connsiteX4" fmla="*/ 5991306 w 6249778"/>
              <a:gd name="connsiteY4" fmla="*/ 6172343 h 6172343"/>
              <a:gd name="connsiteX5" fmla="*/ 258473 w 6249778"/>
              <a:gd name="connsiteY5" fmla="*/ 6172343 h 6172343"/>
              <a:gd name="connsiteX6" fmla="*/ 0 w 6249778"/>
              <a:gd name="connsiteY6" fmla="*/ 5914401 h 6172343"/>
              <a:gd name="connsiteX7" fmla="*/ 0 w 6249778"/>
              <a:gd name="connsiteY7" fmla="*/ 257942 h 6172343"/>
              <a:gd name="connsiteX8" fmla="*/ 258473 w 6249778"/>
              <a:gd name="connsiteY8" fmla="*/ 0 h 617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49778" h="6172343">
                <a:moveTo>
                  <a:pt x="258473" y="0"/>
                </a:moveTo>
                <a:lnTo>
                  <a:pt x="5991306" y="0"/>
                </a:lnTo>
                <a:cubicBezTo>
                  <a:pt x="6134057" y="0"/>
                  <a:pt x="6249778" y="115484"/>
                  <a:pt x="6249778" y="257942"/>
                </a:cubicBezTo>
                <a:lnTo>
                  <a:pt x="6249778" y="5914401"/>
                </a:lnTo>
                <a:cubicBezTo>
                  <a:pt x="6249778" y="6056859"/>
                  <a:pt x="6134057" y="6172343"/>
                  <a:pt x="5991306" y="6172343"/>
                </a:cubicBezTo>
                <a:lnTo>
                  <a:pt x="258473" y="6172343"/>
                </a:lnTo>
                <a:cubicBezTo>
                  <a:pt x="115722" y="6172343"/>
                  <a:pt x="0" y="6056859"/>
                  <a:pt x="0" y="5914401"/>
                </a:cubicBezTo>
                <a:lnTo>
                  <a:pt x="0" y="257942"/>
                </a:lnTo>
                <a:cubicBezTo>
                  <a:pt x="0" y="115484"/>
                  <a:pt x="115722" y="0"/>
                  <a:pt x="258473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2276856"/>
            <a:ext cx="4389120" cy="40416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3D0D37D-152B-44E6-AB8F-60E41FE679D7}" type="datetime1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59189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4480560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7" y="2276856"/>
            <a:ext cx="4480560" cy="40416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FD62D-5EED-4798-9EBA-B6E1A9B98072}" type="datetime1">
              <a:rPr lang="en-US" smtClean="0"/>
              <a:t>8/22/2026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37594" y="342900"/>
            <a:ext cx="6111507" cy="6172338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0045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320040"/>
            <a:ext cx="438912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B281557-D8C5-3666-A17C-BD66A5F9C04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1522" y="342902"/>
            <a:ext cx="6249778" cy="6172343"/>
          </a:xfrm>
          <a:custGeom>
            <a:avLst/>
            <a:gdLst>
              <a:gd name="connsiteX0" fmla="*/ 258473 w 6249778"/>
              <a:gd name="connsiteY0" fmla="*/ 0 h 6172343"/>
              <a:gd name="connsiteX1" fmla="*/ 5991306 w 6249778"/>
              <a:gd name="connsiteY1" fmla="*/ 0 h 6172343"/>
              <a:gd name="connsiteX2" fmla="*/ 6249778 w 6249778"/>
              <a:gd name="connsiteY2" fmla="*/ 257942 h 6172343"/>
              <a:gd name="connsiteX3" fmla="*/ 6249778 w 6249778"/>
              <a:gd name="connsiteY3" fmla="*/ 5914401 h 6172343"/>
              <a:gd name="connsiteX4" fmla="*/ 5991306 w 6249778"/>
              <a:gd name="connsiteY4" fmla="*/ 6172343 h 6172343"/>
              <a:gd name="connsiteX5" fmla="*/ 258473 w 6249778"/>
              <a:gd name="connsiteY5" fmla="*/ 6172343 h 6172343"/>
              <a:gd name="connsiteX6" fmla="*/ 0 w 6249778"/>
              <a:gd name="connsiteY6" fmla="*/ 5914401 h 6172343"/>
              <a:gd name="connsiteX7" fmla="*/ 0 w 6249778"/>
              <a:gd name="connsiteY7" fmla="*/ 257942 h 6172343"/>
              <a:gd name="connsiteX8" fmla="*/ 258473 w 6249778"/>
              <a:gd name="connsiteY8" fmla="*/ 0 h 617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49778" h="6172343">
                <a:moveTo>
                  <a:pt x="258473" y="0"/>
                </a:moveTo>
                <a:lnTo>
                  <a:pt x="5991306" y="0"/>
                </a:lnTo>
                <a:cubicBezTo>
                  <a:pt x="6134057" y="0"/>
                  <a:pt x="6249778" y="115484"/>
                  <a:pt x="6249778" y="257942"/>
                </a:cubicBezTo>
                <a:lnTo>
                  <a:pt x="6249778" y="5914401"/>
                </a:lnTo>
                <a:cubicBezTo>
                  <a:pt x="6249778" y="6056859"/>
                  <a:pt x="6134057" y="6172343"/>
                  <a:pt x="5991306" y="6172343"/>
                </a:cubicBezTo>
                <a:lnTo>
                  <a:pt x="258473" y="6172343"/>
                </a:lnTo>
                <a:cubicBezTo>
                  <a:pt x="115722" y="6172343"/>
                  <a:pt x="0" y="6056859"/>
                  <a:pt x="0" y="5914401"/>
                </a:cubicBezTo>
                <a:lnTo>
                  <a:pt x="0" y="257942"/>
                </a:lnTo>
                <a:cubicBezTo>
                  <a:pt x="0" y="115484"/>
                  <a:pt x="115722" y="0"/>
                  <a:pt x="258473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1380744"/>
            <a:ext cx="438912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6FCFE97D-4F8B-4270-9223-9617008B9FA3}" type="datetime1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95924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320040"/>
            <a:ext cx="4573413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6" y="1380744"/>
            <a:ext cx="4573413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B1D5C-1F84-4585-9043-549E87BD77AE}" type="datetime1">
              <a:rPr lang="en-US" smtClean="0"/>
              <a:t>8/22/2026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37594" y="342900"/>
            <a:ext cx="6111507" cy="6172338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3491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0" y="603504"/>
            <a:ext cx="340156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0" y="342901"/>
            <a:ext cx="7391400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21040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EB90F8-5A2D-4795-872B-662FE96339B2}" type="datetime1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9402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340156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02843" y="342901"/>
            <a:ext cx="7346257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A22F9C2-5647-4E58-BE9B-A16834D13FE3}" type="datetime1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25809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1078992"/>
            <a:ext cx="3273552" cy="194767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0" y="342901"/>
            <a:ext cx="7391400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B124E6D-88B1-474F-9E7C-C29F02FACC38}" type="datetime1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68477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2" y="5111854"/>
            <a:ext cx="3739279" cy="138988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5837EDE-723C-6CF6-EB95-3AEDA1F07E9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9373" y="320043"/>
            <a:ext cx="11509730" cy="4404825"/>
          </a:xfrm>
          <a:custGeom>
            <a:avLst/>
            <a:gdLst>
              <a:gd name="connsiteX0" fmla="*/ 299132 w 11509730"/>
              <a:gd name="connsiteY0" fmla="*/ 0 h 4404825"/>
              <a:gd name="connsiteX1" fmla="*/ 11210598 w 11509730"/>
              <a:gd name="connsiteY1" fmla="*/ 0 h 4404825"/>
              <a:gd name="connsiteX2" fmla="*/ 11509730 w 11509730"/>
              <a:gd name="connsiteY2" fmla="*/ 299132 h 4404825"/>
              <a:gd name="connsiteX3" fmla="*/ 11509730 w 11509730"/>
              <a:gd name="connsiteY3" fmla="*/ 4105693 h 4404825"/>
              <a:gd name="connsiteX4" fmla="*/ 11210598 w 11509730"/>
              <a:gd name="connsiteY4" fmla="*/ 4404825 h 4404825"/>
              <a:gd name="connsiteX5" fmla="*/ 299132 w 11509730"/>
              <a:gd name="connsiteY5" fmla="*/ 4404825 h 4404825"/>
              <a:gd name="connsiteX6" fmla="*/ 0 w 11509730"/>
              <a:gd name="connsiteY6" fmla="*/ 4105693 h 4404825"/>
              <a:gd name="connsiteX7" fmla="*/ 0 w 11509730"/>
              <a:gd name="connsiteY7" fmla="*/ 299132 h 4404825"/>
              <a:gd name="connsiteX8" fmla="*/ 299132 w 11509730"/>
              <a:gd name="connsiteY8" fmla="*/ 0 h 44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4404825">
                <a:moveTo>
                  <a:pt x="299132" y="0"/>
                </a:moveTo>
                <a:lnTo>
                  <a:pt x="11210598" y="0"/>
                </a:lnTo>
                <a:cubicBezTo>
                  <a:pt x="11375804" y="0"/>
                  <a:pt x="11509730" y="133926"/>
                  <a:pt x="11509730" y="299132"/>
                </a:cubicBezTo>
                <a:lnTo>
                  <a:pt x="11509730" y="4105693"/>
                </a:lnTo>
                <a:cubicBezTo>
                  <a:pt x="11509730" y="4270899"/>
                  <a:pt x="11375804" y="4404825"/>
                  <a:pt x="11210598" y="4404825"/>
                </a:cubicBezTo>
                <a:lnTo>
                  <a:pt x="299132" y="4404825"/>
                </a:lnTo>
                <a:cubicBezTo>
                  <a:pt x="133926" y="4404825"/>
                  <a:pt x="0" y="4270899"/>
                  <a:pt x="0" y="4105693"/>
                </a:cubicBezTo>
                <a:lnTo>
                  <a:pt x="0" y="299132"/>
                </a:lnTo>
                <a:cubicBezTo>
                  <a:pt x="0" y="133926"/>
                  <a:pt x="133926" y="0"/>
                  <a:pt x="299132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21C7E-4348-443E-B7C8-EE213DFF1CB1}" type="datetime1">
              <a:rPr lang="en-US" smtClean="0"/>
              <a:t>8/22/2026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51928" y="5111854"/>
            <a:ext cx="6400800" cy="138988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68711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BCE7E7D-ED4A-B625-6CB8-4D71682F63D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9373" y="320042"/>
            <a:ext cx="11509730" cy="3458229"/>
          </a:xfrm>
          <a:custGeom>
            <a:avLst/>
            <a:gdLst>
              <a:gd name="connsiteX0" fmla="*/ 351529 w 11509730"/>
              <a:gd name="connsiteY0" fmla="*/ 0 h 3458229"/>
              <a:gd name="connsiteX1" fmla="*/ 11158201 w 11509730"/>
              <a:gd name="connsiteY1" fmla="*/ 0 h 3458229"/>
              <a:gd name="connsiteX2" fmla="*/ 11509730 w 11509730"/>
              <a:gd name="connsiteY2" fmla="*/ 351529 h 3458229"/>
              <a:gd name="connsiteX3" fmla="*/ 11509730 w 11509730"/>
              <a:gd name="connsiteY3" fmla="*/ 3106700 h 3458229"/>
              <a:gd name="connsiteX4" fmla="*/ 11158201 w 11509730"/>
              <a:gd name="connsiteY4" fmla="*/ 3458229 h 3458229"/>
              <a:gd name="connsiteX5" fmla="*/ 351529 w 11509730"/>
              <a:gd name="connsiteY5" fmla="*/ 3458229 h 3458229"/>
              <a:gd name="connsiteX6" fmla="*/ 0 w 11509730"/>
              <a:gd name="connsiteY6" fmla="*/ 3106700 h 3458229"/>
              <a:gd name="connsiteX7" fmla="*/ 0 w 11509730"/>
              <a:gd name="connsiteY7" fmla="*/ 351529 h 3458229"/>
              <a:gd name="connsiteX8" fmla="*/ 351529 w 11509730"/>
              <a:gd name="connsiteY8" fmla="*/ 0 h 3458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3458229">
                <a:moveTo>
                  <a:pt x="351529" y="0"/>
                </a:moveTo>
                <a:lnTo>
                  <a:pt x="11158201" y="0"/>
                </a:lnTo>
                <a:cubicBezTo>
                  <a:pt x="11352345" y="0"/>
                  <a:pt x="11509730" y="157385"/>
                  <a:pt x="11509730" y="351529"/>
                </a:cubicBezTo>
                <a:lnTo>
                  <a:pt x="11509730" y="3106700"/>
                </a:lnTo>
                <a:cubicBezTo>
                  <a:pt x="11509730" y="3300844"/>
                  <a:pt x="11352345" y="3458229"/>
                  <a:pt x="11158201" y="3458229"/>
                </a:cubicBezTo>
                <a:lnTo>
                  <a:pt x="351529" y="3458229"/>
                </a:lnTo>
                <a:cubicBezTo>
                  <a:pt x="157385" y="3458229"/>
                  <a:pt x="0" y="3300844"/>
                  <a:pt x="0" y="3106700"/>
                </a:cubicBezTo>
                <a:lnTo>
                  <a:pt x="0" y="351529"/>
                </a:lnTo>
                <a:cubicBezTo>
                  <a:pt x="0" y="157385"/>
                  <a:pt x="157385" y="0"/>
                  <a:pt x="35152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2BB8D-1BA0-4790-987D-651470CA8928}" type="datetime1">
              <a:rPr lang="en-US" smtClean="0"/>
              <a:t>8/22/2026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49802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6A25225-80A2-7139-2A81-39CA926639F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9373" y="3067414"/>
            <a:ext cx="11509730" cy="3458229"/>
          </a:xfrm>
          <a:custGeom>
            <a:avLst/>
            <a:gdLst>
              <a:gd name="connsiteX0" fmla="*/ 351529 w 11509730"/>
              <a:gd name="connsiteY0" fmla="*/ 0 h 3458229"/>
              <a:gd name="connsiteX1" fmla="*/ 11158201 w 11509730"/>
              <a:gd name="connsiteY1" fmla="*/ 0 h 3458229"/>
              <a:gd name="connsiteX2" fmla="*/ 11509730 w 11509730"/>
              <a:gd name="connsiteY2" fmla="*/ 351529 h 3458229"/>
              <a:gd name="connsiteX3" fmla="*/ 11509730 w 11509730"/>
              <a:gd name="connsiteY3" fmla="*/ 3106700 h 3458229"/>
              <a:gd name="connsiteX4" fmla="*/ 11158201 w 11509730"/>
              <a:gd name="connsiteY4" fmla="*/ 3458229 h 3458229"/>
              <a:gd name="connsiteX5" fmla="*/ 351529 w 11509730"/>
              <a:gd name="connsiteY5" fmla="*/ 3458229 h 3458229"/>
              <a:gd name="connsiteX6" fmla="*/ 0 w 11509730"/>
              <a:gd name="connsiteY6" fmla="*/ 3106700 h 3458229"/>
              <a:gd name="connsiteX7" fmla="*/ 0 w 11509730"/>
              <a:gd name="connsiteY7" fmla="*/ 351529 h 3458229"/>
              <a:gd name="connsiteX8" fmla="*/ 351529 w 11509730"/>
              <a:gd name="connsiteY8" fmla="*/ 0 h 3458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3458229">
                <a:moveTo>
                  <a:pt x="351529" y="0"/>
                </a:moveTo>
                <a:lnTo>
                  <a:pt x="11158201" y="0"/>
                </a:lnTo>
                <a:cubicBezTo>
                  <a:pt x="11352345" y="0"/>
                  <a:pt x="11509730" y="157385"/>
                  <a:pt x="11509730" y="351529"/>
                </a:cubicBezTo>
                <a:lnTo>
                  <a:pt x="11509730" y="3106700"/>
                </a:lnTo>
                <a:cubicBezTo>
                  <a:pt x="11509730" y="3300844"/>
                  <a:pt x="11352345" y="3458229"/>
                  <a:pt x="11158201" y="3458229"/>
                </a:cubicBezTo>
                <a:lnTo>
                  <a:pt x="351529" y="3458229"/>
                </a:lnTo>
                <a:cubicBezTo>
                  <a:pt x="157385" y="3458229"/>
                  <a:pt x="0" y="3300844"/>
                  <a:pt x="0" y="3106700"/>
                </a:cubicBezTo>
                <a:lnTo>
                  <a:pt x="0" y="351529"/>
                </a:lnTo>
                <a:cubicBezTo>
                  <a:pt x="0" y="157385"/>
                  <a:pt x="157385" y="0"/>
                  <a:pt x="35152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38328"/>
          </a:xfrm>
        </p:spPr>
        <p:txBody>
          <a:bodyPr/>
          <a:lstStyle/>
          <a:p>
            <a:fld id="{48CD4B21-9C97-4358-8E22-9F49A31BDF6B}" type="datetime1">
              <a:rPr lang="en-US" smtClean="0"/>
              <a:t>8/22/2026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39940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11155680" cy="970463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5F6FDB5-F783-3538-287C-754C11C3097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9768" y="1828800"/>
            <a:ext cx="6176399" cy="4425696"/>
          </a:xfrm>
          <a:custGeom>
            <a:avLst/>
            <a:gdLst>
              <a:gd name="connsiteX0" fmla="*/ 325421 w 6450717"/>
              <a:gd name="connsiteY0" fmla="*/ 0 h 4425696"/>
              <a:gd name="connsiteX1" fmla="*/ 6125296 w 6450717"/>
              <a:gd name="connsiteY1" fmla="*/ 0 h 4425696"/>
              <a:gd name="connsiteX2" fmla="*/ 6450717 w 6450717"/>
              <a:gd name="connsiteY2" fmla="*/ 325421 h 4425696"/>
              <a:gd name="connsiteX3" fmla="*/ 6450717 w 6450717"/>
              <a:gd name="connsiteY3" fmla="*/ 4100275 h 4425696"/>
              <a:gd name="connsiteX4" fmla="*/ 6125296 w 6450717"/>
              <a:gd name="connsiteY4" fmla="*/ 4425696 h 4425696"/>
              <a:gd name="connsiteX5" fmla="*/ 325421 w 6450717"/>
              <a:gd name="connsiteY5" fmla="*/ 4425696 h 4425696"/>
              <a:gd name="connsiteX6" fmla="*/ 0 w 6450717"/>
              <a:gd name="connsiteY6" fmla="*/ 4100275 h 4425696"/>
              <a:gd name="connsiteX7" fmla="*/ 0 w 6450717"/>
              <a:gd name="connsiteY7" fmla="*/ 325421 h 4425696"/>
              <a:gd name="connsiteX8" fmla="*/ 325421 w 6450717"/>
              <a:gd name="connsiteY8" fmla="*/ 0 h 4425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50717" h="4425696">
                <a:moveTo>
                  <a:pt x="325421" y="0"/>
                </a:moveTo>
                <a:lnTo>
                  <a:pt x="6125296" y="0"/>
                </a:lnTo>
                <a:cubicBezTo>
                  <a:pt x="6305021" y="0"/>
                  <a:pt x="6450717" y="145696"/>
                  <a:pt x="6450717" y="325421"/>
                </a:cubicBezTo>
                <a:lnTo>
                  <a:pt x="6450717" y="4100275"/>
                </a:lnTo>
                <a:cubicBezTo>
                  <a:pt x="6450717" y="4280000"/>
                  <a:pt x="6305021" y="4425696"/>
                  <a:pt x="6125296" y="4425696"/>
                </a:cubicBezTo>
                <a:lnTo>
                  <a:pt x="325421" y="4425696"/>
                </a:lnTo>
                <a:cubicBezTo>
                  <a:pt x="145696" y="4425696"/>
                  <a:pt x="0" y="4280000"/>
                  <a:pt x="0" y="4100275"/>
                </a:cubicBezTo>
                <a:lnTo>
                  <a:pt x="0" y="325421"/>
                </a:lnTo>
                <a:cubicBezTo>
                  <a:pt x="0" y="145696"/>
                  <a:pt x="145696" y="0"/>
                  <a:pt x="325421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87768" y="1828800"/>
            <a:ext cx="4297680" cy="442887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8FABC-5F70-4DE9-8A42-1DE3D93319BF}" type="datetime1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5972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39"/>
            <a:ext cx="4855464" cy="1453896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5F2F272-6D18-7E06-3E9A-D10C5C50219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0075" y="2293496"/>
            <a:ext cx="4775158" cy="4039043"/>
          </a:xfrm>
          <a:custGeom>
            <a:avLst/>
            <a:gdLst>
              <a:gd name="connsiteX0" fmla="*/ 305917 w 4855463"/>
              <a:gd name="connsiteY0" fmla="*/ 0 h 4039043"/>
              <a:gd name="connsiteX1" fmla="*/ 4549547 w 4855463"/>
              <a:gd name="connsiteY1" fmla="*/ 0 h 4039043"/>
              <a:gd name="connsiteX2" fmla="*/ 4849249 w 4855463"/>
              <a:gd name="connsiteY2" fmla="*/ 244264 h 4039043"/>
              <a:gd name="connsiteX3" fmla="*/ 4855463 w 4855463"/>
              <a:gd name="connsiteY3" fmla="*/ 305907 h 4039043"/>
              <a:gd name="connsiteX4" fmla="*/ 4855463 w 4855463"/>
              <a:gd name="connsiteY4" fmla="*/ 3733136 h 4039043"/>
              <a:gd name="connsiteX5" fmla="*/ 4849249 w 4855463"/>
              <a:gd name="connsiteY5" fmla="*/ 3794779 h 4039043"/>
              <a:gd name="connsiteX6" fmla="*/ 4549547 w 4855463"/>
              <a:gd name="connsiteY6" fmla="*/ 4039043 h 4039043"/>
              <a:gd name="connsiteX7" fmla="*/ 305917 w 4855463"/>
              <a:gd name="connsiteY7" fmla="*/ 4039043 h 4039043"/>
              <a:gd name="connsiteX8" fmla="*/ 0 w 4855463"/>
              <a:gd name="connsiteY8" fmla="*/ 3733126 h 4039043"/>
              <a:gd name="connsiteX9" fmla="*/ 0 w 4855463"/>
              <a:gd name="connsiteY9" fmla="*/ 305917 h 4039043"/>
              <a:gd name="connsiteX10" fmla="*/ 305917 w 4855463"/>
              <a:gd name="connsiteY10" fmla="*/ 0 h 4039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855463" h="4039043">
                <a:moveTo>
                  <a:pt x="305917" y="0"/>
                </a:moveTo>
                <a:lnTo>
                  <a:pt x="4549547" y="0"/>
                </a:lnTo>
                <a:cubicBezTo>
                  <a:pt x="4697381" y="0"/>
                  <a:pt x="4820723" y="104863"/>
                  <a:pt x="4849249" y="244264"/>
                </a:cubicBezTo>
                <a:lnTo>
                  <a:pt x="4855463" y="305907"/>
                </a:lnTo>
                <a:lnTo>
                  <a:pt x="4855463" y="3733136"/>
                </a:lnTo>
                <a:lnTo>
                  <a:pt x="4849249" y="3794779"/>
                </a:lnTo>
                <a:cubicBezTo>
                  <a:pt x="4820723" y="3934180"/>
                  <a:pt x="4697381" y="4039043"/>
                  <a:pt x="4549547" y="4039043"/>
                </a:cubicBezTo>
                <a:lnTo>
                  <a:pt x="305917" y="4039043"/>
                </a:lnTo>
                <a:cubicBezTo>
                  <a:pt x="136964" y="4039043"/>
                  <a:pt x="0" y="3902079"/>
                  <a:pt x="0" y="3733126"/>
                </a:cubicBezTo>
                <a:lnTo>
                  <a:pt x="0" y="305917"/>
                </a:lnTo>
                <a:cubicBezTo>
                  <a:pt x="0" y="136964"/>
                  <a:pt x="136964" y="0"/>
                  <a:pt x="305917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32AAB-0859-49C5-9F81-D3744B520913}" type="datetime1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62067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0218"/>
            <a:ext cx="3827439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4639E5C-EF58-65A1-C364-F58DE761581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0075" y="2293494"/>
            <a:ext cx="3666744" cy="4039044"/>
          </a:xfrm>
          <a:custGeom>
            <a:avLst/>
            <a:gdLst>
              <a:gd name="connsiteX0" fmla="*/ 292716 w 3666744"/>
              <a:gd name="connsiteY0" fmla="*/ 0 h 4039044"/>
              <a:gd name="connsiteX1" fmla="*/ 3374028 w 3666744"/>
              <a:gd name="connsiteY1" fmla="*/ 0 h 4039044"/>
              <a:gd name="connsiteX2" fmla="*/ 3666744 w 3666744"/>
              <a:gd name="connsiteY2" fmla="*/ 292716 h 4039044"/>
              <a:gd name="connsiteX3" fmla="*/ 3666744 w 3666744"/>
              <a:gd name="connsiteY3" fmla="*/ 3746328 h 4039044"/>
              <a:gd name="connsiteX4" fmla="*/ 3374028 w 3666744"/>
              <a:gd name="connsiteY4" fmla="*/ 4039044 h 4039044"/>
              <a:gd name="connsiteX5" fmla="*/ 292716 w 3666744"/>
              <a:gd name="connsiteY5" fmla="*/ 4039044 h 4039044"/>
              <a:gd name="connsiteX6" fmla="*/ 0 w 3666744"/>
              <a:gd name="connsiteY6" fmla="*/ 3746328 h 4039044"/>
              <a:gd name="connsiteX7" fmla="*/ 0 w 3666744"/>
              <a:gd name="connsiteY7" fmla="*/ 292716 h 4039044"/>
              <a:gd name="connsiteX8" fmla="*/ 292716 w 3666744"/>
              <a:gd name="connsiteY8" fmla="*/ 0 h 4039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66744" h="4039044">
                <a:moveTo>
                  <a:pt x="292716" y="0"/>
                </a:moveTo>
                <a:lnTo>
                  <a:pt x="3374028" y="0"/>
                </a:lnTo>
                <a:cubicBezTo>
                  <a:pt x="3535691" y="0"/>
                  <a:pt x="3666744" y="131053"/>
                  <a:pt x="3666744" y="292716"/>
                </a:cubicBezTo>
                <a:lnTo>
                  <a:pt x="3666744" y="3746328"/>
                </a:lnTo>
                <a:cubicBezTo>
                  <a:pt x="3666744" y="3907991"/>
                  <a:pt x="3535691" y="4039044"/>
                  <a:pt x="3374028" y="4039044"/>
                </a:cubicBezTo>
                <a:lnTo>
                  <a:pt x="292716" y="4039044"/>
                </a:lnTo>
                <a:cubicBezTo>
                  <a:pt x="131053" y="4039044"/>
                  <a:pt x="0" y="3907991"/>
                  <a:pt x="0" y="3746328"/>
                </a:cubicBezTo>
                <a:lnTo>
                  <a:pt x="0" y="292716"/>
                </a:lnTo>
                <a:cubicBezTo>
                  <a:pt x="0" y="131053"/>
                  <a:pt x="131053" y="0"/>
                  <a:pt x="2927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0787" y="549275"/>
            <a:ext cx="6561138" cy="578815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C0E27-EFA9-4706-B7B3-384BAC09CA5C}" type="datetime1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90944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76" y="4992624"/>
            <a:ext cx="11201400" cy="122529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40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38527-6BF7-45BD-8E9C-2BDCA53716A3}" type="datetime1">
              <a:rPr lang="en-US" smtClean="0"/>
              <a:t>8/22/2026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786384"/>
            <a:ext cx="11201400" cy="4206240"/>
          </a:xfrm>
        </p:spPr>
        <p:txBody>
          <a:bodyPr anchor="b">
            <a:normAutofit/>
          </a:bodyPr>
          <a:lstStyle>
            <a:lvl1pPr marL="0" indent="0" algn="ctr">
              <a:buNone/>
              <a:defRPr sz="2780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426012013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76" y="4992624"/>
            <a:ext cx="11201400" cy="122529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2D2C4-0829-4B37-AFA9-97EED5EA275A}" type="datetime1">
              <a:rPr lang="en-US" smtClean="0"/>
              <a:t>8/22/2026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786384"/>
            <a:ext cx="11201400" cy="4206240"/>
          </a:xfrm>
        </p:spPr>
        <p:txBody>
          <a:bodyPr anchor="b">
            <a:normAutofit/>
          </a:bodyPr>
          <a:lstStyle>
            <a:lvl1pPr marL="0" indent="0" algn="ctr">
              <a:buNone/>
              <a:defRPr sz="27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2421875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809744"/>
            <a:ext cx="5897880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dirty="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3353C-D70D-4D92-85A4-BE6E7FCC2830}" type="datetime1">
              <a:rPr lang="en-US" smtClean="0"/>
              <a:t>8/22/2026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603504"/>
            <a:ext cx="11201400" cy="420624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27800" dirty="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404263128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622C3-A8C0-4CE4-AFAA-25D23CB3242F}" type="datetime1">
              <a:rPr lang="en-US" smtClean="0"/>
              <a:t>8/22/2026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8250145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B6EAC-4E38-4BC4-964B-55A6571A4EBF}" type="datetime1">
              <a:rPr lang="en-US" smtClean="0"/>
              <a:t>8/22/2026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059124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2DDD8-66B1-484C-ABC1-3F6C2E131531}" type="datetime1">
              <a:rPr lang="en-US" smtClean="0"/>
              <a:t>8/22/2026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1115349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36776" y="5276088"/>
            <a:ext cx="9061704" cy="466344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2200" b="1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828800"/>
            <a:ext cx="9198864" cy="287121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0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CBEC5-37D0-4E5C-8671-D7D2A06BE21B}" type="datetime1">
              <a:rPr lang="en-US" smtClean="0"/>
              <a:t>8/22/2026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6013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351F96B-ED98-BF55-D2B0-047000EF48E1}"/>
              </a:ext>
            </a:extLst>
          </p:cNvPr>
          <p:cNvSpPr/>
          <p:nvPr/>
        </p:nvSpPr>
        <p:spPr>
          <a:xfrm>
            <a:off x="806386" y="760151"/>
            <a:ext cx="10579222" cy="5337698"/>
          </a:xfrm>
          <a:prstGeom prst="roundRect">
            <a:avLst>
              <a:gd name="adj" fmla="val 6093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1368" y="5120640"/>
            <a:ext cx="8549640" cy="621792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55064" y="2093976"/>
            <a:ext cx="8695944" cy="2130552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6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6FC37-12B5-4EB9-BB05-B5E210E93FF0}" type="datetime1">
              <a:rPr lang="en-US" smtClean="0"/>
              <a:t>8/22/2026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27705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8556" y="4965192"/>
            <a:ext cx="9450699" cy="1289304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438912"/>
            <a:ext cx="9619488" cy="452628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8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0F6F3-6829-4CDD-B3A1-8F321E27194A}" type="datetime1">
              <a:rPr lang="en-US" smtClean="0"/>
              <a:t>8/22/2026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5356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8556" y="4965192"/>
            <a:ext cx="9148947" cy="1289304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1179576"/>
            <a:ext cx="9317736" cy="3785616"/>
          </a:xfrm>
        </p:spPr>
        <p:txBody>
          <a:bodyPr anchor="b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8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6652C-AA1E-4738-883B-0336FAAA5DB1}" type="datetime1">
              <a:rPr lang="en-US" smtClean="0"/>
              <a:t>8/22/2026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5859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294248"/>
            <a:ext cx="11164825" cy="95848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7BFCD9-16A4-5745-7BB3-7836095FF1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0825"/>
            <a:ext cx="5211762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0EDC57-7D17-D4C8-5C60-A44A480EA9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24"/>
            <a:ext cx="5213350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F56A5-925A-45AB-8491-C696F304662B}" type="datetime1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78314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76166"/>
            <a:ext cx="11164824" cy="97656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7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5BB1DC-4DAA-D220-25A9-5752C158FD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0888"/>
            <a:ext cx="5211762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512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AB67A04-5E8D-18C5-D47A-A5B5CFE568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88"/>
            <a:ext cx="5213350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82B41-9B9A-4653-8E8E-9D57A4983847}" type="datetime1">
              <a:rPr lang="en-US" smtClean="0"/>
              <a:t>8/22/2026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26743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80A14-C874-4C11-943E-4B7AAF73B997}" type="datetime1">
              <a:rPr lang="en-US" smtClean="0"/>
              <a:t>8/22/2026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81139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60914-BFFA-4E5B-B382-06A92C8508A8}" type="datetime1">
              <a:rPr lang="en-US" smtClean="0"/>
              <a:t>8/22/2026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83563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3615"/>
            <a:ext cx="3595634" cy="221284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9" y="2823029"/>
            <a:ext cx="3309608" cy="3481355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6995" y="553616"/>
            <a:ext cx="6466741" cy="575256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EE75D-2E4A-469A-9092-8B43711F5315}" type="datetime1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30623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7784"/>
            <a:ext cx="3593592" cy="221231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7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ADACA751-BBB2-3E33-EA6C-54B4A7F6842B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502843" y="342901"/>
            <a:ext cx="7346258" cy="6172198"/>
          </a:xfrm>
          <a:custGeom>
            <a:avLst/>
            <a:gdLst>
              <a:gd name="connsiteX0" fmla="*/ 264355 w 6785782"/>
              <a:gd name="connsiteY0" fmla="*/ 0 h 6172198"/>
              <a:gd name="connsiteX1" fmla="*/ 6521427 w 6785782"/>
              <a:gd name="connsiteY1" fmla="*/ 0 h 6172198"/>
              <a:gd name="connsiteX2" fmla="*/ 6785782 w 6785782"/>
              <a:gd name="connsiteY2" fmla="*/ 264355 h 6172198"/>
              <a:gd name="connsiteX3" fmla="*/ 6785782 w 6785782"/>
              <a:gd name="connsiteY3" fmla="*/ 5907843 h 6172198"/>
              <a:gd name="connsiteX4" fmla="*/ 6521427 w 6785782"/>
              <a:gd name="connsiteY4" fmla="*/ 6172198 h 6172198"/>
              <a:gd name="connsiteX5" fmla="*/ 264355 w 6785782"/>
              <a:gd name="connsiteY5" fmla="*/ 6172198 h 6172198"/>
              <a:gd name="connsiteX6" fmla="*/ 0 w 6785782"/>
              <a:gd name="connsiteY6" fmla="*/ 5907843 h 6172198"/>
              <a:gd name="connsiteX7" fmla="*/ 0 w 6785782"/>
              <a:gd name="connsiteY7" fmla="*/ 264355 h 6172198"/>
              <a:gd name="connsiteX8" fmla="*/ 264355 w 6785782"/>
              <a:gd name="connsiteY8" fmla="*/ 0 h 6172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85782" h="6172198">
                <a:moveTo>
                  <a:pt x="264355" y="0"/>
                </a:moveTo>
                <a:lnTo>
                  <a:pt x="6521427" y="0"/>
                </a:lnTo>
                <a:cubicBezTo>
                  <a:pt x="6667426" y="0"/>
                  <a:pt x="6785782" y="118356"/>
                  <a:pt x="6785782" y="264355"/>
                </a:cubicBezTo>
                <a:lnTo>
                  <a:pt x="6785782" y="5907843"/>
                </a:lnTo>
                <a:cubicBezTo>
                  <a:pt x="6785782" y="6053842"/>
                  <a:pt x="6667426" y="6172198"/>
                  <a:pt x="6521427" y="6172198"/>
                </a:cubicBezTo>
                <a:lnTo>
                  <a:pt x="264355" y="6172198"/>
                </a:lnTo>
                <a:cubicBezTo>
                  <a:pt x="118356" y="6172198"/>
                  <a:pt x="0" y="6053842"/>
                  <a:pt x="0" y="5907843"/>
                </a:cubicBezTo>
                <a:lnTo>
                  <a:pt x="0" y="264355"/>
                </a:lnTo>
                <a:cubicBezTo>
                  <a:pt x="0" y="118356"/>
                  <a:pt x="118356" y="0"/>
                  <a:pt x="26435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6FD38-01FF-4539-8A35-AB19E4D5C3A7}" type="datetime1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97287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29768"/>
            <a:ext cx="10890374" cy="1627632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3264408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C5BFC-EF85-4C2B-8809-2F9E7D76A143}" type="datetime1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0157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27318"/>
            <a:ext cx="7370064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3622673"/>
            <a:ext cx="7370064" cy="22311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805FF-0F6F-4DB7-B5D6-9BF14E40F716}" type="datetime1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2253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83464"/>
            <a:ext cx="10652760" cy="9692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8" y="1380744"/>
            <a:ext cx="10652760" cy="4901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E9D380B3-E270-4064-8D13-292A875F6C31}" type="datetime1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60536" y="6519672"/>
            <a:ext cx="264261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875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1" r:id="rId31"/>
    <p:sldLayoutId id="2147483682" r:id="rId32"/>
    <p:sldLayoutId id="2147483683" r:id="rId33"/>
    <p:sldLayoutId id="2147483684" r:id="rId34"/>
    <p:sldLayoutId id="2147483685" r:id="rId35"/>
    <p:sldLayoutId id="2147483686" r:id="rId36"/>
    <p:sldLayoutId id="2147483687" r:id="rId37"/>
    <p:sldLayoutId id="2147483688" r:id="rId38"/>
    <p:sldLayoutId id="2147483689" r:id="rId39"/>
    <p:sldLayoutId id="2147483690" r:id="rId40"/>
    <p:sldLayoutId id="2147483691" r:id="rId41"/>
    <p:sldLayoutId id="2147483692" r:id="rId42"/>
    <p:sldLayoutId id="2147483693" r:id="rId43"/>
    <p:sldLayoutId id="2147483694" r:id="rId44"/>
    <p:sldLayoutId id="2147483695" r:id="rId45"/>
    <p:sldLayoutId id="2147483696" r:id="rId46"/>
    <p:sldLayoutId id="2147483697" r:id="rId47"/>
    <p:sldLayoutId id="2147483698" r:id="rId48"/>
    <p:sldLayoutId id="2147483699" r:id="rId49"/>
    <p:sldLayoutId id="2147483700" r:id="rId50"/>
    <p:sldLayoutId id="2147483701" r:id="rId5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sca_esv=df0c750a7fb39069&amp;sxsrf=ANbL-n6lqVPwTlYrJC_0KaiP5RqEyD_Xag%3A1771980686204&amp;q=extend&amp;source=lnms&amp;fbs=ADc_l-acAb_3MMOAUx0zmbUpgBqRiigBgL2I_pgQa-94zvB056cl2nYPtvTKf42UwfO1XXsrpeWBMZ5g-sjm5j9czcFWdlY_Qb-oAh_TA2MHJvXmAhhF81_ZLwlYKOY5E_g7-1SaMfgeipKsQ6mBn4jLNs24B2tZaFB4EI1Tq62IneVtLB9h0WhEKPZW3h_BE-jKonkSOIJ8jAWWGU_VZlndvr2X91u1SJBlf8zSjGF5Bcbs4IvcD9Q&amp;sa=X&amp;ved=2ahUKEwj8nce_tvOSAxVFqZUCHV1AHV4QgK4QegQIARAD&amp;biw=1366&amp;bih=633&amp;dpr=1" TargetMode="External"/><Relationship Id="rId2" Type="http://schemas.openxmlformats.org/officeDocument/2006/relationships/hyperlink" Target="https://www.google.com/search?sca_esv=df0c750a7fb39069&amp;sxsrf=ANbL-n6lqVPwTlYrJC_0KaiP5RqEyD_Xag%3A1771980686204&amp;q=include&amp;source=lnms&amp;fbs=ADc_l-acAb_3MMOAUx0zmbUpgBqRiigBgL2I_pgQa-94zvB056cl2nYPtvTKf42UwfO1XXsrpeWBMZ5g-sjm5j9czcFWdlY_Qb-oAh_TA2MHJvXmAhhF81_ZLwlYKOY5E_g7-1SaMfgeipKsQ6mBn4jLNs24B2tZaFB4EI1Tq62IneVtLB9h0WhEKPZW3h_BE-jKonkSOIJ8jAWWGU_VZlndvr2X91u1SJBlf8zSjGF5Bcbs4IvcD9Q&amp;sa=X&amp;ved=2ahUKEwj8nce_tvOSAxVFqZUCHV1AHV4QgK4QegQIARAC&amp;biw=1366&amp;bih=633&amp;dpr=1" TargetMode="Externa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sca_esv=df0c750a7fb39069&amp;sxsrf=ANbL-n6lqVPwTlYrJC_0KaiP5RqEyD_Xag%3A1771980686204&amp;q=Extend&amp;source=lnms&amp;fbs=ADc_l-acAb_3MMOAUx0zmbUpgBqRiigBgL2I_pgQa-94zvB056cl2nYPtvTKf42UwfO1XXsrpeWBMZ5g-sjm5j9czcFWdlY_Qb-oAh_TA2MHJvXmAhhF81_ZLwlYKOY5E_g7-1SaMfgeipKsQ6mBn4jLNs24B2tZaFB4EI1Tq62IneVtLB9h0WhEKPZW3h_BE-jKonkSOIJ8jAWWGU_VZlndvr2X91u1SJBlf8zSjGF5Bcbs4IvcD9Q&amp;sa=X&amp;ved=2ahUKEwj8nce_tvOSAxVFqZUCHV1AHV4QgK4QegQIBBAE&amp;biw=1366&amp;bih=633&amp;dpr=1" TargetMode="External"/><Relationship Id="rId7" Type="http://schemas.openxmlformats.org/officeDocument/2006/relationships/customXml" Target="../ink/ink3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Relationship Id="rId6" Type="http://schemas.openxmlformats.org/officeDocument/2006/relationships/customXml" Target="../ink/ink2.xml"/><Relationship Id="rId5" Type="http://schemas.openxmlformats.org/officeDocument/2006/relationships/image" Target="../media/image100.png"/><Relationship Id="rId4" Type="http://schemas.openxmlformats.org/officeDocument/2006/relationships/customXml" Target="../ink/ink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www.inf.ufpr.br/andrey/ci167/projua02c.pdf" TargetMode="External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0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horzBrick">
          <a:fgClr>
            <a:srgbClr val="002060"/>
          </a:fgClr>
          <a:bgClr>
            <a:schemeClr val="accent4">
              <a:lumMod val="7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0EA698-0379-3433-8A55-EA8DB124D1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2032000"/>
            <a:ext cx="11432032" cy="2860040"/>
          </a:xfrm>
        </p:spPr>
        <p:txBody>
          <a:bodyPr/>
          <a:lstStyle/>
          <a:p>
            <a:pPr algn="ctr"/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Engenharia de Software II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8119418-1BDB-F4B4-FB29-0EF5DF0293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Prof. Clauss</a:t>
            </a:r>
          </a:p>
        </p:txBody>
      </p:sp>
    </p:spTree>
    <p:extLst>
      <p:ext uri="{BB962C8B-B14F-4D97-AF65-F5344CB8AC3E}">
        <p14:creationId xmlns:p14="http://schemas.microsoft.com/office/powerpoint/2010/main" val="1931907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inco dúvidas da língua portuguesa - Português">
            <a:extLst>
              <a:ext uri="{FF2B5EF4-FFF2-40B4-BE49-F238E27FC236}">
                <a16:creationId xmlns:a16="http://schemas.microsoft.com/office/drawing/2014/main" id="{1D3B2306-3E01-40A5-B7A0-A9BB152ADB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830"/>
            <a:ext cx="12192000" cy="6840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24375C4-88C7-1AA1-21C6-0F63AADA0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Antes da UML: por que modelar?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522B1DF-BAF2-1160-402B-618BD4FB1E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44312" y="3919591"/>
            <a:ext cx="2847688" cy="2938409"/>
          </a:xfrm>
          <a:solidFill>
            <a:srgbClr val="002060"/>
          </a:solidFill>
        </p:spPr>
        <p:txBody>
          <a:bodyPr/>
          <a:lstStyle/>
          <a:p>
            <a:pPr marL="0" indent="0" algn="ctr">
              <a:buNone/>
            </a:pPr>
            <a:r>
              <a:rPr lang="pt-BR" sz="2000" b="1" dirty="0">
                <a:solidFill>
                  <a:schemeClr val="bg1"/>
                </a:solidFill>
              </a:rPr>
              <a:t>Na aula passada, vimos o quanto é difícil projetar um sistema sem uma estrutura básica para começar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71039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35D7F555-236D-4B59-8C4F-AA2AD6C105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Diffused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16957"/>
            <a:ext cx="12192000" cy="6858000"/>
          </a:xfrm>
          <a:prstGeom prst="rect">
            <a:avLst/>
          </a:prstGeom>
          <a:noFill/>
          <a:effectLst>
            <a:glow>
              <a:schemeClr val="accent1"/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59F006E-7DA9-893E-B2D6-8DE99EE8C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83464"/>
            <a:ext cx="10652760" cy="641569"/>
          </a:xfrm>
          <a:gradFill flip="none" rotWithShape="1">
            <a:gsLst>
              <a:gs pos="0">
                <a:srgbClr val="FF0000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/>
          <a:lstStyle/>
          <a:p>
            <a:pPr algn="ctr"/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Algumas questões devem ter surgido: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7ABA1B1-702B-5EFE-85CC-09A6136F0C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36191"/>
            <a:ext cx="12065000" cy="4788409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200000"/>
              </a:lnSpc>
            </a:pPr>
            <a:r>
              <a:rPr lang="pt-BR" sz="2800" b="1" dirty="0"/>
              <a:t>Como sabemos o que o sistema precisa fazer? </a:t>
            </a:r>
          </a:p>
          <a:p>
            <a:pPr>
              <a:lnSpc>
                <a:spcPct val="200000"/>
              </a:lnSpc>
            </a:pPr>
            <a:r>
              <a:rPr lang="pt-BR" sz="2800" b="1" dirty="0"/>
              <a:t>Como representar as necessidades do usuário? </a:t>
            </a:r>
          </a:p>
          <a:p>
            <a:pPr>
              <a:lnSpc>
                <a:spcPct val="200000"/>
              </a:lnSpc>
            </a:pPr>
            <a:r>
              <a:rPr lang="pt-BR" sz="2800" b="1" dirty="0"/>
              <a:t>Como explicar o sistema para outro desenvolvedor?</a:t>
            </a:r>
          </a:p>
          <a:p>
            <a:pPr>
              <a:lnSpc>
                <a:spcPct val="200000"/>
              </a:lnSpc>
            </a:pPr>
            <a:r>
              <a:rPr lang="pt-BR" sz="2800" b="1" dirty="0"/>
              <a:t>Como explicar o sistema para o Cliente? </a:t>
            </a:r>
          </a:p>
          <a:p>
            <a:pPr>
              <a:lnSpc>
                <a:spcPct val="200000"/>
              </a:lnSpc>
            </a:pPr>
            <a:r>
              <a:rPr lang="pt-BR" sz="2800" b="1" dirty="0"/>
              <a:t>Como visualizar a estrutura do sistema antes de implementá-lo? </a:t>
            </a:r>
          </a:p>
          <a:p>
            <a:pPr>
              <a:lnSpc>
                <a:spcPct val="200000"/>
              </a:lnSpc>
            </a:pPr>
            <a:r>
              <a:rPr lang="pt-BR" sz="2800" b="1" dirty="0"/>
              <a:t>Como documentar decisões de projeto?</a:t>
            </a:r>
          </a:p>
        </p:txBody>
      </p:sp>
    </p:spTree>
    <p:extLst>
      <p:ext uri="{BB962C8B-B14F-4D97-AF65-F5344CB8AC3E}">
        <p14:creationId xmlns:p14="http://schemas.microsoft.com/office/powerpoint/2010/main" val="4191317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24CFD4-ECB3-4776-C810-EF4421AEB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4955" y="552182"/>
            <a:ext cx="5998840" cy="3343135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dirty="0"/>
              <a:t>Ficou claro que </a:t>
            </a:r>
            <a:r>
              <a:rPr lang="en-US" sz="5200" dirty="0" err="1"/>
              <a:t>não</a:t>
            </a:r>
            <a:r>
              <a:rPr lang="en-US" sz="5200" dirty="0"/>
              <a:t> </a:t>
            </a:r>
            <a:r>
              <a:rPr lang="en-US" sz="5200" dirty="0" err="1"/>
              <a:t>dá</a:t>
            </a:r>
            <a:r>
              <a:rPr lang="en-US" sz="5200" dirty="0"/>
              <a:t> para </a:t>
            </a:r>
            <a:r>
              <a:rPr lang="en-US" sz="5200" dirty="0" err="1"/>
              <a:t>sair</a:t>
            </a:r>
            <a:r>
              <a:rPr lang="en-US" sz="5200" dirty="0"/>
              <a:t> </a:t>
            </a:r>
            <a:r>
              <a:rPr lang="en-US" sz="5200" dirty="0" err="1"/>
              <a:t>programando</a:t>
            </a:r>
            <a:r>
              <a:rPr lang="en-US" sz="5200" dirty="0"/>
              <a:t>????</a:t>
            </a:r>
          </a:p>
        </p:txBody>
      </p:sp>
      <p:pic>
        <p:nvPicPr>
          <p:cNvPr id="4" name="Picture 3" descr="Figura humana em madeira">
            <a:extLst>
              <a:ext uri="{FF2B5EF4-FFF2-40B4-BE49-F238E27FC236}">
                <a16:creationId xmlns:a16="http://schemas.microsoft.com/office/drawing/2014/main" id="{AD1633ED-DD15-41A5-AEA7-25B2CD46CF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7" r="51064" b="-1"/>
          <a:stretch>
            <a:fillRect/>
          </a:stretch>
        </p:blipFill>
        <p:spPr>
          <a:xfrm>
            <a:off x="20" y="10"/>
            <a:ext cx="4992985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012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DCBC41-EFC9-6D0F-A6DA-5965B13ED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92078"/>
            <a:ext cx="10652760" cy="969264"/>
          </a:xfrm>
        </p:spPr>
        <p:txBody>
          <a:bodyPr/>
          <a:lstStyle/>
          <a:p>
            <a:pPr algn="ctr"/>
            <a:r>
              <a:rPr lang="pt-BR" dirty="0"/>
              <a:t>O que precisamos fazer???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7A2E312-EC21-7B89-0583-5B30FFBF74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768" y="2583712"/>
            <a:ext cx="6045460" cy="3698216"/>
          </a:xfrm>
        </p:spPr>
        <p:txBody>
          <a:bodyPr/>
          <a:lstStyle/>
          <a:p>
            <a:r>
              <a:rPr lang="pt-BR" b="1" dirty="0"/>
              <a:t>Modelar</a:t>
            </a:r>
            <a:r>
              <a:rPr lang="pt-BR" dirty="0"/>
              <a:t> é criar uma representação simplificada de algo complexo para facilitar sua compreensão, comunicação e construção.</a:t>
            </a:r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Pense em uma construção de uma casa!!!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978305F-69D0-4ACB-A2EA-A4295D7E35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6079" y="1892595"/>
            <a:ext cx="5337541" cy="4873327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72DD5326-23C0-4E9F-92E9-BD414F4B845D}"/>
              </a:ext>
            </a:extLst>
          </p:cNvPr>
          <p:cNvSpPr/>
          <p:nvPr/>
        </p:nvSpPr>
        <p:spPr>
          <a:xfrm>
            <a:off x="566108" y="1589698"/>
            <a:ext cx="4909659" cy="923330"/>
          </a:xfrm>
          <a:prstGeom prst="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5400" b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MODELAR</a:t>
            </a:r>
          </a:p>
        </p:txBody>
      </p:sp>
    </p:spTree>
    <p:extLst>
      <p:ext uri="{BB962C8B-B14F-4D97-AF65-F5344CB8AC3E}">
        <p14:creationId xmlns:p14="http://schemas.microsoft.com/office/powerpoint/2010/main" val="21784970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ED2DBA-5CB0-C0EF-9B56-DF8D69E77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UML ?? 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F054EA7-6753-8147-FD82-A31444B0D9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071818"/>
          </a:xfrm>
        </p:spPr>
        <p:txBody>
          <a:bodyPr/>
          <a:lstStyle/>
          <a:p>
            <a:r>
              <a:rPr lang="pt-BR" b="1" dirty="0"/>
              <a:t>UML — </a:t>
            </a:r>
            <a:r>
              <a:rPr lang="pt-BR" b="1" dirty="0" err="1"/>
              <a:t>Unified</a:t>
            </a:r>
            <a:r>
              <a:rPr lang="pt-BR" b="1" dirty="0"/>
              <a:t> </a:t>
            </a:r>
            <a:r>
              <a:rPr lang="pt-BR" b="1" dirty="0" err="1"/>
              <a:t>Modeling</a:t>
            </a:r>
            <a:r>
              <a:rPr lang="pt-BR" b="1" dirty="0"/>
              <a:t> </a:t>
            </a:r>
            <a:r>
              <a:rPr lang="pt-BR" b="1" dirty="0" err="1"/>
              <a:t>Language</a:t>
            </a:r>
            <a:r>
              <a:rPr lang="pt-BR" b="1" dirty="0"/>
              <a:t> (Linguagem de Modelagem Unificada)</a:t>
            </a:r>
            <a:endParaRPr lang="pt-BR" dirty="0"/>
          </a:p>
          <a:p>
            <a:r>
              <a:rPr lang="pt-BR" dirty="0"/>
              <a:t>É uma </a:t>
            </a:r>
            <a:r>
              <a:rPr lang="pt-BR" b="1" dirty="0"/>
              <a:t>linguagem visual para especificar, visualizar, construir e documentar sistemas</a:t>
            </a:r>
            <a:r>
              <a:rPr lang="pt-BR" dirty="0"/>
              <a:t>, especialmente sistemas de software.</a:t>
            </a:r>
          </a:p>
          <a:p>
            <a:pPr marL="0" indent="0">
              <a:buNone/>
            </a:pPr>
            <a:endParaRPr lang="pt-BR" dirty="0"/>
          </a:p>
          <a:p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296B3C7-0294-0F19-EB67-0BD268002F64}"/>
              </a:ext>
            </a:extLst>
          </p:cNvPr>
          <p:cNvSpPr txBox="1"/>
          <p:nvPr/>
        </p:nvSpPr>
        <p:spPr>
          <a:xfrm>
            <a:off x="6096000" y="4422098"/>
            <a:ext cx="511664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dirty="0"/>
              <a:t>UML, para nós programador, é como o AutoCAD para o Engenheiro Civil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C7CFE57A-A173-3F1E-5B8B-599940CCF8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1" y="3797542"/>
            <a:ext cx="5435689" cy="3060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877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2FD1A9-B21C-4C32-8EA6-777E5750F0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72611"/>
            <a:ext cx="11347704" cy="1849349"/>
          </a:xfrm>
        </p:spPr>
        <p:txBody>
          <a:bodyPr>
            <a:normAutofit/>
          </a:bodyPr>
          <a:lstStyle/>
          <a:p>
            <a:pPr algn="ctr"/>
            <a:r>
              <a:rPr lang="pt-BR" dirty="0"/>
              <a:t>UML (</a:t>
            </a:r>
            <a:r>
              <a:rPr lang="pt-BR" dirty="0" err="1"/>
              <a:t>Unified</a:t>
            </a:r>
            <a:r>
              <a:rPr lang="pt-BR" dirty="0"/>
              <a:t> </a:t>
            </a:r>
            <a:r>
              <a:rPr lang="pt-BR" dirty="0" err="1"/>
              <a:t>Modeling</a:t>
            </a:r>
            <a:r>
              <a:rPr lang="pt-BR" dirty="0"/>
              <a:t> </a:t>
            </a:r>
            <a:r>
              <a:rPr lang="pt-BR" dirty="0" err="1"/>
              <a:t>Language</a:t>
            </a:r>
            <a:r>
              <a:rPr lang="pt-BR" dirty="0"/>
              <a:t>, ou Linguagem de Modelagem Unificada)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B15311C-ED8D-47C9-88E0-D6ADBFF194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3750068"/>
            <a:ext cx="11347704" cy="2075380"/>
          </a:xfrm>
        </p:spPr>
        <p:txBody>
          <a:bodyPr>
            <a:normAutofit/>
          </a:bodyPr>
          <a:lstStyle/>
          <a:p>
            <a:pPr algn="just"/>
            <a:r>
              <a:rPr lang="pt-BR" sz="3200" dirty="0"/>
              <a:t>DEFINIÇÃO: é uma linguagem visual padrão usada para especificar, visualizar, construir e documentar sistemas de software</a:t>
            </a:r>
          </a:p>
        </p:txBody>
      </p:sp>
    </p:spTree>
    <p:extLst>
      <p:ext uri="{BB962C8B-B14F-4D97-AF65-F5344CB8AC3E}">
        <p14:creationId xmlns:p14="http://schemas.microsoft.com/office/powerpoint/2010/main" val="22901640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04E7EC-7D8D-4F85-B876-CA22CF241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83464"/>
            <a:ext cx="4193603" cy="969264"/>
          </a:xfrm>
        </p:spPr>
        <p:txBody>
          <a:bodyPr/>
          <a:lstStyle/>
          <a:p>
            <a:pPr algn="ctr"/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UML – Conceitos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8DE9AA8-F4F4-4302-864E-AB1CC9F8402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393933" y="527681"/>
            <a:ext cx="6236414" cy="70725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A UML funciona como uma "planta baixa" ou um "manual de instruções" para softwares. Ela não é uma linguagem de programação, mas sim uma ferramenta de design que usa símbolos e diagramas para representar como um sistema deve funcionar antes de o código ser escrito.</a:t>
            </a:r>
            <a:endParaRPr kumimoji="0" lang="pt-BR" altLang="pt-B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CB73FB4D-09B2-44EC-ADF2-BF62DE5E4E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653" y="1805683"/>
            <a:ext cx="4295775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2129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C7B7EB-9722-4609-B5C4-F1DCB80E3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504" y="411480"/>
            <a:ext cx="4060039" cy="969264"/>
          </a:xfrm>
        </p:spPr>
        <p:txBody>
          <a:bodyPr/>
          <a:lstStyle/>
          <a:p>
            <a:pPr algn="ctr"/>
            <a:r>
              <a:rPr lang="pt-BR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UML - Conceitos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559CBCF-0328-478B-A1A8-769E5171B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7352" y="627237"/>
            <a:ext cx="6459157" cy="5870448"/>
          </a:xfrm>
        </p:spPr>
        <p:txBody>
          <a:bodyPr>
            <a:normAutofit/>
          </a:bodyPr>
          <a:lstStyle/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4000" b="1" dirty="0">
                <a:latin typeface="Google Sans"/>
              </a:rPr>
              <a:t>Principais Objetivos</a:t>
            </a:r>
            <a:endParaRPr lang="pt-BR" altLang="pt-BR" dirty="0"/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3600" b="1" dirty="0">
                <a:latin typeface="Google Sans"/>
              </a:rPr>
              <a:t>Visualizar:</a:t>
            </a:r>
            <a:r>
              <a:rPr lang="pt-BR" altLang="pt-BR" sz="3600" dirty="0">
                <a:latin typeface="Google Sans"/>
              </a:rPr>
              <a:t> Ajuda a enxergar a estrutura e o comportamento de um sistema de forma clara.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3600" b="1" dirty="0">
                <a:latin typeface="Google Sans"/>
              </a:rPr>
              <a:t>Especificar:</a:t>
            </a:r>
            <a:r>
              <a:rPr lang="pt-BR" altLang="pt-BR" sz="3600" dirty="0">
                <a:latin typeface="Google Sans"/>
              </a:rPr>
              <a:t> Define com exatidão as regras e o design de um projeto.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3600" b="1" dirty="0">
                <a:latin typeface="Google Sans"/>
              </a:rPr>
              <a:t>Documentar:</a:t>
            </a:r>
            <a:r>
              <a:rPr lang="pt-BR" altLang="pt-BR" sz="3600" dirty="0">
                <a:latin typeface="Google Sans"/>
              </a:rPr>
              <a:t> Mantém um registro visual do que o software faz e como ele é organizado.</a:t>
            </a:r>
          </a:p>
          <a:p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713C1DD-715D-4A96-A7FA-71827DCE4F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68" y="1600200"/>
            <a:ext cx="4295775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8968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2976FD-D245-A462-C094-3464FE640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IMPORTANTE: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3688978-0F81-F4FD-9844-A1FF8FCF0C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400" b="1" dirty="0"/>
              <a:t>UML não é uma metodologia de desenvolvimento de software</a:t>
            </a:r>
          </a:p>
          <a:p>
            <a:r>
              <a:rPr lang="pt-BR" sz="2400" b="1" dirty="0"/>
              <a:t>UML não é uma linguagem de programação.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UML</a:t>
            </a:r>
            <a:r>
              <a:rPr lang="pt-BR" sz="36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é uma </a:t>
            </a:r>
            <a:r>
              <a:rPr lang="pt-BR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linguagem visual para especificar, visualizar, construir e documentar sistemas</a:t>
            </a:r>
            <a:r>
              <a:rPr lang="pt-BR" sz="36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especialmente sistemas de software.</a:t>
            </a:r>
          </a:p>
        </p:txBody>
      </p:sp>
    </p:spTree>
    <p:extLst>
      <p:ext uri="{BB962C8B-B14F-4D97-AF65-F5344CB8AC3E}">
        <p14:creationId xmlns:p14="http://schemas.microsoft.com/office/powerpoint/2010/main" val="23897156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2D6837-FE2F-A928-DA37-A73EBFED1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Alguns tipos de Diagramas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B330EC8-C899-8A45-5B9D-1468F9003A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4046"/>
            <a:ext cx="10515600" cy="503882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t-BR" b="1" dirty="0"/>
              <a:t>Diagrama de Casos de Uso</a:t>
            </a:r>
            <a:r>
              <a:rPr lang="pt-BR" dirty="0"/>
              <a:t> → </a:t>
            </a:r>
            <a:r>
              <a:rPr lang="pt-BR" i="1" dirty="0"/>
              <a:t>O que o sistema deve fazer e quem interage com ele?</a:t>
            </a:r>
            <a:r>
              <a:rPr lang="pt-BR" dirty="0"/>
              <a:t> </a:t>
            </a:r>
          </a:p>
          <a:p>
            <a:pPr>
              <a:lnSpc>
                <a:spcPct val="150000"/>
              </a:lnSpc>
            </a:pPr>
            <a:r>
              <a:rPr lang="pt-BR" b="1" dirty="0"/>
              <a:t>Diagrama de Classes</a:t>
            </a:r>
            <a:r>
              <a:rPr lang="pt-BR" dirty="0"/>
              <a:t> → </a:t>
            </a:r>
            <a:r>
              <a:rPr lang="pt-BR" i="1" dirty="0"/>
              <a:t>Qual é a estrutura do sistema?</a:t>
            </a:r>
            <a:r>
              <a:rPr lang="pt-BR" dirty="0"/>
              <a:t> </a:t>
            </a:r>
          </a:p>
          <a:p>
            <a:pPr>
              <a:lnSpc>
                <a:spcPct val="150000"/>
              </a:lnSpc>
            </a:pPr>
            <a:r>
              <a:rPr lang="pt-BR" b="1" dirty="0"/>
              <a:t>Diagrama de Sequência</a:t>
            </a:r>
            <a:r>
              <a:rPr lang="pt-BR" dirty="0"/>
              <a:t> → </a:t>
            </a:r>
            <a:r>
              <a:rPr lang="pt-BR" i="1" dirty="0"/>
              <a:t>Como os objetos colaboram ao longo do tempo?</a:t>
            </a:r>
            <a:r>
              <a:rPr lang="pt-BR" dirty="0"/>
              <a:t> </a:t>
            </a:r>
          </a:p>
          <a:p>
            <a:pPr>
              <a:lnSpc>
                <a:spcPct val="150000"/>
              </a:lnSpc>
            </a:pPr>
            <a:r>
              <a:rPr lang="pt-BR" b="1" dirty="0"/>
              <a:t>Diagrama de Atividades</a:t>
            </a:r>
            <a:r>
              <a:rPr lang="pt-BR" dirty="0"/>
              <a:t> → </a:t>
            </a:r>
            <a:r>
              <a:rPr lang="pt-BR" i="1" dirty="0"/>
              <a:t>Qual é o fluxo de um processo?</a:t>
            </a:r>
          </a:p>
          <a:p>
            <a:pPr>
              <a:lnSpc>
                <a:spcPct val="150000"/>
              </a:lnSpc>
            </a:pPr>
            <a:r>
              <a:rPr lang="pt-BR" b="1" dirty="0"/>
              <a:t>Diagrama de Estados</a:t>
            </a:r>
            <a:r>
              <a:rPr lang="pt-BR" dirty="0"/>
              <a:t> → </a:t>
            </a:r>
            <a:r>
              <a:rPr lang="pt-BR" i="1" dirty="0"/>
              <a:t>Como um objeto muda de estado?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746376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D539F2-6D9F-7512-D005-5CCDE2E2A6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 anchor="b">
            <a:normAutofit/>
          </a:bodyPr>
          <a:lstStyle/>
          <a:p>
            <a:r>
              <a:rPr lang="pt-BR" dirty="0"/>
              <a:t>Diagrama de Casos de Uso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0D26222-0DA0-F5A3-0E5A-0DDB9511DC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>
            <a:normAutofit/>
          </a:bodyPr>
          <a:lstStyle/>
          <a:p>
            <a:r>
              <a:rPr lang="pt-BR" dirty="0"/>
              <a:t>Clauss</a:t>
            </a:r>
          </a:p>
        </p:txBody>
      </p:sp>
      <p:pic>
        <p:nvPicPr>
          <p:cNvPr id="5" name="Espaço Reservado para Imagem 4" descr="Diagrama&#10;&#10;O conteúdo gerado por IA pode estar incorreto.">
            <a:extLst>
              <a:ext uri="{FF2B5EF4-FFF2-40B4-BE49-F238E27FC236}">
                <a16:creationId xmlns:a16="http://schemas.microsoft.com/office/drawing/2014/main" id="{A6A02D12-93FD-7BA2-B718-827D61FF9BB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692" b="22692"/>
          <a:stretch>
            <a:fillRect/>
          </a:stretch>
        </p:blipFill>
        <p:spPr>
          <a:custGeom>
            <a:avLst/>
            <a:gdLst>
              <a:gd name="connsiteX0" fmla="*/ 292023 w 11506200"/>
              <a:gd name="connsiteY0" fmla="*/ 0 h 4792766"/>
              <a:gd name="connsiteX1" fmla="*/ 11214177 w 11506200"/>
              <a:gd name="connsiteY1" fmla="*/ 0 h 4792766"/>
              <a:gd name="connsiteX2" fmla="*/ 11506200 w 11506200"/>
              <a:gd name="connsiteY2" fmla="*/ 292023 h 4792766"/>
              <a:gd name="connsiteX3" fmla="*/ 11506200 w 11506200"/>
              <a:gd name="connsiteY3" fmla="*/ 4500743 h 4792766"/>
              <a:gd name="connsiteX4" fmla="*/ 11214177 w 11506200"/>
              <a:gd name="connsiteY4" fmla="*/ 4792766 h 4792766"/>
              <a:gd name="connsiteX5" fmla="*/ 292023 w 11506200"/>
              <a:gd name="connsiteY5" fmla="*/ 4792766 h 4792766"/>
              <a:gd name="connsiteX6" fmla="*/ 0 w 11506200"/>
              <a:gd name="connsiteY6" fmla="*/ 4500743 h 4792766"/>
              <a:gd name="connsiteX7" fmla="*/ 0 w 11506200"/>
              <a:gd name="connsiteY7" fmla="*/ 292023 h 4792766"/>
              <a:gd name="connsiteX8" fmla="*/ 292023 w 11506200"/>
              <a:gd name="connsiteY8" fmla="*/ 0 h 4792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6200" h="4792766">
                <a:moveTo>
                  <a:pt x="292023" y="0"/>
                </a:moveTo>
                <a:lnTo>
                  <a:pt x="11214177" y="0"/>
                </a:lnTo>
                <a:cubicBezTo>
                  <a:pt x="11375457" y="0"/>
                  <a:pt x="11506200" y="130743"/>
                  <a:pt x="11506200" y="292023"/>
                </a:cubicBezTo>
                <a:lnTo>
                  <a:pt x="11506200" y="4500743"/>
                </a:lnTo>
                <a:cubicBezTo>
                  <a:pt x="11506200" y="4662023"/>
                  <a:pt x="11375457" y="4792766"/>
                  <a:pt x="11214177" y="4792766"/>
                </a:cubicBezTo>
                <a:lnTo>
                  <a:pt x="292023" y="4792766"/>
                </a:lnTo>
                <a:cubicBezTo>
                  <a:pt x="130743" y="4792766"/>
                  <a:pt x="0" y="4662023"/>
                  <a:pt x="0" y="4500743"/>
                </a:cubicBezTo>
                <a:lnTo>
                  <a:pt x="0" y="292023"/>
                </a:lnTo>
                <a:cubicBezTo>
                  <a:pt x="0" y="130743"/>
                  <a:pt x="130743" y="0"/>
                  <a:pt x="292023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</a:blip>
            <a:srcRect/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33034196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22ECDE-EC80-4EF6-9640-2950BD6E4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 anchor="t">
            <a:normAutofit/>
          </a:bodyPr>
          <a:lstStyle/>
          <a:p>
            <a:r>
              <a:rPr lang="pt-BR" dirty="0"/>
              <a:t>Atores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8463A5F-9B47-22B7-75A7-B2D78B9C7CE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98464" y="2423160"/>
            <a:ext cx="5486400" cy="1424221"/>
          </a:xfrm>
        </p:spPr>
        <p:txBody>
          <a:bodyPr>
            <a:noAutofit/>
          </a:bodyPr>
          <a:lstStyle/>
          <a:p>
            <a:r>
              <a:rPr lang="pt-BR" sz="3600"/>
              <a:t>Pessoa (gerente, usuário, cliente, programador...)</a:t>
            </a:r>
          </a:p>
          <a:p>
            <a:r>
              <a:rPr lang="pt-BR" sz="3600"/>
              <a:t>Sistemas Integrado (Hardware, sistemas externos)</a:t>
            </a:r>
            <a:endParaRPr lang="pt-BR" sz="3600" dirty="0"/>
          </a:p>
        </p:txBody>
      </p:sp>
      <p:pic>
        <p:nvPicPr>
          <p:cNvPr id="1026" name="Picture 2" descr="Diagrama de caso de uso | Treinamento WAEI/MSE">
            <a:extLst>
              <a:ext uri="{FF2B5EF4-FFF2-40B4-BE49-F238E27FC236}">
                <a16:creationId xmlns:a16="http://schemas.microsoft.com/office/drawing/2014/main" id="{FA6ED42A-B517-8A58-FC0B-CB512CFA79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5501" y="1540473"/>
            <a:ext cx="2633393" cy="4906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2994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5AF691-6A9B-593D-E985-8822533C4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Caso de Uso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930E651-9EA2-B0CE-E1D4-C1DD3A716FC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pt-BR" dirty="0"/>
              <a:t>Refere-se ao serviços, tarefas ou funcionalidades identificados como necessário ao software e que podem ser utilizados de alguma maneira pelos atores que interagem com o sistema, sendo usados para expressar e documentar os comportamentos pretendidos para as funções deste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ED94C23-0DF5-FE6C-DA35-7A9E0D6F8306}"/>
              </a:ext>
            </a:extLst>
          </p:cNvPr>
          <p:cNvSpPr/>
          <p:nvPr/>
        </p:nvSpPr>
        <p:spPr>
          <a:xfrm>
            <a:off x="1086928" y="2423160"/>
            <a:ext cx="4911536" cy="3886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546B277E-8F72-55E0-98F9-AAA44E8F2A73}"/>
              </a:ext>
            </a:extLst>
          </p:cNvPr>
          <p:cNvSpPr/>
          <p:nvPr/>
        </p:nvSpPr>
        <p:spPr>
          <a:xfrm>
            <a:off x="1639018" y="3429000"/>
            <a:ext cx="3640347" cy="18288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Emprestar o livro</a:t>
            </a:r>
          </a:p>
        </p:txBody>
      </p:sp>
    </p:spTree>
    <p:extLst>
      <p:ext uri="{BB962C8B-B14F-4D97-AF65-F5344CB8AC3E}">
        <p14:creationId xmlns:p14="http://schemas.microsoft.com/office/powerpoint/2010/main" val="29096493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82009-E61E-B8D2-425D-78DBE7573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685C8D-E1AB-A194-2E01-88A84B58C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Caso de Uso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A16357F-A19B-FE83-07F5-AD5D77EF087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      Podem ser:</a:t>
            </a:r>
          </a:p>
          <a:p>
            <a:pPr lvl="1"/>
            <a:r>
              <a:rPr lang="pt-BR" dirty="0"/>
              <a:t>Primários: refere-se ao um processo importante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pt-BR" dirty="0"/>
              <a:t>Exemplo Emprestar o livro, sacar dinheiro....</a:t>
            </a:r>
          </a:p>
          <a:p>
            <a:pPr lvl="2"/>
            <a:endParaRPr lang="pt-BR" dirty="0"/>
          </a:p>
          <a:p>
            <a:pPr lvl="1"/>
            <a:r>
              <a:rPr lang="pt-BR" dirty="0"/>
              <a:t>Secundário: Processos Periféricos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pt-BR" dirty="0"/>
              <a:t>Verificar cadastro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52EEBD0-9210-5506-1D44-4F0BB9058BA6}"/>
              </a:ext>
            </a:extLst>
          </p:cNvPr>
          <p:cNvSpPr/>
          <p:nvPr/>
        </p:nvSpPr>
        <p:spPr>
          <a:xfrm>
            <a:off x="1086928" y="2423160"/>
            <a:ext cx="4911536" cy="3886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C0974FAF-1E03-D827-7853-281D879D285B}"/>
              </a:ext>
            </a:extLst>
          </p:cNvPr>
          <p:cNvSpPr/>
          <p:nvPr/>
        </p:nvSpPr>
        <p:spPr>
          <a:xfrm>
            <a:off x="1639018" y="3429000"/>
            <a:ext cx="3640347" cy="18288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Emprestar o livro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5DA7A97-50B7-B219-60BF-52A9B8652EC1}"/>
              </a:ext>
            </a:extLst>
          </p:cNvPr>
          <p:cNvSpPr txBox="1"/>
          <p:nvPr/>
        </p:nvSpPr>
        <p:spPr>
          <a:xfrm>
            <a:off x="6556075" y="5779698"/>
            <a:ext cx="4928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Exercício Faça um Casos de Uso para emprestar um livro</a:t>
            </a:r>
          </a:p>
        </p:txBody>
      </p:sp>
    </p:spTree>
    <p:extLst>
      <p:ext uri="{BB962C8B-B14F-4D97-AF65-F5344CB8AC3E}">
        <p14:creationId xmlns:p14="http://schemas.microsoft.com/office/powerpoint/2010/main" val="27650256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2748D9-82D9-4251-BEC5-7F9C97E01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856232" cy="606159"/>
          </a:xfrm>
        </p:spPr>
        <p:txBody>
          <a:bodyPr>
            <a:normAutofit/>
          </a:bodyPr>
          <a:lstStyle/>
          <a:p>
            <a:r>
              <a:rPr lang="pt-B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Etapa 1: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503D9AC-014B-42C5-9CEB-9A9219906F9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980767"/>
            <a:ext cx="4230722" cy="4712109"/>
          </a:xfrm>
        </p:spPr>
        <p:txBody>
          <a:bodyPr/>
          <a:lstStyle/>
          <a:p>
            <a:r>
              <a:rPr lang="pt-BR" dirty="0"/>
              <a:t>Definir quem será o Autor</a:t>
            </a:r>
          </a:p>
          <a:p>
            <a:pPr marL="514350" lvl="1" indent="-285750">
              <a:buFont typeface="Wingdings" panose="05000000000000000000" pitchFamily="2" charset="2"/>
              <a:buChar char="ü"/>
            </a:pPr>
            <a:r>
              <a:rPr lang="pt-BR" dirty="0"/>
              <a:t>No nosso caso (biblioteca da Fatec) quem irá interagir com o sistema da biblioteca é a bibliotecária.</a:t>
            </a:r>
          </a:p>
          <a:p>
            <a:pPr marL="514350" lvl="1" indent="-285750">
              <a:buFont typeface="Wingdings" panose="05000000000000000000" pitchFamily="2" charset="2"/>
              <a:buChar char="ü"/>
            </a:pPr>
            <a:r>
              <a:rPr lang="pt-BR" dirty="0"/>
              <a:t>Portanto, o ator é a bibliotecária</a:t>
            </a:r>
          </a:p>
          <a:p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46792F5-85DC-428C-AB3D-1719F549717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3655" t="27957" r="13281" b="12688"/>
          <a:stretch/>
        </p:blipFill>
        <p:spPr>
          <a:xfrm>
            <a:off x="6275834" y="2094270"/>
            <a:ext cx="3937819" cy="4070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1407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2748D9-82D9-4251-BEC5-7F9C97E01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856232" cy="606159"/>
          </a:xfrm>
        </p:spPr>
        <p:txBody>
          <a:bodyPr>
            <a:normAutofit/>
          </a:bodyPr>
          <a:lstStyle/>
          <a:p>
            <a:r>
              <a:rPr lang="pt-B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Etapa 2: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503D9AC-014B-42C5-9CEB-9A9219906F9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980767"/>
            <a:ext cx="4230722" cy="4712109"/>
          </a:xfrm>
        </p:spPr>
        <p:txBody>
          <a:bodyPr/>
          <a:lstStyle/>
          <a:p>
            <a:r>
              <a:rPr lang="pt-BR" dirty="0"/>
              <a:t>Qual a interação que o ator terá com o Sistema?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pt-BR" dirty="0"/>
              <a:t>No Caso o ator pode Emprestar o Livro</a:t>
            </a:r>
          </a:p>
          <a:p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B01750E-91CF-431E-890B-8C3B2E0ED9B7}"/>
              </a:ext>
            </a:extLst>
          </p:cNvPr>
          <p:cNvSpPr txBox="1"/>
          <p:nvPr/>
        </p:nvSpPr>
        <p:spPr>
          <a:xfrm>
            <a:off x="0" y="6488668"/>
            <a:ext cx="12192000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Observe que o que o ator irá fazer é uma ação, então precisa ter um verbo (verbo no infinitivo)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84841E53-C7E5-4574-91E9-546E34FC20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3172" t="28603" r="13925" b="13548"/>
          <a:stretch/>
        </p:blipFill>
        <p:spPr>
          <a:xfrm>
            <a:off x="6096000" y="714558"/>
            <a:ext cx="4922794" cy="4978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8865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112A1-68D4-2082-2A39-A0108E474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B5BB46-BFA2-6CDE-BE5E-DE99C152C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Caso de Uso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D37973D-AF48-266E-C814-70E52A9CF5F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   Representação por uma elipse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Sempre colocar o verbo (ação) de preferencia no infinitivo o  verbo (ir, ar,,,)</a:t>
            </a:r>
          </a:p>
          <a:p>
            <a:pPr marL="0" indent="0">
              <a:buNone/>
            </a:pPr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D9FAAEC-7F31-7FA9-9337-B1BB0C74144A}"/>
              </a:ext>
            </a:extLst>
          </p:cNvPr>
          <p:cNvSpPr/>
          <p:nvPr/>
        </p:nvSpPr>
        <p:spPr>
          <a:xfrm>
            <a:off x="1086928" y="2423160"/>
            <a:ext cx="4911536" cy="3886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2CA6D964-0D01-D472-8933-C08DC53D45D3}"/>
              </a:ext>
            </a:extLst>
          </p:cNvPr>
          <p:cNvSpPr/>
          <p:nvPr/>
        </p:nvSpPr>
        <p:spPr>
          <a:xfrm>
            <a:off x="1639018" y="3429000"/>
            <a:ext cx="3640347" cy="18288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Emprestar o livro</a:t>
            </a:r>
          </a:p>
        </p:txBody>
      </p:sp>
    </p:spTree>
    <p:extLst>
      <p:ext uri="{BB962C8B-B14F-4D97-AF65-F5344CB8AC3E}">
        <p14:creationId xmlns:p14="http://schemas.microsoft.com/office/powerpoint/2010/main" val="20764415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BB84AE-CB2E-4D5A-85C6-F4C2A0701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3876761" cy="665152"/>
          </a:xfrm>
        </p:spPr>
        <p:txBody>
          <a:bodyPr>
            <a:normAutofit/>
          </a:bodyPr>
          <a:lstStyle/>
          <a:p>
            <a:r>
              <a:rPr lang="pt-B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Etapa 3: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E5D18CB-1A25-464F-AB31-A355D6E2871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5586" y="1287534"/>
            <a:ext cx="5486400" cy="3886200"/>
          </a:xfrm>
        </p:spPr>
        <p:txBody>
          <a:bodyPr/>
          <a:lstStyle/>
          <a:p>
            <a:r>
              <a:rPr lang="pt-BR" dirty="0"/>
              <a:t>O Ator precisa se relacionar com o Caso de Uso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pt-BR" dirty="0"/>
              <a:t>Precisam se relacionar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3A9105D-204B-49FF-9E09-8CFBAE9191C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3656" t="28816" r="14247" b="14517"/>
          <a:stretch/>
        </p:blipFill>
        <p:spPr>
          <a:xfrm>
            <a:off x="6563032" y="411480"/>
            <a:ext cx="5041379" cy="5089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2355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043108-9556-4BD1-928E-9A2D0A8CB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B2109CD-477E-47AB-9810-1D50A69C5E7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91386" y="1658679"/>
            <a:ext cx="11293478" cy="4650681"/>
          </a:xfrm>
        </p:spPr>
        <p:txBody>
          <a:bodyPr/>
          <a:lstStyle/>
          <a:p>
            <a:r>
              <a:rPr lang="pt-BR" dirty="0"/>
              <a:t>Sistema para uma imobiliária para Cadastrar Imóveis</a:t>
            </a:r>
          </a:p>
          <a:p>
            <a:r>
              <a:rPr lang="pt-BR" dirty="0"/>
              <a:t>Sistema de escola para cadastrar Alunos</a:t>
            </a:r>
          </a:p>
          <a:p>
            <a:r>
              <a:rPr lang="pt-BR" dirty="0"/>
              <a:t>Sistema de um banco para consultar o Saldo</a:t>
            </a:r>
          </a:p>
          <a:p>
            <a:r>
              <a:rPr lang="pt-BR" dirty="0"/>
              <a:t>Sistema de Mecânica para Cadastrar os carros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5- Pense em uma farmácia quais caso de Uso teriam?</a:t>
            </a:r>
          </a:p>
        </p:txBody>
      </p:sp>
    </p:spTree>
    <p:extLst>
      <p:ext uri="{BB962C8B-B14F-4D97-AF65-F5344CB8AC3E}">
        <p14:creationId xmlns:p14="http://schemas.microsoft.com/office/powerpoint/2010/main" val="2359370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863F42-A31F-4BD5-A5E7-2BEC8757D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3242" y="411480"/>
            <a:ext cx="3297794" cy="896325"/>
          </a:xfrm>
        </p:spPr>
        <p:txBody>
          <a:bodyPr>
            <a:noAutofit/>
          </a:bodyPr>
          <a:lstStyle/>
          <a:p>
            <a:r>
              <a:rPr lang="pt-BR" sz="4400" dirty="0"/>
              <a:t>Analise o diagrama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22E506E-4590-4505-89B7-EA47A2AAC5F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993242" y="2412528"/>
            <a:ext cx="3297794" cy="3886200"/>
          </a:xfrm>
        </p:spPr>
        <p:txBody>
          <a:bodyPr/>
          <a:lstStyle/>
          <a:p>
            <a:r>
              <a:rPr lang="pt-BR" dirty="0"/>
              <a:t>Observe quem são os atores;</a:t>
            </a:r>
          </a:p>
          <a:p>
            <a:r>
              <a:rPr lang="pt-BR" dirty="0"/>
              <a:t>Observes os diferentes tipos de Caso de Uso</a:t>
            </a:r>
          </a:p>
          <a:p>
            <a:r>
              <a:rPr lang="pt-BR" b="1" dirty="0"/>
              <a:t>Observe os tipos de relacionamentos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92D9F69-F3B2-4623-9B9E-EED13CEDF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4830"/>
            <a:ext cx="8993242" cy="6932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0539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75759-2C32-2C1D-A980-421E11474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3C2860-A21E-727F-21D2-52FBFED64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400067"/>
          </a:xfrm>
        </p:spPr>
        <p:txBody>
          <a:bodyPr>
            <a:normAutofit/>
          </a:bodyPr>
          <a:lstStyle/>
          <a:p>
            <a:r>
              <a:rPr lang="pt-BR" dirty="0"/>
              <a:t>Associações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684171-51A6-616C-BD12-F6E20D0EB6C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19456" y="1422496"/>
            <a:ext cx="11753088" cy="118268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3600" dirty="0"/>
              <a:t> As associações definem como atores se conectam a funcionalidades, ou como casos de uso se relacionam entre si, utilizando linhas contínuas para comunicação e tracejadas para </a:t>
            </a:r>
            <a:r>
              <a:rPr lang="pt-BR" sz="3600" dirty="0">
                <a:hlinkClick r:id="rId2"/>
              </a:rPr>
              <a:t>include</a:t>
            </a:r>
            <a:r>
              <a:rPr lang="pt-BR" sz="3600" dirty="0"/>
              <a:t>, </a:t>
            </a:r>
            <a:r>
              <a:rPr lang="pt-BR" sz="3600" dirty="0" err="1">
                <a:hlinkClick r:id="rId3"/>
              </a:rPr>
              <a:t>extend</a:t>
            </a:r>
            <a:r>
              <a:rPr lang="pt-BR" sz="3600" dirty="0"/>
              <a:t> ou generalização.</a:t>
            </a:r>
          </a:p>
          <a:p>
            <a:pPr marL="0" indent="0" algn="just">
              <a:buNone/>
            </a:pPr>
            <a:endParaRPr lang="pt-BR" sz="1200" dirty="0"/>
          </a:p>
          <a:p>
            <a:pPr marL="0" indent="0" algn="just">
              <a:buNone/>
            </a:pPr>
            <a:r>
              <a:rPr lang="pt-BR" sz="3600" dirty="0"/>
              <a:t>A associação pode ter seta ou não. Quando não possuir seta significa que as informações são  transmitidas nas duas direções.</a:t>
            </a:r>
          </a:p>
        </p:txBody>
      </p:sp>
    </p:spTree>
    <p:extLst>
      <p:ext uri="{BB962C8B-B14F-4D97-AF65-F5344CB8AC3E}">
        <p14:creationId xmlns:p14="http://schemas.microsoft.com/office/powerpoint/2010/main" val="12249471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CECF3C-DD11-896E-EC26-4FD168DF9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Associações</a:t>
            </a:r>
          </a:p>
        </p:txBody>
      </p:sp>
      <p:pic>
        <p:nvPicPr>
          <p:cNvPr id="4" name="Picture 2" descr="Diagrama de caso de uso | Treinamento WAEI/MSE">
            <a:extLst>
              <a:ext uri="{FF2B5EF4-FFF2-40B4-BE49-F238E27FC236}">
                <a16:creationId xmlns:a16="http://schemas.microsoft.com/office/drawing/2014/main" id="{E2658B71-523B-A086-FFAF-E35269CCCA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768" y="1598390"/>
            <a:ext cx="2823173" cy="5259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BFE78E7E-0FC5-6C5A-F64B-5EC30E51622B}"/>
              </a:ext>
            </a:extLst>
          </p:cNvPr>
          <p:cNvSpPr txBox="1"/>
          <p:nvPr/>
        </p:nvSpPr>
        <p:spPr>
          <a:xfrm>
            <a:off x="1306516" y="5400136"/>
            <a:ext cx="1069675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2000" b="1" dirty="0"/>
              <a:t>Aluno</a:t>
            </a:r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3BBB2A4A-96C1-FAF4-1521-B4F9EBBDB219}"/>
              </a:ext>
            </a:extLst>
          </p:cNvPr>
          <p:cNvCxnSpPr/>
          <p:nvPr/>
        </p:nvCxnSpPr>
        <p:spPr>
          <a:xfrm flipV="1">
            <a:off x="2376191" y="2553419"/>
            <a:ext cx="3110209" cy="5520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lipse 8">
            <a:extLst>
              <a:ext uri="{FF2B5EF4-FFF2-40B4-BE49-F238E27FC236}">
                <a16:creationId xmlns:a16="http://schemas.microsoft.com/office/drawing/2014/main" id="{7B456524-15B4-E30F-40B9-55C40FFB23D6}"/>
              </a:ext>
            </a:extLst>
          </p:cNvPr>
          <p:cNvSpPr/>
          <p:nvPr/>
        </p:nvSpPr>
        <p:spPr>
          <a:xfrm>
            <a:off x="5486400" y="1449238"/>
            <a:ext cx="4502989" cy="222561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dirty="0">
                <a:solidFill>
                  <a:schemeClr val="tx1"/>
                </a:solidFill>
              </a:rPr>
              <a:t>Emprestar o livro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395657E-7A4D-861A-FB9C-19D1C4EC3DAA}"/>
              </a:ext>
            </a:extLst>
          </p:cNvPr>
          <p:cNvSpPr txBox="1"/>
          <p:nvPr/>
        </p:nvSpPr>
        <p:spPr>
          <a:xfrm>
            <a:off x="4368894" y="4500821"/>
            <a:ext cx="6400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Associação (Comunicação):</a:t>
            </a:r>
            <a:r>
              <a:rPr lang="pt-BR" sz="2800" dirty="0"/>
              <a:t> Linha simples contínua conectando um ator a um caso de uso, indicando que o ator participa da funcionalidade.</a:t>
            </a:r>
          </a:p>
        </p:txBody>
      </p:sp>
    </p:spTree>
    <p:extLst>
      <p:ext uri="{BB962C8B-B14F-4D97-AF65-F5344CB8AC3E}">
        <p14:creationId xmlns:p14="http://schemas.microsoft.com/office/powerpoint/2010/main" val="7032645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CF01E-DAB8-2201-54E9-B53ED9E71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EFB430-381B-2FF7-67F6-EA083DA30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49" y="-19842"/>
            <a:ext cx="11045952" cy="1828800"/>
          </a:xfrm>
        </p:spPr>
        <p:txBody>
          <a:bodyPr/>
          <a:lstStyle/>
          <a:p>
            <a:r>
              <a:rPr lang="pt-BR" dirty="0"/>
              <a:t>Associações </a:t>
            </a:r>
            <a:r>
              <a:rPr lang="pt-BR" dirty="0" err="1"/>
              <a:t>Extend</a:t>
            </a:r>
            <a:endParaRPr lang="pt-BR" dirty="0"/>
          </a:p>
        </p:txBody>
      </p:sp>
      <p:pic>
        <p:nvPicPr>
          <p:cNvPr id="4" name="Picture 2" descr="Diagrama de caso de uso | Treinamento WAEI/MSE">
            <a:extLst>
              <a:ext uri="{FF2B5EF4-FFF2-40B4-BE49-F238E27FC236}">
                <a16:creationId xmlns:a16="http://schemas.microsoft.com/office/drawing/2014/main" id="{CE8FE3B0-E9F6-C907-2D7A-616D96ECB2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768" y="1598390"/>
            <a:ext cx="2823173" cy="5259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8B8E5BC4-1841-0AAE-EC50-62139C378989}"/>
              </a:ext>
            </a:extLst>
          </p:cNvPr>
          <p:cNvSpPr txBox="1"/>
          <p:nvPr/>
        </p:nvSpPr>
        <p:spPr>
          <a:xfrm>
            <a:off x="1306516" y="5400136"/>
            <a:ext cx="1069675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2000" b="1" dirty="0"/>
              <a:t>Aluno</a:t>
            </a:r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27DA3DB4-1010-422A-6A31-B66682391A09}"/>
              </a:ext>
            </a:extLst>
          </p:cNvPr>
          <p:cNvCxnSpPr>
            <a:cxnSpLocks/>
          </p:cNvCxnSpPr>
          <p:nvPr/>
        </p:nvCxnSpPr>
        <p:spPr>
          <a:xfrm flipV="1">
            <a:off x="2376191" y="2953529"/>
            <a:ext cx="1747235" cy="1519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lipse 8">
            <a:extLst>
              <a:ext uri="{FF2B5EF4-FFF2-40B4-BE49-F238E27FC236}">
                <a16:creationId xmlns:a16="http://schemas.microsoft.com/office/drawing/2014/main" id="{AECD950E-435A-C4A9-5E86-24BD951E4D05}"/>
              </a:ext>
            </a:extLst>
          </p:cNvPr>
          <p:cNvSpPr/>
          <p:nvPr/>
        </p:nvSpPr>
        <p:spPr>
          <a:xfrm>
            <a:off x="3597407" y="1846054"/>
            <a:ext cx="2975922" cy="201858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dirty="0">
                <a:solidFill>
                  <a:schemeClr val="tx1"/>
                </a:solidFill>
              </a:rPr>
              <a:t>Emprestar o livro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9F8F8A3-6AC1-B3CB-743F-AF6637CA3A56}"/>
              </a:ext>
            </a:extLst>
          </p:cNvPr>
          <p:cNvSpPr txBox="1"/>
          <p:nvPr/>
        </p:nvSpPr>
        <p:spPr>
          <a:xfrm>
            <a:off x="4368894" y="4500821"/>
            <a:ext cx="6400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err="1">
                <a:hlinkClick r:id="rId3"/>
              </a:rPr>
              <a:t>Extend</a:t>
            </a:r>
            <a:r>
              <a:rPr lang="pt-BR" b="1" dirty="0"/>
              <a:t> (Extensão):</a:t>
            </a:r>
            <a:r>
              <a:rPr lang="pt-BR" dirty="0"/>
              <a:t> Linha tracejada com seta (&lt;&lt;</a:t>
            </a:r>
            <a:r>
              <a:rPr lang="pt-BR" dirty="0" err="1"/>
              <a:t>extend</a:t>
            </a:r>
            <a:r>
              <a:rPr lang="pt-BR" dirty="0"/>
              <a:t>&gt;&gt;) apontando do caso de uso de extensão para o base. Indica que o comportamento do segundo caso de uso é </a:t>
            </a:r>
            <a:r>
              <a:rPr lang="pt-BR" i="1" dirty="0"/>
              <a:t>opcional</a:t>
            </a:r>
            <a:r>
              <a:rPr lang="pt-BR" dirty="0"/>
              <a:t> e executado sob condições específicas.</a:t>
            </a:r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79456AF1-166D-D5C9-A59A-C6BA7F9C6F7A}"/>
              </a:ext>
            </a:extLst>
          </p:cNvPr>
          <p:cNvCxnSpPr>
            <a:cxnSpLocks/>
          </p:cNvCxnSpPr>
          <p:nvPr/>
        </p:nvCxnSpPr>
        <p:spPr>
          <a:xfrm flipV="1">
            <a:off x="6573328" y="1846054"/>
            <a:ext cx="1759789" cy="887226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Elipse 11">
            <a:extLst>
              <a:ext uri="{FF2B5EF4-FFF2-40B4-BE49-F238E27FC236}">
                <a16:creationId xmlns:a16="http://schemas.microsoft.com/office/drawing/2014/main" id="{AAF9DD0C-EFE4-D053-1106-B6A949D697EC}"/>
              </a:ext>
            </a:extLst>
          </p:cNvPr>
          <p:cNvSpPr/>
          <p:nvPr/>
        </p:nvSpPr>
        <p:spPr>
          <a:xfrm>
            <a:off x="8333117" y="714700"/>
            <a:ext cx="2484407" cy="201858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dirty="0">
                <a:solidFill>
                  <a:schemeClr val="tx1"/>
                </a:solidFill>
              </a:rPr>
              <a:t>Verificar se tem reserva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E271EA7-004F-3FCF-03C5-F06E745CF8F4}"/>
              </a:ext>
            </a:extLst>
          </p:cNvPr>
          <p:cNvSpPr txBox="1"/>
          <p:nvPr/>
        </p:nvSpPr>
        <p:spPr>
          <a:xfrm>
            <a:off x="6917793" y="2357179"/>
            <a:ext cx="14153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&lt;&lt;</a:t>
            </a:r>
            <a:r>
              <a:rPr lang="pt-BR" dirty="0" err="1"/>
              <a:t>extend</a:t>
            </a:r>
            <a:r>
              <a:rPr lang="pt-BR" dirty="0"/>
              <a:t>&gt;&gt;) </a:t>
            </a:r>
          </a:p>
        </p:txBody>
      </p: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D5C5DF32-429E-7F8C-8A75-69410327D74F}"/>
              </a:ext>
            </a:extLst>
          </p:cNvPr>
          <p:cNvCxnSpPr/>
          <p:nvPr/>
        </p:nvCxnSpPr>
        <p:spPr>
          <a:xfrm flipV="1">
            <a:off x="6573328" y="1846054"/>
            <a:ext cx="1759789" cy="887226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Tinta 15">
                <a:extLst>
                  <a:ext uri="{FF2B5EF4-FFF2-40B4-BE49-F238E27FC236}">
                    <a16:creationId xmlns:a16="http://schemas.microsoft.com/office/drawing/2014/main" id="{A67BDB34-512D-5B62-7DEC-49CA652BCA24}"/>
                  </a:ext>
                </a:extLst>
              </p14:cNvPr>
              <p14:cNvContentPartPr/>
              <p14:nvPr/>
            </p14:nvContentPartPr>
            <p14:xfrm>
              <a:off x="8298829" y="1897730"/>
              <a:ext cx="360" cy="360"/>
            </p14:xfrm>
          </p:contentPart>
        </mc:Choice>
        <mc:Fallback xmlns="">
          <p:pic>
            <p:nvPicPr>
              <p:cNvPr id="16" name="Tinta 15">
                <a:extLst>
                  <a:ext uri="{FF2B5EF4-FFF2-40B4-BE49-F238E27FC236}">
                    <a16:creationId xmlns:a16="http://schemas.microsoft.com/office/drawing/2014/main" id="{A67BDB34-512D-5B62-7DEC-49CA652BCA2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292709" y="189161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7" name="Tinta 26">
                <a:extLst>
                  <a:ext uri="{FF2B5EF4-FFF2-40B4-BE49-F238E27FC236}">
                    <a16:creationId xmlns:a16="http://schemas.microsoft.com/office/drawing/2014/main" id="{DFFF9CFE-F442-DB26-11AE-0F7E36B21EDD}"/>
                  </a:ext>
                </a:extLst>
              </p14:cNvPr>
              <p14:cNvContentPartPr/>
              <p14:nvPr/>
            </p14:nvContentPartPr>
            <p14:xfrm>
              <a:off x="6745429" y="2519090"/>
              <a:ext cx="360" cy="360"/>
            </p14:xfrm>
          </p:contentPart>
        </mc:Choice>
        <mc:Fallback xmlns="">
          <p:pic>
            <p:nvPicPr>
              <p:cNvPr id="27" name="Tinta 26">
                <a:extLst>
                  <a:ext uri="{FF2B5EF4-FFF2-40B4-BE49-F238E27FC236}">
                    <a16:creationId xmlns:a16="http://schemas.microsoft.com/office/drawing/2014/main" id="{DFFF9CFE-F442-DB26-11AE-0F7E36B21ED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739309" y="251297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9" name="Tinta 28">
                <a:extLst>
                  <a:ext uri="{FF2B5EF4-FFF2-40B4-BE49-F238E27FC236}">
                    <a16:creationId xmlns:a16="http://schemas.microsoft.com/office/drawing/2014/main" id="{58D9C9F0-039C-1682-2C5A-BD9901631152}"/>
                  </a:ext>
                </a:extLst>
              </p14:cNvPr>
              <p14:cNvContentPartPr/>
              <p14:nvPr/>
            </p14:nvContentPartPr>
            <p14:xfrm>
              <a:off x="6866749" y="2846330"/>
              <a:ext cx="360" cy="360"/>
            </p14:xfrm>
          </p:contentPart>
        </mc:Choice>
        <mc:Fallback xmlns="">
          <p:pic>
            <p:nvPicPr>
              <p:cNvPr id="29" name="Tinta 28">
                <a:extLst>
                  <a:ext uri="{FF2B5EF4-FFF2-40B4-BE49-F238E27FC236}">
                    <a16:creationId xmlns:a16="http://schemas.microsoft.com/office/drawing/2014/main" id="{58D9C9F0-039C-1682-2C5A-BD990163115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860629" y="2840210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889942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F52B6-1D35-4406-914D-3C9AC86BB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E7081F-6CA3-05AD-AFE6-B3F5DA92D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995" y="-6205"/>
            <a:ext cx="11045952" cy="1828800"/>
          </a:xfrm>
        </p:spPr>
        <p:txBody>
          <a:bodyPr/>
          <a:lstStyle/>
          <a:p>
            <a:r>
              <a:rPr lang="pt-BR" dirty="0"/>
              <a:t>Associações Include</a:t>
            </a:r>
          </a:p>
        </p:txBody>
      </p:sp>
      <p:pic>
        <p:nvPicPr>
          <p:cNvPr id="4" name="Picture 2" descr="Diagrama de caso de uso | Treinamento WAEI/MSE">
            <a:extLst>
              <a:ext uri="{FF2B5EF4-FFF2-40B4-BE49-F238E27FC236}">
                <a16:creationId xmlns:a16="http://schemas.microsoft.com/office/drawing/2014/main" id="{7AB8CA7F-53E3-1B3D-B211-8572432E1B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768" y="1598390"/>
            <a:ext cx="2823173" cy="5259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1E4B55BD-284B-C231-4C09-CB3249ABC051}"/>
              </a:ext>
            </a:extLst>
          </p:cNvPr>
          <p:cNvSpPr txBox="1"/>
          <p:nvPr/>
        </p:nvSpPr>
        <p:spPr>
          <a:xfrm>
            <a:off x="3575263" y="1598390"/>
            <a:ext cx="830774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Um caso de uso </a:t>
            </a:r>
            <a:r>
              <a:rPr lang="pt-BR" sz="2800" b="1" dirty="0"/>
              <a:t>sempre precisa executar outro caso de uso</a:t>
            </a:r>
            <a:r>
              <a:rPr lang="pt-BR" sz="2800" dirty="0"/>
              <a:t> como parte do seu comportamento.</a:t>
            </a:r>
          </a:p>
          <a:p>
            <a:endParaRPr lang="pt-BR" sz="2800" dirty="0"/>
          </a:p>
          <a:p>
            <a:r>
              <a:rPr lang="pt-BR" sz="2800" dirty="0"/>
              <a:t>Ou seja: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O caso de uso principal </a:t>
            </a:r>
            <a:r>
              <a:rPr lang="pt-BR" sz="2800" b="1" dirty="0"/>
              <a:t>depende obrigatoriamente</a:t>
            </a:r>
            <a:r>
              <a:rPr lang="pt-BR" sz="2800" dirty="0"/>
              <a:t> do outro.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Sempre que o primeiro acontece, o segundo também acontece.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Serve para </a:t>
            </a:r>
            <a:r>
              <a:rPr lang="pt-BR" sz="2800" b="1" dirty="0"/>
              <a:t>evitar repetição de comportamento</a:t>
            </a:r>
            <a:r>
              <a:rPr lang="pt-BR" sz="2800" dirty="0"/>
              <a:t> no sistema.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D4421FA8-54DB-F3E3-19A9-DE5500768618}"/>
              </a:ext>
            </a:extLst>
          </p:cNvPr>
          <p:cNvSpPr txBox="1"/>
          <p:nvPr/>
        </p:nvSpPr>
        <p:spPr>
          <a:xfrm>
            <a:off x="3252941" y="6123831"/>
            <a:ext cx="8939059" cy="523220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pt-BR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Realizar Compra -------- «include» --------&gt; Validar Pagamento</a:t>
            </a:r>
            <a:endParaRPr lang="pt-BR" sz="28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630684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9F5D8-9A35-3008-7E92-64F2BE685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E16887-7C6B-3CE3-9C4E-A5D081B14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995" y="-6205"/>
            <a:ext cx="11045952" cy="1828800"/>
          </a:xfrm>
        </p:spPr>
        <p:txBody>
          <a:bodyPr/>
          <a:lstStyle/>
          <a:p>
            <a:r>
              <a:rPr lang="pt-BR" dirty="0"/>
              <a:t>Associações Include</a:t>
            </a:r>
          </a:p>
        </p:txBody>
      </p:sp>
      <p:pic>
        <p:nvPicPr>
          <p:cNvPr id="4" name="Picture 2" descr="Diagrama de caso de uso | Treinamento WAEI/MSE">
            <a:extLst>
              <a:ext uri="{FF2B5EF4-FFF2-40B4-BE49-F238E27FC236}">
                <a16:creationId xmlns:a16="http://schemas.microsoft.com/office/drawing/2014/main" id="{4D746BCE-E040-6870-7374-D94BBC92D4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768" y="1598390"/>
            <a:ext cx="2823173" cy="5259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861F2134-8D7A-45D9-15CA-B245DC072011}"/>
              </a:ext>
            </a:extLst>
          </p:cNvPr>
          <p:cNvSpPr txBox="1"/>
          <p:nvPr/>
        </p:nvSpPr>
        <p:spPr>
          <a:xfrm>
            <a:off x="3575263" y="1598390"/>
            <a:ext cx="8307742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800" b="1" dirty="0"/>
              <a:t>Regra importante</a:t>
            </a:r>
          </a:p>
          <a:p>
            <a:pPr algn="ctr"/>
            <a:r>
              <a:rPr lang="pt-BR" sz="2800" dirty="0"/>
              <a:t>A relação é representada por:</a:t>
            </a:r>
          </a:p>
          <a:p>
            <a:pPr algn="ctr"/>
            <a:r>
              <a:rPr lang="pt-BR" sz="2800" dirty="0"/>
              <a:t>Seta tracejada</a:t>
            </a:r>
          </a:p>
          <a:p>
            <a:pPr algn="ctr"/>
            <a:r>
              <a:rPr lang="pt-BR" sz="2800" dirty="0"/>
              <a:t>Com a palavra </a:t>
            </a:r>
            <a:r>
              <a:rPr lang="pt-BR" sz="2800" b="1" dirty="0"/>
              <a:t>«include»</a:t>
            </a:r>
            <a:endParaRPr lang="pt-BR" sz="2800" dirty="0"/>
          </a:p>
          <a:p>
            <a:pPr algn="ctr"/>
            <a:r>
              <a:rPr lang="pt-BR" sz="2800" dirty="0"/>
              <a:t>Apontando para o caso de uso incluído</a:t>
            </a:r>
          </a:p>
          <a:p>
            <a:pPr algn="ctr"/>
            <a:endParaRPr lang="pt-BR" sz="2800" dirty="0"/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A9555BEA-9136-A66A-ECC8-A54FAD8A51BC}"/>
              </a:ext>
            </a:extLst>
          </p:cNvPr>
          <p:cNvSpPr txBox="1"/>
          <p:nvPr/>
        </p:nvSpPr>
        <p:spPr>
          <a:xfrm>
            <a:off x="3252941" y="6123831"/>
            <a:ext cx="8939059" cy="523220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pt-BR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Realizar Compra -------- «include» --------&gt; Validar Pagamento</a:t>
            </a:r>
            <a:endParaRPr lang="pt-BR" sz="28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585418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5BE46-E030-6C35-D45C-CDDBA50C0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F0B54A-E2E7-72CC-2845-98BE33263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995" y="-6205"/>
            <a:ext cx="11045952" cy="1828800"/>
          </a:xfrm>
        </p:spPr>
        <p:txBody>
          <a:bodyPr/>
          <a:lstStyle/>
          <a:p>
            <a:r>
              <a:rPr lang="pt-BR" dirty="0"/>
              <a:t>Associações Include</a:t>
            </a:r>
          </a:p>
        </p:txBody>
      </p:sp>
      <p:pic>
        <p:nvPicPr>
          <p:cNvPr id="4" name="Picture 2" descr="Diagrama de caso de uso | Treinamento WAEI/MSE">
            <a:extLst>
              <a:ext uri="{FF2B5EF4-FFF2-40B4-BE49-F238E27FC236}">
                <a16:creationId xmlns:a16="http://schemas.microsoft.com/office/drawing/2014/main" id="{BA856FC9-31BA-E277-8674-C84A0361E8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83" y="1125830"/>
            <a:ext cx="2479177" cy="5732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EACC6155-76E3-95F0-9CE4-E16D3136659B}"/>
              </a:ext>
            </a:extLst>
          </p:cNvPr>
          <p:cNvSpPr txBox="1"/>
          <p:nvPr/>
        </p:nvSpPr>
        <p:spPr>
          <a:xfrm>
            <a:off x="2622430" y="908195"/>
            <a:ext cx="9139802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800" b="1" dirty="0"/>
              <a:t>Exercício</a:t>
            </a:r>
          </a:p>
          <a:p>
            <a:r>
              <a:rPr lang="pt-BR" sz="2800" dirty="0"/>
              <a:t>Uma academia deseja desenvolver um </a:t>
            </a:r>
            <a:r>
              <a:rPr lang="pt-BR" sz="2800" b="1" dirty="0"/>
              <a:t>Sistema de Gerenciamento de Alunos</a:t>
            </a:r>
            <a:r>
              <a:rPr lang="pt-BR" sz="2800" dirty="0"/>
              <a:t> com as seguintes funcionalidades:</a:t>
            </a:r>
          </a:p>
          <a:p>
            <a:r>
              <a:rPr lang="pt-BR" sz="2800" dirty="0"/>
              <a:t>O aluno pode </a:t>
            </a:r>
            <a:r>
              <a:rPr lang="pt-BR" sz="2800" b="1" dirty="0"/>
              <a:t>Realizar Matrícula</a:t>
            </a:r>
            <a:r>
              <a:rPr lang="pt-BR" sz="2800" dirty="0"/>
              <a:t>.</a:t>
            </a:r>
          </a:p>
          <a:p>
            <a:r>
              <a:rPr lang="pt-BR" sz="2800" dirty="0"/>
              <a:t>O aluno pode </a:t>
            </a:r>
            <a:r>
              <a:rPr lang="pt-BR" sz="2800" b="1" dirty="0"/>
              <a:t>Renovar Matrícula</a:t>
            </a:r>
            <a:r>
              <a:rPr lang="pt-BR" sz="2800" dirty="0"/>
              <a:t>.</a:t>
            </a:r>
          </a:p>
          <a:p>
            <a:r>
              <a:rPr lang="pt-BR" sz="2800" dirty="0"/>
              <a:t>O aluno pode </a:t>
            </a:r>
            <a:r>
              <a:rPr lang="pt-BR" sz="2800" b="1" dirty="0"/>
              <a:t>Emitir Boleto de Pagamento</a:t>
            </a:r>
            <a:r>
              <a:rPr lang="pt-BR" sz="2800" dirty="0"/>
              <a:t>.</a:t>
            </a:r>
          </a:p>
          <a:p>
            <a:r>
              <a:rPr lang="pt-BR" sz="2800" dirty="0"/>
              <a:t>Antes de qualquer operação financeira, o sistema precisa </a:t>
            </a:r>
            <a:r>
              <a:rPr lang="pt-BR" sz="2800" b="1" dirty="0"/>
              <a:t>Validar Dados do Aluno</a:t>
            </a:r>
            <a:r>
              <a:rPr lang="pt-BR" sz="2800" dirty="0"/>
              <a:t>.</a:t>
            </a:r>
          </a:p>
          <a:p>
            <a:r>
              <a:rPr lang="pt-BR" sz="2800" dirty="0"/>
              <a:t>O pagamento deve ser registrado no sistema.</a:t>
            </a:r>
          </a:p>
          <a:p>
            <a:pPr algn="ctr"/>
            <a:endParaRPr lang="pt-BR" sz="2800" dirty="0"/>
          </a:p>
          <a:p>
            <a:pPr algn="ctr"/>
            <a:endParaRPr lang="pt-BR" sz="2800" dirty="0"/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CF3C8CAA-351B-A5AE-5FEC-6AC95DAFAA02}"/>
              </a:ext>
            </a:extLst>
          </p:cNvPr>
          <p:cNvSpPr txBox="1"/>
          <p:nvPr/>
        </p:nvSpPr>
        <p:spPr>
          <a:xfrm>
            <a:off x="2501660" y="6258089"/>
            <a:ext cx="8939059" cy="523220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pt-BR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Realizar Compra -------- «include» --------&gt; Validar Pagamento</a:t>
            </a:r>
            <a:endParaRPr lang="pt-BR" sz="28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165906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C63D9400-8998-4125-8A52-5613F049A9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350" y="90586"/>
            <a:ext cx="9575515" cy="6767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3788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A45ECD-8429-50AC-ABC4-63739FF04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sz="5300" b="1" dirty="0"/>
              <a:t>Relações «include»:</a:t>
            </a:r>
            <a:br>
              <a:rPr lang="pt-BR" sz="5300" b="1" dirty="0"/>
            </a:br>
            <a:r>
              <a:rPr lang="pt-BR" sz="5300" dirty="0"/>
              <a:t>Realizar Matrícula -------- «include» --------&gt; Validar Dados do Aluno</a:t>
            </a:r>
            <a:br>
              <a:rPr lang="pt-BR" sz="5300" dirty="0"/>
            </a:br>
            <a:br>
              <a:rPr lang="pt-BR" sz="5300" dirty="0"/>
            </a:br>
            <a:r>
              <a:rPr lang="pt-BR" sz="5300" dirty="0"/>
              <a:t>Renovar Matrícula -------- «include» --------&gt; Validar Dados do Aluno</a:t>
            </a:r>
            <a:br>
              <a:rPr lang="pt-BR" sz="5300" dirty="0"/>
            </a:br>
            <a:br>
              <a:rPr lang="pt-BR" sz="5300" dirty="0"/>
            </a:br>
            <a:r>
              <a:rPr lang="pt-BR" sz="5300" dirty="0"/>
              <a:t>Emitir Boleto -------- «include» --------&gt; Validar Dados do Aluno</a:t>
            </a:r>
            <a:br>
              <a:rPr lang="pt-BR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878755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44D9FA-57A3-8FB6-00B0-F983A88DF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111377-F445-3499-773A-E77BDCDFA23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pt-BR" sz="3600"/>
              <a:t>Pense em com  fazer o diagrama para o sistema da biblioteca da Fatec.</a:t>
            </a:r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26346299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C350A6-3E9F-BC11-94D2-B36F609C8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0616774" cy="738894"/>
          </a:xfrm>
        </p:spPr>
        <p:txBody>
          <a:bodyPr>
            <a:noAutofit/>
          </a:bodyPr>
          <a:lstStyle/>
          <a:p>
            <a:r>
              <a:rPr lang="pt-BR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ESPECIFICAÇÃO</a:t>
            </a:r>
            <a:r>
              <a:rPr lang="pt-BR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/GENERALIZAÇÃO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9456378-F914-19F2-2F39-DE0523D6D341}"/>
              </a:ext>
            </a:extLst>
          </p:cNvPr>
          <p:cNvSpPr txBox="1"/>
          <p:nvPr/>
        </p:nvSpPr>
        <p:spPr>
          <a:xfrm>
            <a:off x="276045" y="1325880"/>
            <a:ext cx="707048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É uma forma de associação entre Caso de Uso, na qual existem dois ou mais Casos de Uso com características semelhantes, apresentando apenas diferenças entre eles.</a:t>
            </a:r>
          </a:p>
          <a:p>
            <a:endParaRPr lang="pt-BR" dirty="0"/>
          </a:p>
          <a:p>
            <a:r>
              <a:rPr lang="pt-BR" b="1" dirty="0"/>
              <a:t>Relacionamentos UML em Diagramas de Casos de Uso</a:t>
            </a:r>
          </a:p>
          <a:p>
            <a:r>
              <a:rPr lang="pt-BR" dirty="0"/>
              <a:t>Os relacionamentos UML, como a generalização, são utilizados para   indicar   que   um   filho   recebe   todos   os   atributos,      operações  e relacionamentos definidos no pai. Esses </a:t>
            </a:r>
            <a:r>
              <a:rPr lang="pt-BR" dirty="0" err="1"/>
              <a:t>relaciona-mentos</a:t>
            </a:r>
            <a:r>
              <a:rPr lang="pt-BR" dirty="0"/>
              <a:t> são </a:t>
            </a:r>
          </a:p>
          <a:p>
            <a:r>
              <a:rPr lang="pt-BR" dirty="0"/>
              <a:t>Fundamentais para a modelagem de sistemas, permitindo a  reutilização de funcionalidades e a definição de hierarquias de   casos de uso.</a:t>
            </a:r>
          </a:p>
          <a:p>
            <a:r>
              <a:rPr lang="pt-BR" dirty="0"/>
              <a:t>&lt;&lt; </a:t>
            </a:r>
            <a:r>
              <a:rPr lang="pt-BR" dirty="0">
                <a:hlinkClick r:id="rId2"/>
              </a:rPr>
              <a:t>projua02c.pdf</a:t>
            </a:r>
            <a:r>
              <a:rPr lang="pt-BR" dirty="0"/>
              <a:t> acesso em 01/03/2026&gt;&gt;</a:t>
            </a:r>
          </a:p>
          <a:p>
            <a:endParaRPr lang="pt-BR" dirty="0"/>
          </a:p>
          <a:p>
            <a:endParaRPr lang="pt-BR" dirty="0"/>
          </a:p>
        </p:txBody>
      </p:sp>
      <p:pic>
        <p:nvPicPr>
          <p:cNvPr id="7" name="Imagem 6" descr="Diagrama&#10;&#10;O conteúdo gerado por IA pode estar incorreto.">
            <a:extLst>
              <a:ext uri="{FF2B5EF4-FFF2-40B4-BE49-F238E27FC236}">
                <a16:creationId xmlns:a16="http://schemas.microsoft.com/office/drawing/2014/main" id="{DB086D61-BA20-7887-1AA1-6072B2F53B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6526" y="1325880"/>
            <a:ext cx="4845473" cy="3139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3199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8E18B-AC91-7645-0668-704B014A0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E4CD8D-3515-032E-9648-4DB7F193A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765810"/>
          </a:xfrm>
        </p:spPr>
        <p:txBody>
          <a:bodyPr>
            <a:noAutofit/>
          </a:bodyPr>
          <a:lstStyle/>
          <a:p>
            <a:pPr algn="r"/>
            <a:r>
              <a:rPr lang="pt-BR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ESPECIFICAÇÃO/GENERALIZAÇÃO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17641B4-E757-36A3-56AE-FA36D0DE6A29}"/>
              </a:ext>
            </a:extLst>
          </p:cNvPr>
          <p:cNvSpPr txBox="1"/>
          <p:nvPr/>
        </p:nvSpPr>
        <p:spPr>
          <a:xfrm>
            <a:off x="276046" y="1325880"/>
            <a:ext cx="664234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pt-BR" dirty="0"/>
          </a:p>
          <a:p>
            <a:pPr algn="just"/>
            <a:r>
              <a:rPr lang="pt-BR" dirty="0"/>
              <a:t>A associação de especificação/generalização é representada por uma seta mais grossa, que o Caso de Uso Geral (para qual a seta aponta)e quais os Casos de Uso Especializados (os que se encontram na outra extremidade)</a:t>
            </a:r>
          </a:p>
          <a:p>
            <a:pPr algn="just"/>
            <a:endParaRPr lang="pt-BR" dirty="0"/>
          </a:p>
          <a:p>
            <a:pPr algn="just"/>
            <a:endParaRPr lang="pt-BR" dirty="0"/>
          </a:p>
          <a:p>
            <a:pPr algn="just"/>
            <a:r>
              <a:rPr lang="pt-BR" dirty="0"/>
              <a:t>O relacionamento de Especificação/Generalização também pode ser aplicado entre Atores.</a:t>
            </a:r>
          </a:p>
          <a:p>
            <a:pPr algn="just"/>
            <a:endParaRPr lang="pt-BR" dirty="0"/>
          </a:p>
        </p:txBody>
      </p:sp>
      <p:pic>
        <p:nvPicPr>
          <p:cNvPr id="7" name="Imagem 6" descr="Diagrama&#10;&#10;O conteúdo gerado por IA pode estar incorreto.">
            <a:extLst>
              <a:ext uri="{FF2B5EF4-FFF2-40B4-BE49-F238E27FC236}">
                <a16:creationId xmlns:a16="http://schemas.microsoft.com/office/drawing/2014/main" id="{3D76F49A-A3DF-7697-580F-D56FFFF98C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4211" y="1577196"/>
            <a:ext cx="2858219" cy="1851804"/>
          </a:xfrm>
          <a:prstGeom prst="rect">
            <a:avLst/>
          </a:prstGeom>
        </p:spPr>
      </p:pic>
      <p:pic>
        <p:nvPicPr>
          <p:cNvPr id="5" name="Imagem 4" descr="Diagrama&#10;&#10;O conteúdo gerado por IA pode estar incorreto.">
            <a:extLst>
              <a:ext uri="{FF2B5EF4-FFF2-40B4-BE49-F238E27FC236}">
                <a16:creationId xmlns:a16="http://schemas.microsoft.com/office/drawing/2014/main" id="{56A83A1A-CD03-4084-2846-4236914787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2261" y="3457100"/>
            <a:ext cx="3829584" cy="340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9389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0C8604-4B02-4048-A58F-AEF93C723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834390"/>
          </a:xfrm>
        </p:spPr>
        <p:txBody>
          <a:bodyPr>
            <a:normAutofit/>
          </a:bodyPr>
          <a:lstStyle/>
          <a:p>
            <a:r>
              <a:rPr lang="pt-BR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Resumo Geral – Para Memorizar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463121A-12BC-4A6D-A13C-8591D737B87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4390" y="2423160"/>
            <a:ext cx="10650474" cy="3886200"/>
          </a:xfrm>
        </p:spPr>
        <p:txBody>
          <a:bodyPr/>
          <a:lstStyle/>
          <a:p>
            <a:r>
              <a:rPr lang="pt-BR" b="1" dirty="0"/>
              <a:t>Generalização:</a:t>
            </a:r>
          </a:p>
          <a:p>
            <a:pPr marL="457200" lvl="2" indent="0">
              <a:buNone/>
            </a:pPr>
            <a:r>
              <a:rPr lang="pt-BR" b="1" dirty="0">
                <a:highlight>
                  <a:srgbClr val="FFFF00"/>
                </a:highlight>
              </a:rPr>
              <a:t>“ X é um tipo de Y”</a:t>
            </a:r>
          </a:p>
          <a:p>
            <a:pPr marL="457200" lvl="2" indent="0">
              <a:buNone/>
            </a:pPr>
            <a:endParaRPr lang="pt-BR" b="1" dirty="0"/>
          </a:p>
          <a:p>
            <a:pPr marL="457200" lvl="2" indent="0">
              <a:buNone/>
            </a:pPr>
            <a:endParaRPr lang="pt-BR" b="1" dirty="0"/>
          </a:p>
          <a:p>
            <a:r>
              <a:rPr lang="pt-BR" b="1" dirty="0"/>
              <a:t>&lt;&lt;include&gt;&gt;</a:t>
            </a:r>
          </a:p>
          <a:p>
            <a:pPr marL="228600" lvl="1" indent="0">
              <a:buNone/>
            </a:pPr>
            <a:r>
              <a:rPr lang="pt-BR" b="1" dirty="0"/>
              <a:t>    </a:t>
            </a:r>
            <a:r>
              <a:rPr lang="pt-BR" b="1" dirty="0">
                <a:highlight>
                  <a:srgbClr val="FFFF00"/>
                </a:highlight>
              </a:rPr>
              <a:t>“X sempre precisa Executar Y”</a:t>
            </a:r>
          </a:p>
          <a:p>
            <a:pPr marL="228600" lvl="1" indent="0">
              <a:buNone/>
            </a:pPr>
            <a:endParaRPr lang="pt-BR" b="1" dirty="0"/>
          </a:p>
          <a:p>
            <a:r>
              <a:rPr lang="pt-BR" b="1" dirty="0"/>
              <a:t>&lt;&lt;</a:t>
            </a:r>
            <a:r>
              <a:rPr lang="pt-BR" b="1" dirty="0" err="1"/>
              <a:t>extend</a:t>
            </a:r>
            <a:r>
              <a:rPr lang="pt-BR" b="1" dirty="0"/>
              <a:t>&gt;&gt;</a:t>
            </a:r>
          </a:p>
          <a:p>
            <a:pPr marL="228600" lvl="1" indent="0">
              <a:buNone/>
            </a:pPr>
            <a:r>
              <a:rPr lang="pt-BR" b="1" dirty="0"/>
              <a:t>    </a:t>
            </a:r>
            <a:r>
              <a:rPr lang="pt-BR" b="1" dirty="0">
                <a:highlight>
                  <a:srgbClr val="FFFF00"/>
                </a:highlight>
              </a:rPr>
              <a:t>“ X pode adicionar comportamento a Y em determinada situação”</a:t>
            </a:r>
          </a:p>
        </p:txBody>
      </p:sp>
    </p:spTree>
    <p:extLst>
      <p:ext uri="{BB962C8B-B14F-4D97-AF65-F5344CB8AC3E}">
        <p14:creationId xmlns:p14="http://schemas.microsoft.com/office/powerpoint/2010/main" val="18428605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217C872-44BF-4CDE-9567-9A287732328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6896" y="468630"/>
            <a:ext cx="3045104" cy="6195060"/>
          </a:xfrm>
        </p:spPr>
        <p:txBody>
          <a:bodyPr/>
          <a:lstStyle/>
          <a:p>
            <a:endParaRPr lang="pt-BR" dirty="0"/>
          </a:p>
          <a:p>
            <a:pPr marL="0" indent="0" algn="ctr">
              <a:buNone/>
            </a:pPr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Exercício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Faça uma análise do diagrama ao lado</a:t>
            </a:r>
          </a:p>
        </p:txBody>
      </p:sp>
      <p:pic>
        <p:nvPicPr>
          <p:cNvPr id="4" name="Imagem 3" descr="Diagrama&#10;&#10;O conteúdo gerado por IA pode estar incorreto.">
            <a:extLst>
              <a:ext uri="{FF2B5EF4-FFF2-40B4-BE49-F238E27FC236}">
                <a16:creationId xmlns:a16="http://schemas.microsoft.com/office/drawing/2014/main" id="{3C3BAB7C-4DC9-404B-8392-35AB7FC99D8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76" r="2187"/>
          <a:stretch/>
        </p:blipFill>
        <p:spPr>
          <a:xfrm>
            <a:off x="308610" y="468630"/>
            <a:ext cx="8838286" cy="6195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3719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DADB4E-B218-2879-0760-0256F2097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1825717" cy="1181100"/>
          </a:xfrm>
        </p:spPr>
        <p:txBody>
          <a:bodyPr>
            <a:normAutofit fontScale="90000"/>
          </a:bodyPr>
          <a:lstStyle/>
          <a:p>
            <a:pPr algn="ctr"/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Diagrama de Caso e Uso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E6CF759-FAAF-C1A1-D132-7A32EA8F46F6}"/>
              </a:ext>
            </a:extLst>
          </p:cNvPr>
          <p:cNvSpPr txBox="1"/>
          <p:nvPr/>
        </p:nvSpPr>
        <p:spPr>
          <a:xfrm>
            <a:off x="8743950" y="1371600"/>
            <a:ext cx="33361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Vamos Documentar agora o Caso </a:t>
            </a:r>
          </a:p>
          <a:p>
            <a:r>
              <a:rPr lang="pt-BR" dirty="0"/>
              <a:t>De Uso de Vender CDs:</a:t>
            </a:r>
          </a:p>
        </p:txBody>
      </p:sp>
      <p:pic>
        <p:nvPicPr>
          <p:cNvPr id="8" name="Imagem 7" descr="Diagrama&#10;&#10;O conteúdo gerado por IA pode estar incorreto.">
            <a:extLst>
              <a:ext uri="{FF2B5EF4-FFF2-40B4-BE49-F238E27FC236}">
                <a16:creationId xmlns:a16="http://schemas.microsoft.com/office/drawing/2014/main" id="{8024453B-096B-304C-4CF0-684BB027FE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299" y="1086218"/>
            <a:ext cx="8387708" cy="5587484"/>
          </a:xfrm>
          <a:prstGeom prst="rect">
            <a:avLst/>
          </a:prstGeom>
        </p:spPr>
      </p:pic>
      <p:pic>
        <p:nvPicPr>
          <p:cNvPr id="10" name="Imagem 9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786B73E0-8F28-4185-2DB8-EC39A6942E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0186" y="1995964"/>
            <a:ext cx="3271813" cy="4011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0121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F3662F-E370-4744-054B-1987783A4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733282" cy="312420"/>
          </a:xfrm>
        </p:spPr>
        <p:txBody>
          <a:bodyPr>
            <a:noAutofit/>
          </a:bodyPr>
          <a:lstStyle/>
          <a:p>
            <a:r>
              <a:rPr lang="pt-BR" sz="3200" b="1" dirty="0"/>
              <a:t>Documentação - Atendente</a:t>
            </a:r>
          </a:p>
        </p:txBody>
      </p:sp>
      <p:pic>
        <p:nvPicPr>
          <p:cNvPr id="4" name="Espaço Reservado para Conteúdo 3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37D61A04-581D-BD8F-099C-466AA83CE877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676106" y="0"/>
            <a:ext cx="2905530" cy="3562847"/>
          </a:xfrm>
          <a:prstGeom prst="rect">
            <a:avLst/>
          </a:prstGeom>
        </p:spPr>
      </p:pic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E78E09D3-1A58-8CE4-B056-9B38DCB49A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5515447"/>
              </p:ext>
            </p:extLst>
          </p:nvPr>
        </p:nvGraphicFramePr>
        <p:xfrm>
          <a:off x="0" y="514351"/>
          <a:ext cx="10439400" cy="65719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7657">
                  <a:extLst>
                    <a:ext uri="{9D8B030D-6E8A-4147-A177-3AD203B41FA5}">
                      <a16:colId xmlns:a16="http://schemas.microsoft.com/office/drawing/2014/main" val="2208072112"/>
                    </a:ext>
                  </a:extLst>
                </a:gridCol>
                <a:gridCol w="7191743">
                  <a:extLst>
                    <a:ext uri="{9D8B030D-6E8A-4147-A177-3AD203B41FA5}">
                      <a16:colId xmlns:a16="http://schemas.microsoft.com/office/drawing/2014/main" val="244700322"/>
                    </a:ext>
                  </a:extLst>
                </a:gridCol>
              </a:tblGrid>
              <a:tr h="417491">
                <a:tc>
                  <a:txBody>
                    <a:bodyPr/>
                    <a:lstStyle/>
                    <a:p>
                      <a:r>
                        <a:rPr lang="pt-BR" dirty="0"/>
                        <a:t>Nome de Caso de Uso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Vendas de </a:t>
                      </a:r>
                      <a:r>
                        <a:rPr lang="pt-BR" dirty="0" err="1"/>
                        <a:t>Cd´s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442248"/>
                  </a:ext>
                </a:extLst>
              </a:tr>
              <a:tr h="417491">
                <a:tc>
                  <a:txBody>
                    <a:bodyPr/>
                    <a:lstStyle/>
                    <a:p>
                      <a:r>
                        <a:rPr lang="pt-BR" dirty="0"/>
                        <a:t>Caso de Uso Geral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618077"/>
                  </a:ext>
                </a:extLst>
              </a:tr>
              <a:tr h="417491">
                <a:tc>
                  <a:txBody>
                    <a:bodyPr/>
                    <a:lstStyle/>
                    <a:p>
                      <a:r>
                        <a:rPr lang="pt-BR" dirty="0"/>
                        <a:t>Ator Principal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Atendente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0971302"/>
                  </a:ext>
                </a:extLst>
              </a:tr>
              <a:tr h="417491">
                <a:tc>
                  <a:txBody>
                    <a:bodyPr/>
                    <a:lstStyle/>
                    <a:p>
                      <a:r>
                        <a:rPr lang="pt-BR" dirty="0"/>
                        <a:t>Ator Secundários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Gerente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563546"/>
                  </a:ext>
                </a:extLst>
              </a:tr>
              <a:tr h="720601">
                <a:tc>
                  <a:txBody>
                    <a:bodyPr/>
                    <a:lstStyle/>
                    <a:p>
                      <a:r>
                        <a:rPr lang="pt-BR" dirty="0"/>
                        <a:t>Resumo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O atendente loga no sistema e pode efetuar a venda a vista ou a prazo, já o Gerente loga no sistema e controla o estoque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3238455"/>
                  </a:ext>
                </a:extLst>
              </a:tr>
              <a:tr h="647472">
                <a:tc>
                  <a:txBody>
                    <a:bodyPr/>
                    <a:lstStyle/>
                    <a:p>
                      <a:r>
                        <a:rPr lang="pt-BR" dirty="0"/>
                        <a:t>Pré-condições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O Atendente estar cadastrado no sistema (validar a senha),  ter o produto no estoque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3710583"/>
                  </a:ext>
                </a:extLst>
              </a:tr>
              <a:tr h="417491">
                <a:tc>
                  <a:txBody>
                    <a:bodyPr/>
                    <a:lstStyle/>
                    <a:p>
                      <a:r>
                        <a:rPr lang="pt-BR" dirty="0"/>
                        <a:t>Pós-condições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Escolher a forma de pagamento, e ofertar o desconto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4343395"/>
                  </a:ext>
                </a:extLst>
              </a:tr>
              <a:tr h="417491">
                <a:tc>
                  <a:txBody>
                    <a:bodyPr/>
                    <a:lstStyle/>
                    <a:p>
                      <a:r>
                        <a:rPr lang="pt-BR" dirty="0"/>
                        <a:t>Ações do Ator (Fluxo)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Ações do sistema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331185"/>
                  </a:ext>
                </a:extLst>
              </a:tr>
              <a:tr h="411772">
                <a:tc>
                  <a:txBody>
                    <a:bodyPr/>
                    <a:lstStyle/>
                    <a:p>
                      <a:r>
                        <a:rPr lang="pt-BR" dirty="0"/>
                        <a:t>1 Fazer o login no Sistema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3275572"/>
                  </a:ext>
                </a:extLst>
              </a:tr>
              <a:tr h="411772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 Digitar o Login e a Senha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3529249"/>
                  </a:ext>
                </a:extLst>
              </a:tr>
              <a:tr h="411772">
                <a:tc>
                  <a:txBody>
                    <a:bodyPr/>
                    <a:lstStyle/>
                    <a:p>
                      <a:r>
                        <a:rPr lang="pt-BR" dirty="0"/>
                        <a:t>3- Fazer a Venda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4550906"/>
                  </a:ext>
                </a:extLst>
              </a:tr>
              <a:tr h="411772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 Digitar o código do Produto e a quantidade desejado pelo cliente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5502476"/>
                  </a:ext>
                </a:extLst>
              </a:tr>
              <a:tr h="411772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 Verificar a quantidade no estoque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8712141"/>
                  </a:ext>
                </a:extLst>
              </a:tr>
              <a:tr h="411772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 Informar a forma de pagamento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430587"/>
                  </a:ext>
                </a:extLst>
              </a:tr>
            </a:tbl>
          </a:graphicData>
        </a:graphic>
      </p:graphicFrame>
      <p:pic>
        <p:nvPicPr>
          <p:cNvPr id="6" name="Imagem 5" descr="Diagrama&#10;&#10;O conteúdo gerado por IA pode estar incorreto.">
            <a:extLst>
              <a:ext uri="{FF2B5EF4-FFF2-40B4-BE49-F238E27FC236}">
                <a16:creationId xmlns:a16="http://schemas.microsoft.com/office/drawing/2014/main" id="{C830A2BD-BCA6-4F81-B3A9-07C3171327F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071" t="24546" r="1482"/>
          <a:stretch/>
        </p:blipFill>
        <p:spPr>
          <a:xfrm>
            <a:off x="5889812" y="-1"/>
            <a:ext cx="3980329" cy="221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9745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73573-5570-69BA-8B84-F1517A2C7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467F7C-968A-2097-38CD-8535E967E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733282" cy="312420"/>
          </a:xfrm>
        </p:spPr>
        <p:txBody>
          <a:bodyPr>
            <a:noAutofit/>
          </a:bodyPr>
          <a:lstStyle/>
          <a:p>
            <a:r>
              <a:rPr lang="pt-BR" sz="4400" dirty="0"/>
              <a:t>Documentação - Atendente</a:t>
            </a:r>
          </a:p>
        </p:txBody>
      </p:sp>
      <p:pic>
        <p:nvPicPr>
          <p:cNvPr id="4" name="Espaço Reservado para Conteúdo 3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8E7FF2C0-F69B-1F7B-0DB8-F922FF5BC37D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286470" y="481606"/>
            <a:ext cx="2905530" cy="3562847"/>
          </a:xfrm>
          <a:prstGeom prst="rect">
            <a:avLst/>
          </a:prstGeom>
        </p:spPr>
      </p:pic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C3453ABA-6B45-0209-1507-A2E48969B6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1767442"/>
              </p:ext>
            </p:extLst>
          </p:nvPr>
        </p:nvGraphicFramePr>
        <p:xfrm>
          <a:off x="0" y="514350"/>
          <a:ext cx="9315450" cy="48904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8001">
                  <a:extLst>
                    <a:ext uri="{9D8B030D-6E8A-4147-A177-3AD203B41FA5}">
                      <a16:colId xmlns:a16="http://schemas.microsoft.com/office/drawing/2014/main" val="2208072112"/>
                    </a:ext>
                  </a:extLst>
                </a:gridCol>
                <a:gridCol w="6417449">
                  <a:extLst>
                    <a:ext uri="{9D8B030D-6E8A-4147-A177-3AD203B41FA5}">
                      <a16:colId xmlns:a16="http://schemas.microsoft.com/office/drawing/2014/main" val="244700322"/>
                    </a:ext>
                  </a:extLst>
                </a:gridCol>
              </a:tblGrid>
              <a:tr h="412724">
                <a:tc>
                  <a:txBody>
                    <a:bodyPr/>
                    <a:lstStyle/>
                    <a:p>
                      <a:r>
                        <a:rPr lang="pt-BR" dirty="0"/>
                        <a:t>Nome de Caso de Uso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Vendas de </a:t>
                      </a:r>
                      <a:r>
                        <a:rPr lang="pt-BR" dirty="0" err="1"/>
                        <a:t>Cd´s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442248"/>
                  </a:ext>
                </a:extLst>
              </a:tr>
              <a:tr h="407070">
                <a:tc>
                  <a:txBody>
                    <a:bodyPr/>
                    <a:lstStyle/>
                    <a:p>
                      <a:r>
                        <a:rPr lang="pt-BR" dirty="0"/>
                        <a:t>7 Desconto ofertado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185216"/>
                  </a:ext>
                </a:extLst>
              </a:tr>
              <a:tr h="40707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8 Calcula os respectivos valores a serem pagos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7705688"/>
                  </a:ext>
                </a:extLst>
              </a:tr>
              <a:tr h="40707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9 Se for a vista ofertar o desconto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0938918"/>
                  </a:ext>
                </a:extLst>
              </a:tr>
              <a:tr h="40707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10 Se for Boleto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6676485"/>
                  </a:ext>
                </a:extLst>
              </a:tr>
              <a:tr h="40707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10.1 Definir o número de meses e desconto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5209449"/>
                  </a:ext>
                </a:extLst>
              </a:tr>
              <a:tr h="40707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11 Se for Cartão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4825182"/>
                  </a:ext>
                </a:extLst>
              </a:tr>
              <a:tr h="40707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11.1 Definir o número de meses e Desconto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8680798"/>
                  </a:ext>
                </a:extLst>
              </a:tr>
              <a:tr h="407070">
                <a:tc>
                  <a:txBody>
                    <a:bodyPr/>
                    <a:lstStyle/>
                    <a:p>
                      <a:r>
                        <a:rPr lang="pt-BR" dirty="0"/>
                        <a:t>12 Resultado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9053482"/>
                  </a:ext>
                </a:extLst>
              </a:tr>
              <a:tr h="40707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13 Mostrar o valor a Ser pago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6516182"/>
                  </a:ext>
                </a:extLst>
              </a:tr>
              <a:tr h="40707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14 Receber do Cliente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4416146"/>
                  </a:ext>
                </a:extLst>
              </a:tr>
              <a:tr h="40707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15 Dar baixa no estoque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6021574"/>
                  </a:ext>
                </a:extLst>
              </a:tr>
            </a:tbl>
          </a:graphicData>
        </a:graphic>
      </p:graphicFrame>
      <p:pic>
        <p:nvPicPr>
          <p:cNvPr id="6" name="Imagem 5" descr="Diagrama&#10;&#10;O conteúdo gerado por IA pode estar incorreto.">
            <a:extLst>
              <a:ext uri="{FF2B5EF4-FFF2-40B4-BE49-F238E27FC236}">
                <a16:creationId xmlns:a16="http://schemas.microsoft.com/office/drawing/2014/main" id="{F18BB5AD-98F7-4458-97CB-DBD06810DF9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071" t="24546" r="1482"/>
          <a:stretch/>
        </p:blipFill>
        <p:spPr>
          <a:xfrm>
            <a:off x="7162800" y="4246383"/>
            <a:ext cx="4688541" cy="2612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0170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000F74-134C-4047-9023-3BEC152D5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FCAB64F-1288-48E0-A553-B0B777B7717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356189" y="2423160"/>
            <a:ext cx="10128675" cy="3886200"/>
          </a:xfrm>
        </p:spPr>
        <p:txBody>
          <a:bodyPr/>
          <a:lstStyle/>
          <a:p>
            <a:r>
              <a:rPr lang="pt-BR" dirty="0"/>
              <a:t>Faça o diagrama</a:t>
            </a:r>
          </a:p>
        </p:txBody>
      </p:sp>
    </p:spTree>
    <p:extLst>
      <p:ext uri="{BB962C8B-B14F-4D97-AF65-F5344CB8AC3E}">
        <p14:creationId xmlns:p14="http://schemas.microsoft.com/office/powerpoint/2010/main" val="4800803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4D0739-EA2F-ECC6-8A9E-BC4A5B795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524125" y="2524123"/>
            <a:ext cx="6858002" cy="1809752"/>
          </a:xfrm>
          <a:solidFill>
            <a:schemeClr val="accent2"/>
          </a:solidFill>
        </p:spPr>
        <p:txBody>
          <a:bodyPr>
            <a:noAutofit/>
          </a:bodyPr>
          <a:lstStyle/>
          <a:p>
            <a:pPr algn="ctr"/>
            <a:r>
              <a:rPr lang="pt-BR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Documentação de Caso de Uso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8E8DD8D0-E52B-6EFF-169F-38E327E734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7749587"/>
              </p:ext>
            </p:extLst>
          </p:nvPr>
        </p:nvGraphicFramePr>
        <p:xfrm>
          <a:off x="1809750" y="0"/>
          <a:ext cx="10382250" cy="70910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9878">
                  <a:extLst>
                    <a:ext uri="{9D8B030D-6E8A-4147-A177-3AD203B41FA5}">
                      <a16:colId xmlns:a16="http://schemas.microsoft.com/office/drawing/2014/main" val="2208072112"/>
                    </a:ext>
                  </a:extLst>
                </a:gridCol>
                <a:gridCol w="7152372">
                  <a:extLst>
                    <a:ext uri="{9D8B030D-6E8A-4147-A177-3AD203B41FA5}">
                      <a16:colId xmlns:a16="http://schemas.microsoft.com/office/drawing/2014/main" val="244700322"/>
                    </a:ext>
                  </a:extLst>
                </a:gridCol>
              </a:tblGrid>
              <a:tr h="412724">
                <a:tc>
                  <a:txBody>
                    <a:bodyPr/>
                    <a:lstStyle/>
                    <a:p>
                      <a:r>
                        <a:rPr lang="pt-BR" dirty="0"/>
                        <a:t>Nome de Caso de Uso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Abertura de Conta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442248"/>
                  </a:ext>
                </a:extLst>
              </a:tr>
              <a:tr h="412724">
                <a:tc>
                  <a:txBody>
                    <a:bodyPr/>
                    <a:lstStyle/>
                    <a:p>
                      <a:r>
                        <a:rPr lang="pt-BR" dirty="0"/>
                        <a:t>Caso de Uso Geral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618077"/>
                  </a:ext>
                </a:extLst>
              </a:tr>
              <a:tr h="412724">
                <a:tc>
                  <a:txBody>
                    <a:bodyPr/>
                    <a:lstStyle/>
                    <a:p>
                      <a:r>
                        <a:rPr lang="pt-BR" dirty="0"/>
                        <a:t>Ator Principal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Cliente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0971302"/>
                  </a:ext>
                </a:extLst>
              </a:tr>
              <a:tr h="412724">
                <a:tc>
                  <a:txBody>
                    <a:bodyPr/>
                    <a:lstStyle/>
                    <a:p>
                      <a:r>
                        <a:rPr lang="pt-BR" dirty="0"/>
                        <a:t>Ator Secundários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Funcionários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563546"/>
                  </a:ext>
                </a:extLst>
              </a:tr>
              <a:tr h="712373">
                <a:tc>
                  <a:txBody>
                    <a:bodyPr/>
                    <a:lstStyle/>
                    <a:p>
                      <a:r>
                        <a:rPr lang="pt-BR" dirty="0"/>
                        <a:t>Resumo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Este Caso de Uso Descreve as etapas percorridas pelo cliente para abrir uma conta corrente comum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3238455"/>
                  </a:ext>
                </a:extLst>
              </a:tr>
              <a:tr h="412724">
                <a:tc>
                  <a:txBody>
                    <a:bodyPr/>
                    <a:lstStyle/>
                    <a:p>
                      <a:r>
                        <a:rPr lang="pt-BR" dirty="0"/>
                        <a:t>Pré-condições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O pedido de abertura precisa ser aprovado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3710583"/>
                  </a:ext>
                </a:extLst>
              </a:tr>
              <a:tr h="412724">
                <a:tc>
                  <a:txBody>
                    <a:bodyPr/>
                    <a:lstStyle/>
                    <a:p>
                      <a:r>
                        <a:rPr lang="pt-BR" dirty="0"/>
                        <a:t>Pós-condições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É necessário realizar um depósito inicial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4343395"/>
                  </a:ext>
                </a:extLst>
              </a:tr>
              <a:tr h="412724">
                <a:tc>
                  <a:txBody>
                    <a:bodyPr/>
                    <a:lstStyle/>
                    <a:p>
                      <a:r>
                        <a:rPr lang="pt-BR" dirty="0"/>
                        <a:t>Ações do 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Ações do sistema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331185"/>
                  </a:ext>
                </a:extLst>
              </a:tr>
              <a:tr h="407070">
                <a:tc>
                  <a:txBody>
                    <a:bodyPr/>
                    <a:lstStyle/>
                    <a:p>
                      <a:r>
                        <a:rPr lang="pt-BR" dirty="0"/>
                        <a:t>1 Solicitar abertura de Conta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3275572"/>
                  </a:ext>
                </a:extLst>
              </a:tr>
              <a:tr h="40707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 Consultar o CPF ou CNPJ do cliente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3529249"/>
                  </a:ext>
                </a:extLst>
              </a:tr>
              <a:tr h="40707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 Se for necessário, gravar ou atualizar o cadastro do cliente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4550906"/>
                  </a:ext>
                </a:extLst>
              </a:tr>
              <a:tr h="40707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 Avaliar o pedido do cliente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5502476"/>
                  </a:ext>
                </a:extLst>
              </a:tr>
              <a:tr h="40707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 Aprovar o pedido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8712141"/>
                  </a:ext>
                </a:extLst>
              </a:tr>
              <a:tr h="407070">
                <a:tc>
                  <a:txBody>
                    <a:bodyPr/>
                    <a:lstStyle/>
                    <a:p>
                      <a:r>
                        <a:rPr lang="pt-BR" dirty="0"/>
                        <a:t>6 Escolher a Senha da conta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185216"/>
                  </a:ext>
                </a:extLst>
              </a:tr>
              <a:tr h="40707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7 Abrir conta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7705688"/>
                  </a:ext>
                </a:extLst>
              </a:tr>
              <a:tr h="40707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8 Definir Cliente como ativo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09389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584732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F22E0-FCEF-C3F3-D5D5-1CA53909B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F47FA2-8B8B-BAD4-C9E9-96EF78B81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447926" y="2447924"/>
            <a:ext cx="6858002" cy="1962150"/>
          </a:xfrm>
          <a:solidFill>
            <a:schemeClr val="accent2"/>
          </a:solidFill>
        </p:spPr>
        <p:txBody>
          <a:bodyPr>
            <a:noAutofit/>
          </a:bodyPr>
          <a:lstStyle/>
          <a:p>
            <a:pPr algn="ctr"/>
            <a:r>
              <a:rPr lang="pt-BR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Documentação de Caso de Uso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A026B13F-E228-30C0-6FFB-F66FA27984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3813029"/>
              </p:ext>
            </p:extLst>
          </p:nvPr>
        </p:nvGraphicFramePr>
        <p:xfrm>
          <a:off x="1962150" y="666750"/>
          <a:ext cx="1022985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82466">
                  <a:extLst>
                    <a:ext uri="{9D8B030D-6E8A-4147-A177-3AD203B41FA5}">
                      <a16:colId xmlns:a16="http://schemas.microsoft.com/office/drawing/2014/main" val="2208072112"/>
                    </a:ext>
                  </a:extLst>
                </a:gridCol>
                <a:gridCol w="7047384">
                  <a:extLst>
                    <a:ext uri="{9D8B030D-6E8A-4147-A177-3AD203B41FA5}">
                      <a16:colId xmlns:a16="http://schemas.microsoft.com/office/drawing/2014/main" val="2447003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pt-BR" dirty="0"/>
                        <a:t>9 Fornecer valor a ser depositado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6870158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10 Registrar o depósito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7285376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11 Emitir o cartão da conta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73790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dirty="0"/>
                        <a:t>Restrições/Validações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049805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 Para abrir a conta tem que ser maior de idade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2007277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 O valor mínimo para depósito inicial é de R$ 5,00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21036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51736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DEC40F-1163-4EAA-85CA-8551BF7B1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9805613" cy="930623"/>
          </a:xfrm>
        </p:spPr>
        <p:txBody>
          <a:bodyPr>
            <a:normAutofit/>
          </a:bodyPr>
          <a:lstStyle/>
          <a:p>
            <a:r>
              <a:rPr lang="pt-BR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Exercícios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60BF282-9E9E-449D-994E-FD2CAD230DC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7" y="1700489"/>
            <a:ext cx="11132967" cy="2429059"/>
          </a:xfrm>
        </p:spPr>
        <p:txBody>
          <a:bodyPr/>
          <a:lstStyle/>
          <a:p>
            <a:r>
              <a:rPr lang="pt-BR" dirty="0"/>
              <a:t>Analisando a documentação da imobiliária faça o Diagrama de Caso de Uso</a:t>
            </a:r>
          </a:p>
          <a:p>
            <a:endParaRPr lang="pt-BR" dirty="0"/>
          </a:p>
          <a:p>
            <a:r>
              <a:rPr lang="pt-BR" dirty="0"/>
              <a:t>Utilizando o Diagrama do exercício da Bicicletaria, faça a Documentação do Diagrama</a:t>
            </a:r>
          </a:p>
        </p:txBody>
      </p:sp>
    </p:spTree>
    <p:extLst>
      <p:ext uri="{BB962C8B-B14F-4D97-AF65-F5344CB8AC3E}">
        <p14:creationId xmlns:p14="http://schemas.microsoft.com/office/powerpoint/2010/main" val="347170679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5DB466-D1E0-4E90-8C80-D05096CBC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Exercício Avaliativo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B5FAFE9-8D93-475C-9CAA-9D943E252D5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8912" y="2423160"/>
            <a:ext cx="11045952" cy="3886200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Exercícios de Caso e Uso</a:t>
            </a:r>
          </a:p>
        </p:txBody>
      </p:sp>
    </p:spTree>
    <p:extLst>
      <p:ext uri="{BB962C8B-B14F-4D97-AF65-F5344CB8AC3E}">
        <p14:creationId xmlns:p14="http://schemas.microsoft.com/office/powerpoint/2010/main" val="193029020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C6113-8022-0483-1CE4-5D2411B1D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55B337-9793-37B3-7EB8-E90AE9999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9873465" cy="421240"/>
          </a:xfrm>
        </p:spPr>
        <p:txBody>
          <a:bodyPr>
            <a:noAutofit/>
          </a:bodyPr>
          <a:lstStyle/>
          <a:p>
            <a:r>
              <a:rPr lang="pt-BR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Documentação Sistema da Imobiliária</a:t>
            </a:r>
          </a:p>
        </p:txBody>
      </p:sp>
      <p:pic>
        <p:nvPicPr>
          <p:cNvPr id="4" name="Espaço Reservado para Conteúdo 3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010A077E-D9FD-E874-5519-D4A6694BB310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516618" y="0"/>
            <a:ext cx="2905530" cy="3562847"/>
          </a:xfrm>
          <a:prstGeom prst="rect">
            <a:avLst/>
          </a:prstGeom>
        </p:spPr>
      </p:pic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D220E85A-A0D7-5D81-8852-0C2D828A0E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376780"/>
              </p:ext>
            </p:extLst>
          </p:nvPr>
        </p:nvGraphicFramePr>
        <p:xfrm>
          <a:off x="0" y="514351"/>
          <a:ext cx="10439400" cy="10877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7657">
                  <a:extLst>
                    <a:ext uri="{9D8B030D-6E8A-4147-A177-3AD203B41FA5}">
                      <a16:colId xmlns:a16="http://schemas.microsoft.com/office/drawing/2014/main" val="2208072112"/>
                    </a:ext>
                  </a:extLst>
                </a:gridCol>
                <a:gridCol w="7191743">
                  <a:extLst>
                    <a:ext uri="{9D8B030D-6E8A-4147-A177-3AD203B41FA5}">
                      <a16:colId xmlns:a16="http://schemas.microsoft.com/office/drawing/2014/main" val="244700322"/>
                    </a:ext>
                  </a:extLst>
                </a:gridCol>
              </a:tblGrid>
              <a:tr h="417491">
                <a:tc>
                  <a:txBody>
                    <a:bodyPr/>
                    <a:lstStyle/>
                    <a:p>
                      <a:r>
                        <a:rPr lang="pt-BR" dirty="0"/>
                        <a:t>Nome de Caso de Uso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Venda e locação de imóveis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442248"/>
                  </a:ext>
                </a:extLst>
              </a:tr>
              <a:tr h="417491">
                <a:tc>
                  <a:txBody>
                    <a:bodyPr/>
                    <a:lstStyle/>
                    <a:p>
                      <a:r>
                        <a:rPr lang="pt-BR" dirty="0"/>
                        <a:t>Caso de Uso Geral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618077"/>
                  </a:ext>
                </a:extLst>
              </a:tr>
              <a:tr h="417491">
                <a:tc>
                  <a:txBody>
                    <a:bodyPr/>
                    <a:lstStyle/>
                    <a:p>
                      <a:r>
                        <a:rPr lang="pt-BR" dirty="0"/>
                        <a:t>Ator Principal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Corretor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0971302"/>
                  </a:ext>
                </a:extLst>
              </a:tr>
              <a:tr h="417491">
                <a:tc>
                  <a:txBody>
                    <a:bodyPr/>
                    <a:lstStyle/>
                    <a:p>
                      <a:r>
                        <a:rPr lang="pt-BR" dirty="0"/>
                        <a:t>Ator Secundários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ADM e Cliente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563546"/>
                  </a:ext>
                </a:extLst>
              </a:tr>
              <a:tr h="720601">
                <a:tc>
                  <a:txBody>
                    <a:bodyPr/>
                    <a:lstStyle/>
                    <a:p>
                      <a:r>
                        <a:rPr lang="pt-BR" dirty="0"/>
                        <a:t>Resumo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O Corretor cadastra imóveis de acordo com as suas especificações, cadastra cliente de acordo com as suas especificações e cadastra a negociação. O Cliente pode consultar os imóveis disponíveis no sistema e gerar um pedido para o corretor. Ao finalizar uma negociação o corretor gera um negocio para o administrativo poder gerar o contrato.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3238455"/>
                  </a:ext>
                </a:extLst>
              </a:tr>
              <a:tr h="647472">
                <a:tc>
                  <a:txBody>
                    <a:bodyPr/>
                    <a:lstStyle/>
                    <a:p>
                      <a:r>
                        <a:rPr lang="pt-BR" dirty="0"/>
                        <a:t>Pré-condições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O Imóvel estar disponível para negociação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3710583"/>
                  </a:ext>
                </a:extLst>
              </a:tr>
              <a:tr h="417491">
                <a:tc>
                  <a:txBody>
                    <a:bodyPr/>
                    <a:lstStyle/>
                    <a:p>
                      <a:r>
                        <a:rPr lang="pt-BR" dirty="0"/>
                        <a:t>Pós-condições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, o cliente ter as condições exigidas na negociação, os imóveis estarem hábitos para negociação (analise de documentos)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4343395"/>
                  </a:ext>
                </a:extLst>
              </a:tr>
              <a:tr h="417491">
                <a:tc>
                  <a:txBody>
                    <a:bodyPr/>
                    <a:lstStyle/>
                    <a:p>
                      <a:r>
                        <a:rPr lang="pt-BR" dirty="0"/>
                        <a:t>Ações do Ator (Fluxo)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Ações do sistema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331185"/>
                  </a:ext>
                </a:extLst>
              </a:tr>
              <a:tr h="411772">
                <a:tc>
                  <a:txBody>
                    <a:bodyPr/>
                    <a:lstStyle/>
                    <a:p>
                      <a:r>
                        <a:rPr lang="pt-BR" dirty="0"/>
                        <a:t>1 Corretor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3275572"/>
                  </a:ext>
                </a:extLst>
              </a:tr>
              <a:tr h="411772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 cadastrar os imóveis (para locação/venda)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3529249"/>
                  </a:ext>
                </a:extLst>
              </a:tr>
              <a:tr h="411772">
                <a:tc>
                  <a:txBody>
                    <a:bodyPr/>
                    <a:lstStyle/>
                    <a:p>
                      <a:r>
                        <a:rPr lang="pt-BR" dirty="0"/>
                        <a:t>3- Cliente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4550906"/>
                  </a:ext>
                </a:extLst>
              </a:tr>
              <a:tr h="411772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 Consultar o imóvel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5502476"/>
                  </a:ext>
                </a:extLst>
              </a:tr>
              <a:tr h="411772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 Gerar uma visita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8712141"/>
                  </a:ext>
                </a:extLst>
              </a:tr>
              <a:tr h="411772">
                <a:tc>
                  <a:txBody>
                    <a:bodyPr/>
                    <a:lstStyle/>
                    <a:p>
                      <a:r>
                        <a:rPr lang="pt-BR" dirty="0"/>
                        <a:t>6 – Corretor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430587"/>
                  </a:ext>
                </a:extLst>
              </a:tr>
              <a:tr h="411772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7 Fazer a visita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0667995"/>
                  </a:ext>
                </a:extLst>
              </a:tr>
              <a:tr h="411772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8- Cadastrar os dados do cliente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601702"/>
                  </a:ext>
                </a:extLst>
              </a:tr>
              <a:tr h="411772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9- Cadastrar a Negociação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755863"/>
                  </a:ext>
                </a:extLst>
              </a:tr>
              <a:tr h="411772">
                <a:tc>
                  <a:txBody>
                    <a:bodyPr/>
                    <a:lstStyle/>
                    <a:p>
                      <a:r>
                        <a:rPr lang="pt-BR" dirty="0"/>
                        <a:t>10 – ADM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0055231"/>
                  </a:ext>
                </a:extLst>
              </a:tr>
              <a:tr h="411772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11 – Analisar a documentação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2859768"/>
                  </a:ext>
                </a:extLst>
              </a:tr>
              <a:tr h="411772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12- Gerar o contrato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5787370"/>
                  </a:ext>
                </a:extLst>
              </a:tr>
              <a:tr h="411772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13 Solicitar a assinatura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5001471"/>
                  </a:ext>
                </a:extLst>
              </a:tr>
              <a:tr h="411772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14 receber pelo serviço prestado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70759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32961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33353E-D5D2-B204-4FD2-3CCD5C25B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765810"/>
          </a:xfrm>
        </p:spPr>
        <p:txBody>
          <a:bodyPr>
            <a:noAutofit/>
          </a:bodyPr>
          <a:lstStyle/>
          <a:p>
            <a:pPr algn="ctr"/>
            <a:r>
              <a:rPr lang="pt-BR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Conceito de Herança</a:t>
            </a:r>
            <a:endParaRPr lang="pt-BR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60F5ACA-DF62-554B-2B67-1FA07352098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1794510"/>
            <a:ext cx="11045952" cy="3886200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pt-BR" sz="3200" dirty="0"/>
              <a:t>Na herança existem dois tipos de classes:</a:t>
            </a:r>
            <a:br>
              <a:rPr lang="pt-BR" sz="3200" dirty="0"/>
            </a:br>
            <a:r>
              <a:rPr lang="pt-BR" sz="3200" b="1" dirty="0"/>
              <a:t> Superclasse (Classe Pai)</a:t>
            </a:r>
            <a:br>
              <a:rPr lang="pt-BR" sz="3200" b="1" dirty="0"/>
            </a:br>
            <a:r>
              <a:rPr lang="pt-BR" sz="3200" dirty="0"/>
              <a:t>É a classe </a:t>
            </a:r>
            <a:r>
              <a:rPr lang="pt-BR" sz="3200" b="1" dirty="0"/>
              <a:t>mais geral</a:t>
            </a:r>
            <a:r>
              <a:rPr lang="pt-BR" sz="3200" dirty="0"/>
              <a:t>, que contém características comuns.</a:t>
            </a:r>
            <a:br>
              <a:rPr lang="pt-BR" sz="3200" dirty="0"/>
            </a:br>
            <a:r>
              <a:rPr lang="pt-BR" sz="3200" b="1" dirty="0"/>
              <a:t> Subclasse (Classe Filha)</a:t>
            </a:r>
            <a:br>
              <a:rPr lang="pt-BR" sz="3200" b="1" dirty="0"/>
            </a:b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336600713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ED5208-D725-E264-63B2-A12214DB7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152900" cy="1143000"/>
          </a:xfrm>
        </p:spPr>
        <p:txBody>
          <a:bodyPr>
            <a:normAutofit fontScale="90000"/>
          </a:bodyPr>
          <a:lstStyle/>
          <a:p>
            <a:r>
              <a:rPr lang="pt-BR" dirty="0"/>
              <a:t>Exemplo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5EFF738-2B84-9AE1-3185-0E9307BBD58F}"/>
              </a:ext>
            </a:extLst>
          </p:cNvPr>
          <p:cNvSpPr txBox="1"/>
          <p:nvPr/>
        </p:nvSpPr>
        <p:spPr>
          <a:xfrm>
            <a:off x="161925" y="1143000"/>
            <a:ext cx="51911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Vamos pegar o Sistema da Farmácia. Podemos ter uma classe principal Pessoa</a:t>
            </a:r>
          </a:p>
          <a:p>
            <a:endParaRPr lang="pt-BR" sz="2000" dirty="0"/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90BB6B76-130C-5672-E75A-DEC978619C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1459745"/>
              </p:ext>
            </p:extLst>
          </p:nvPr>
        </p:nvGraphicFramePr>
        <p:xfrm>
          <a:off x="3813175" y="1878331"/>
          <a:ext cx="307975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9750">
                  <a:extLst>
                    <a:ext uri="{9D8B030D-6E8A-4147-A177-3AD203B41FA5}">
                      <a16:colId xmlns:a16="http://schemas.microsoft.com/office/drawing/2014/main" val="34380416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2000" b="1" dirty="0"/>
                        <a:t>Pessoa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62819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000" b="1" dirty="0"/>
                        <a:t>Nome </a:t>
                      </a:r>
                    </a:p>
                    <a:p>
                      <a:r>
                        <a:rPr lang="pt-BR" sz="2000" b="1" dirty="0"/>
                        <a:t>Endereço</a:t>
                      </a:r>
                    </a:p>
                    <a:p>
                      <a:r>
                        <a:rPr lang="pt-BR" sz="2000" b="1" dirty="0"/>
                        <a:t>Telefone</a:t>
                      </a:r>
                    </a:p>
                    <a:p>
                      <a:r>
                        <a:rPr lang="pt-BR" sz="2000" b="1" dirty="0"/>
                        <a:t>CPF</a:t>
                      </a:r>
                    </a:p>
                    <a:p>
                      <a:r>
                        <a:rPr lang="pt-BR" sz="2000" b="1" dirty="0"/>
                        <a:t>E-mail</a:t>
                      </a:r>
                    </a:p>
                    <a:p>
                      <a:r>
                        <a:rPr lang="pt-BR" sz="2000" b="1" dirty="0"/>
                        <a:t>Data de Nascimento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8277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000" b="1" dirty="0"/>
                        <a:t>Atualizar Cadastro()</a:t>
                      </a:r>
                    </a:p>
                    <a:p>
                      <a:r>
                        <a:rPr lang="pt-BR" sz="2000" b="1" dirty="0"/>
                        <a:t>Cadastrar()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1347450"/>
                  </a:ext>
                </a:extLst>
              </a:tr>
            </a:tbl>
          </a:graphicData>
        </a:graphic>
      </p:graphicFrame>
      <p:sp>
        <p:nvSpPr>
          <p:cNvPr id="6" name="CaixaDeTexto 5">
            <a:extLst>
              <a:ext uri="{FF2B5EF4-FFF2-40B4-BE49-F238E27FC236}">
                <a16:creationId xmlns:a16="http://schemas.microsoft.com/office/drawing/2014/main" id="{D0C05E6B-4A91-F47C-884D-29440EE1DCAA}"/>
              </a:ext>
            </a:extLst>
          </p:cNvPr>
          <p:cNvSpPr txBox="1"/>
          <p:nvPr/>
        </p:nvSpPr>
        <p:spPr>
          <a:xfrm>
            <a:off x="7734300" y="4369277"/>
            <a:ext cx="352425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Mas no sistema de uma farmácia há 2 tipos de pessoas a serem cadastrado:</a:t>
            </a:r>
          </a:p>
          <a:p>
            <a:r>
              <a:rPr lang="pt-BR" sz="2400" dirty="0"/>
              <a:t>Clientes</a:t>
            </a:r>
          </a:p>
          <a:p>
            <a:r>
              <a:rPr lang="pt-BR" sz="2400" dirty="0"/>
              <a:t>Funcionário</a:t>
            </a:r>
          </a:p>
        </p:txBody>
      </p:sp>
    </p:spTree>
    <p:extLst>
      <p:ext uri="{BB962C8B-B14F-4D97-AF65-F5344CB8AC3E}">
        <p14:creationId xmlns:p14="http://schemas.microsoft.com/office/powerpoint/2010/main" val="2712687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4C2B0-EEC6-B019-3993-717C357C3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64F4D55F-7A10-0456-F4B9-3960E36E75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0893613"/>
              </p:ext>
            </p:extLst>
          </p:nvPr>
        </p:nvGraphicFramePr>
        <p:xfrm>
          <a:off x="4117975" y="0"/>
          <a:ext cx="307975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9750">
                  <a:extLst>
                    <a:ext uri="{9D8B030D-6E8A-4147-A177-3AD203B41FA5}">
                      <a16:colId xmlns:a16="http://schemas.microsoft.com/office/drawing/2014/main" val="34380416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2000" b="1" dirty="0"/>
                        <a:t>Pessoa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62819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000" b="1" dirty="0"/>
                        <a:t>Nome </a:t>
                      </a:r>
                    </a:p>
                    <a:p>
                      <a:r>
                        <a:rPr lang="pt-BR" sz="2000" b="1" dirty="0"/>
                        <a:t>Endereço</a:t>
                      </a:r>
                    </a:p>
                    <a:p>
                      <a:r>
                        <a:rPr lang="pt-BR" sz="2000" b="1" dirty="0"/>
                        <a:t>Telefone</a:t>
                      </a:r>
                    </a:p>
                    <a:p>
                      <a:r>
                        <a:rPr lang="pt-BR" sz="2000" b="1" dirty="0"/>
                        <a:t>CPF</a:t>
                      </a:r>
                    </a:p>
                    <a:p>
                      <a:r>
                        <a:rPr lang="pt-BR" sz="2000" b="1" dirty="0"/>
                        <a:t>E-mail</a:t>
                      </a:r>
                    </a:p>
                    <a:p>
                      <a:r>
                        <a:rPr lang="pt-BR" sz="2000" b="1" dirty="0"/>
                        <a:t>Data de Nascimento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8277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000" b="1" dirty="0"/>
                        <a:t>Atualizar Cadastro()</a:t>
                      </a:r>
                    </a:p>
                    <a:p>
                      <a:r>
                        <a:rPr lang="pt-BR" sz="2000" b="1" dirty="0"/>
                        <a:t>Cadastrar()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1347450"/>
                  </a:ext>
                </a:extLst>
              </a:tr>
            </a:tbl>
          </a:graphicData>
        </a:graphic>
      </p:graphicFrame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950BA0C1-24C4-78A5-7395-B80E45BFC6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4243772"/>
              </p:ext>
            </p:extLst>
          </p:nvPr>
        </p:nvGraphicFramePr>
        <p:xfrm>
          <a:off x="841375" y="3467100"/>
          <a:ext cx="3079750" cy="1798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9750">
                  <a:extLst>
                    <a:ext uri="{9D8B030D-6E8A-4147-A177-3AD203B41FA5}">
                      <a16:colId xmlns:a16="http://schemas.microsoft.com/office/drawing/2014/main" val="34380416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2000" b="1" dirty="0"/>
                        <a:t>Cliente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62819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000" b="1" dirty="0"/>
                        <a:t>Convênio</a:t>
                      </a:r>
                    </a:p>
                    <a:p>
                      <a:r>
                        <a:rPr lang="pt-BR" sz="2000" b="1" dirty="0"/>
                        <a:t>Pontos Fidelidade</a:t>
                      </a:r>
                    </a:p>
                    <a:p>
                      <a:endParaRPr lang="pt-BR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8277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000" b="1" dirty="0"/>
                        <a:t>Comprar()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1347450"/>
                  </a:ext>
                </a:extLst>
              </a:tr>
            </a:tbl>
          </a:graphicData>
        </a:graphic>
      </p:graphicFrame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1562863C-5492-6AF2-A8A9-0F95C4CDEE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603571"/>
              </p:ext>
            </p:extLst>
          </p:nvPr>
        </p:nvGraphicFramePr>
        <p:xfrm>
          <a:off x="6731002" y="3486150"/>
          <a:ext cx="3079750" cy="240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9750">
                  <a:extLst>
                    <a:ext uri="{9D8B030D-6E8A-4147-A177-3AD203B41FA5}">
                      <a16:colId xmlns:a16="http://schemas.microsoft.com/office/drawing/2014/main" val="34380416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2000" b="1" dirty="0"/>
                        <a:t>Funcionário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62819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000" b="1" dirty="0"/>
                        <a:t>Registro</a:t>
                      </a:r>
                    </a:p>
                    <a:p>
                      <a:r>
                        <a:rPr lang="pt-BR" sz="2000" b="1" dirty="0"/>
                        <a:t>Salário</a:t>
                      </a:r>
                    </a:p>
                    <a:p>
                      <a:r>
                        <a:rPr lang="pt-BR" sz="2000" b="1" dirty="0"/>
                        <a:t>Dependentes</a:t>
                      </a:r>
                    </a:p>
                    <a:p>
                      <a:r>
                        <a:rPr lang="pt-BR" sz="2000" b="1" dirty="0" err="1"/>
                        <a:t>ContaBancaria</a:t>
                      </a:r>
                      <a:endParaRPr lang="pt-BR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8277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000" b="1" dirty="0"/>
                        <a:t>Vender()</a:t>
                      </a:r>
                    </a:p>
                    <a:p>
                      <a:r>
                        <a:rPr lang="pt-BR" sz="2000" b="1" dirty="0" err="1"/>
                        <a:t>ReceberSalario</a:t>
                      </a:r>
                      <a:r>
                        <a:rPr lang="pt-BR" sz="2000" b="1" dirty="0"/>
                        <a:t>()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1347450"/>
                  </a:ext>
                </a:extLst>
              </a:tr>
            </a:tbl>
          </a:graphicData>
        </a:graphic>
      </p:graphicFrame>
      <p:sp>
        <p:nvSpPr>
          <p:cNvPr id="10" name="CaixaDeTexto 9">
            <a:extLst>
              <a:ext uri="{FF2B5EF4-FFF2-40B4-BE49-F238E27FC236}">
                <a16:creationId xmlns:a16="http://schemas.microsoft.com/office/drawing/2014/main" id="{7DBF6DC6-6C21-6F29-33C4-272703277DAA}"/>
              </a:ext>
            </a:extLst>
          </p:cNvPr>
          <p:cNvSpPr txBox="1"/>
          <p:nvPr/>
        </p:nvSpPr>
        <p:spPr>
          <a:xfrm>
            <a:off x="1" y="6191250"/>
            <a:ext cx="12192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b="1" dirty="0"/>
              <a:t>Vamos pensar: muitos dados são comum tanto para o cliente quanto para o funcionário. Então a classe CLIENTE e FUNCIONARIO. Vão herdar da Classe Pessoa alguns dados. Precisamos criar uma ligação.</a:t>
            </a:r>
          </a:p>
        </p:txBody>
      </p:sp>
    </p:spTree>
    <p:extLst>
      <p:ext uri="{BB962C8B-B14F-4D97-AF65-F5344CB8AC3E}">
        <p14:creationId xmlns:p14="http://schemas.microsoft.com/office/powerpoint/2010/main" val="382595433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25953C-193A-175A-D14D-ED966E696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Na UML, a herança é representada por: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135476B-488F-BC66-D3EF-9B8B2DD68E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b="1" dirty="0"/>
              <a:t>linha contínua</a:t>
            </a:r>
            <a:endParaRPr lang="pt-BR" sz="2800" dirty="0"/>
          </a:p>
          <a:p>
            <a:r>
              <a:rPr lang="pt-BR" sz="2800" b="1" dirty="0"/>
              <a:t>seta com triângulo vazio apontando para a superclasse</a:t>
            </a:r>
            <a:endParaRPr lang="pt-BR" sz="2800" dirty="0"/>
          </a:p>
          <a:p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411203288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724E9-7CD4-BA91-B137-C6ED4BF87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456B4ABB-AE02-ECC0-7ACD-4E0469157FCE}"/>
              </a:ext>
            </a:extLst>
          </p:cNvPr>
          <p:cNvGraphicFramePr>
            <a:graphicFrameLocks noGrp="1"/>
          </p:cNvGraphicFramePr>
          <p:nvPr/>
        </p:nvGraphicFramePr>
        <p:xfrm>
          <a:off x="4117975" y="0"/>
          <a:ext cx="307975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9750">
                  <a:extLst>
                    <a:ext uri="{9D8B030D-6E8A-4147-A177-3AD203B41FA5}">
                      <a16:colId xmlns:a16="http://schemas.microsoft.com/office/drawing/2014/main" val="34380416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2000" b="1" dirty="0"/>
                        <a:t>Pessoa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62819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000" b="1" dirty="0"/>
                        <a:t>Nome </a:t>
                      </a:r>
                    </a:p>
                    <a:p>
                      <a:r>
                        <a:rPr lang="pt-BR" sz="2000" b="1" dirty="0"/>
                        <a:t>Endereço</a:t>
                      </a:r>
                    </a:p>
                    <a:p>
                      <a:r>
                        <a:rPr lang="pt-BR" sz="2000" b="1" dirty="0"/>
                        <a:t>Telefone</a:t>
                      </a:r>
                    </a:p>
                    <a:p>
                      <a:r>
                        <a:rPr lang="pt-BR" sz="2000" b="1" dirty="0"/>
                        <a:t>CPF</a:t>
                      </a:r>
                    </a:p>
                    <a:p>
                      <a:r>
                        <a:rPr lang="pt-BR" sz="2000" b="1" dirty="0"/>
                        <a:t>E-mail</a:t>
                      </a:r>
                    </a:p>
                    <a:p>
                      <a:r>
                        <a:rPr lang="pt-BR" sz="2000" b="1" dirty="0"/>
                        <a:t>Data de Nascimento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8277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000" b="1" dirty="0"/>
                        <a:t>Atualizar Cadastro()</a:t>
                      </a:r>
                    </a:p>
                    <a:p>
                      <a:r>
                        <a:rPr lang="pt-BR" sz="2000" b="1" dirty="0"/>
                        <a:t>Cadastrar()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1347450"/>
                  </a:ext>
                </a:extLst>
              </a:tr>
            </a:tbl>
          </a:graphicData>
        </a:graphic>
      </p:graphicFrame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5A5A40C0-4A60-3C53-E508-2179C20050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2946555"/>
              </p:ext>
            </p:extLst>
          </p:nvPr>
        </p:nvGraphicFramePr>
        <p:xfrm>
          <a:off x="841371" y="4450080"/>
          <a:ext cx="3079750" cy="1798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9750">
                  <a:extLst>
                    <a:ext uri="{9D8B030D-6E8A-4147-A177-3AD203B41FA5}">
                      <a16:colId xmlns:a16="http://schemas.microsoft.com/office/drawing/2014/main" val="34380416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2000" b="1" dirty="0"/>
                        <a:t>Cliente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62819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000" b="1" dirty="0"/>
                        <a:t>Convênio</a:t>
                      </a:r>
                    </a:p>
                    <a:p>
                      <a:r>
                        <a:rPr lang="pt-BR" sz="2000" b="1" dirty="0"/>
                        <a:t>Pontos Fidelidade</a:t>
                      </a:r>
                    </a:p>
                    <a:p>
                      <a:endParaRPr lang="pt-BR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8277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000" b="1" dirty="0"/>
                        <a:t>Comprar()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1347450"/>
                  </a:ext>
                </a:extLst>
              </a:tr>
            </a:tbl>
          </a:graphicData>
        </a:graphic>
      </p:graphicFrame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DAE7B85A-66CB-65F9-5F4E-51DA7AAF74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2429616"/>
              </p:ext>
            </p:extLst>
          </p:nvPr>
        </p:nvGraphicFramePr>
        <p:xfrm>
          <a:off x="8423275" y="4450080"/>
          <a:ext cx="3079750" cy="240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9750">
                  <a:extLst>
                    <a:ext uri="{9D8B030D-6E8A-4147-A177-3AD203B41FA5}">
                      <a16:colId xmlns:a16="http://schemas.microsoft.com/office/drawing/2014/main" val="34380416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2000" b="1" dirty="0"/>
                        <a:t>Funcionário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62819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000" b="1" dirty="0"/>
                        <a:t>Registro</a:t>
                      </a:r>
                    </a:p>
                    <a:p>
                      <a:r>
                        <a:rPr lang="pt-BR" sz="2000" b="1" dirty="0"/>
                        <a:t>Salário</a:t>
                      </a:r>
                    </a:p>
                    <a:p>
                      <a:r>
                        <a:rPr lang="pt-BR" sz="2000" b="1" dirty="0"/>
                        <a:t>Dependentes</a:t>
                      </a:r>
                    </a:p>
                    <a:p>
                      <a:r>
                        <a:rPr lang="pt-BR" sz="2000" b="1" dirty="0" err="1"/>
                        <a:t>ContaBancaria</a:t>
                      </a:r>
                      <a:endParaRPr lang="pt-BR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8277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000" b="1" dirty="0"/>
                        <a:t>Vender()</a:t>
                      </a:r>
                    </a:p>
                    <a:p>
                      <a:r>
                        <a:rPr lang="pt-BR" sz="2000" b="1" dirty="0" err="1"/>
                        <a:t>ReceberSalario</a:t>
                      </a:r>
                      <a:r>
                        <a:rPr lang="pt-BR" sz="2000" b="1" dirty="0"/>
                        <a:t>()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1347450"/>
                  </a:ext>
                </a:extLst>
              </a:tr>
            </a:tbl>
          </a:graphicData>
        </a:graphic>
      </p:graphicFrame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C1238317-083A-0C38-527D-4B1C500B6D81}"/>
              </a:ext>
            </a:extLst>
          </p:cNvPr>
          <p:cNvCxnSpPr>
            <a:cxnSpLocks/>
          </p:cNvCxnSpPr>
          <p:nvPr/>
        </p:nvCxnSpPr>
        <p:spPr>
          <a:xfrm>
            <a:off x="5410200" y="3017520"/>
            <a:ext cx="0" cy="6019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6AEB6E4C-5B7F-57EE-E549-750480BA1A32}"/>
              </a:ext>
            </a:extLst>
          </p:cNvPr>
          <p:cNvCxnSpPr/>
          <p:nvPr/>
        </p:nvCxnSpPr>
        <p:spPr>
          <a:xfrm>
            <a:off x="9963150" y="3619500"/>
            <a:ext cx="0" cy="8305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B83D5FBE-CB9E-06E8-CBB9-7D125C28E5A4}"/>
              </a:ext>
            </a:extLst>
          </p:cNvPr>
          <p:cNvCxnSpPr/>
          <p:nvPr/>
        </p:nvCxnSpPr>
        <p:spPr>
          <a:xfrm>
            <a:off x="2000250" y="3619500"/>
            <a:ext cx="0" cy="8305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E8259CBA-832E-D534-72FA-A138C481E3FE}"/>
              </a:ext>
            </a:extLst>
          </p:cNvPr>
          <p:cNvCxnSpPr>
            <a:cxnSpLocks/>
          </p:cNvCxnSpPr>
          <p:nvPr/>
        </p:nvCxnSpPr>
        <p:spPr>
          <a:xfrm>
            <a:off x="2000250" y="3619500"/>
            <a:ext cx="79629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riângulo isósceles 12">
            <a:extLst>
              <a:ext uri="{FF2B5EF4-FFF2-40B4-BE49-F238E27FC236}">
                <a16:creationId xmlns:a16="http://schemas.microsoft.com/office/drawing/2014/main" id="{C225F4F6-CF41-5488-A57C-9DF27C905DD7}"/>
              </a:ext>
            </a:extLst>
          </p:cNvPr>
          <p:cNvSpPr/>
          <p:nvPr/>
        </p:nvSpPr>
        <p:spPr>
          <a:xfrm>
            <a:off x="5249073" y="2948938"/>
            <a:ext cx="332569" cy="384803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277956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FBF594-FF24-4D06-88DA-9653E6CAB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5C9BA64-A02B-4741-8D3E-82E5473682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Na farmácia terá o cadastro dos fornecedores.</a:t>
            </a:r>
          </a:p>
          <a:p>
            <a:r>
              <a:rPr lang="pt-BR" sz="3600" dirty="0"/>
              <a:t>Uma nova Classe.... Esta classe poderia ser também uma sub classe de pessoal ?</a:t>
            </a:r>
          </a:p>
        </p:txBody>
      </p:sp>
    </p:spTree>
    <p:extLst>
      <p:ext uri="{BB962C8B-B14F-4D97-AF65-F5344CB8AC3E}">
        <p14:creationId xmlns:p14="http://schemas.microsoft.com/office/powerpoint/2010/main" val="286265270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D6D2C3-9764-7E54-6581-1F265E22F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Pensando na Farmácia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700385E-FE37-D790-87A7-EBA837E470F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1450" y="2423160"/>
            <a:ext cx="11313414" cy="4023360"/>
          </a:xfrm>
        </p:spPr>
        <p:txBody>
          <a:bodyPr/>
          <a:lstStyle/>
          <a:p>
            <a:r>
              <a:rPr lang="pt-BR" dirty="0"/>
              <a:t>Podemos ter a Classe de Produto em uma farmácia, o qual podemos ter os remédios (o qual precisa de receita) e o demais produtos. Faça as Classes para CADASTRAR OS PRODUTOS DA FARMÁCIA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0812965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4F1729-19B2-7C9A-EAE5-8839962BF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Exercício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926C73F-282E-E4FC-B3C1-C8306ACC45E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2423160"/>
            <a:ext cx="11055096" cy="3886200"/>
          </a:xfrm>
        </p:spPr>
        <p:txBody>
          <a:bodyPr>
            <a:normAutofit/>
          </a:bodyPr>
          <a:lstStyle/>
          <a:p>
            <a:r>
              <a:rPr lang="pt-BR" sz="3200" dirty="0"/>
              <a:t>Verifique as classes do sistema da Imobiliária. E destaque as heranças</a:t>
            </a:r>
          </a:p>
        </p:txBody>
      </p:sp>
    </p:spTree>
    <p:extLst>
      <p:ext uri="{BB962C8B-B14F-4D97-AF65-F5344CB8AC3E}">
        <p14:creationId xmlns:p14="http://schemas.microsoft.com/office/powerpoint/2010/main" val="285087296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AEE871-EAC9-78E8-A42F-C28232B85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547" y="89515"/>
            <a:ext cx="10652760" cy="486557"/>
          </a:xfrm>
        </p:spPr>
        <p:txBody>
          <a:bodyPr>
            <a:normAutofit fontScale="90000"/>
          </a:bodyPr>
          <a:lstStyle/>
          <a:p>
            <a:r>
              <a:rPr lang="pt-BR" b="1" dirty="0"/>
              <a:t>Exercício – Modelagem UML para Sistema de Farmácia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346E74C-CC4B-E42A-2A69-23BD9A6E28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5546" y="576072"/>
            <a:ext cx="11722127" cy="6281928"/>
          </a:xfrm>
        </p:spPr>
        <p:txBody>
          <a:bodyPr>
            <a:normAutofit fontScale="47500" lnSpcReduction="20000"/>
          </a:bodyPr>
          <a:lstStyle/>
          <a:p>
            <a:r>
              <a:rPr lang="pt-BR" dirty="0"/>
              <a:t>Uma rede de farmácias deseja desenvolver um </a:t>
            </a:r>
            <a:r>
              <a:rPr lang="pt-BR" b="1" dirty="0"/>
              <a:t>sistema informatizado para gerenciar suas operações</a:t>
            </a:r>
            <a:r>
              <a:rPr lang="pt-BR" dirty="0"/>
              <a:t>. O sistema deverá permitir:</a:t>
            </a:r>
          </a:p>
          <a:p>
            <a:pPr lvl="0"/>
            <a:r>
              <a:rPr lang="pt-BR" dirty="0"/>
              <a:t>cadastro de </a:t>
            </a:r>
            <a:r>
              <a:rPr lang="pt-BR" b="1" dirty="0"/>
              <a:t>clientes</a:t>
            </a:r>
            <a:endParaRPr lang="pt-BR" dirty="0"/>
          </a:p>
          <a:p>
            <a:pPr lvl="0"/>
            <a:r>
              <a:rPr lang="pt-BR" dirty="0"/>
              <a:t>cadastro de </a:t>
            </a:r>
            <a:r>
              <a:rPr lang="pt-BR" b="1" dirty="0"/>
              <a:t>funcionários</a:t>
            </a:r>
            <a:endParaRPr lang="pt-BR" dirty="0"/>
          </a:p>
          <a:p>
            <a:pPr lvl="0"/>
            <a:r>
              <a:rPr lang="pt-BR" dirty="0"/>
              <a:t>cadastro de </a:t>
            </a:r>
            <a:r>
              <a:rPr lang="pt-BR" b="1" dirty="0"/>
              <a:t>produtos</a:t>
            </a:r>
            <a:endParaRPr lang="pt-BR" dirty="0"/>
          </a:p>
          <a:p>
            <a:pPr lvl="0"/>
            <a:r>
              <a:rPr lang="pt-BR" dirty="0"/>
              <a:t>registro de </a:t>
            </a:r>
            <a:r>
              <a:rPr lang="pt-BR" b="1" dirty="0"/>
              <a:t>vendas</a:t>
            </a:r>
            <a:endParaRPr lang="pt-BR" dirty="0"/>
          </a:p>
          <a:p>
            <a:pPr lvl="0"/>
            <a:r>
              <a:rPr lang="pt-BR" dirty="0"/>
              <a:t>controle de </a:t>
            </a:r>
            <a:r>
              <a:rPr lang="pt-BR" b="1" dirty="0"/>
              <a:t>estoque</a:t>
            </a:r>
            <a:endParaRPr lang="pt-BR" dirty="0"/>
          </a:p>
          <a:p>
            <a:r>
              <a:rPr lang="pt-BR" dirty="0"/>
              <a:t>Cada </a:t>
            </a:r>
            <a:r>
              <a:rPr lang="pt-BR" b="1" dirty="0"/>
              <a:t>produto</a:t>
            </a:r>
            <a:r>
              <a:rPr lang="pt-BR" dirty="0"/>
              <a:t> possui:</a:t>
            </a:r>
          </a:p>
          <a:p>
            <a:pPr lvl="0"/>
            <a:r>
              <a:rPr lang="pt-BR" dirty="0"/>
              <a:t>código</a:t>
            </a:r>
          </a:p>
          <a:p>
            <a:pPr lvl="0"/>
            <a:r>
              <a:rPr lang="pt-BR" dirty="0"/>
              <a:t>nome</a:t>
            </a:r>
          </a:p>
          <a:p>
            <a:pPr lvl="0"/>
            <a:r>
              <a:rPr lang="pt-BR" dirty="0"/>
              <a:t>preço</a:t>
            </a:r>
          </a:p>
          <a:p>
            <a:pPr lvl="0"/>
            <a:r>
              <a:rPr lang="pt-BR" dirty="0"/>
              <a:t>quantidade em estoque</a:t>
            </a:r>
          </a:p>
          <a:p>
            <a:pPr lvl="0"/>
            <a:r>
              <a:rPr lang="pt-BR" dirty="0"/>
              <a:t>data de validade</a:t>
            </a:r>
          </a:p>
          <a:p>
            <a:r>
              <a:rPr lang="pt-BR" dirty="0"/>
              <a:t>Alguns produtos são </a:t>
            </a:r>
            <a:r>
              <a:rPr lang="pt-BR" b="1" dirty="0"/>
              <a:t>medicamentos</a:t>
            </a:r>
            <a:r>
              <a:rPr lang="pt-BR" dirty="0"/>
              <a:t>, que possuem também:</a:t>
            </a:r>
          </a:p>
          <a:p>
            <a:pPr lvl="0"/>
            <a:r>
              <a:rPr lang="pt-BR" dirty="0"/>
              <a:t>princípio ativo</a:t>
            </a:r>
          </a:p>
          <a:p>
            <a:pPr lvl="0"/>
            <a:r>
              <a:rPr lang="pt-BR" dirty="0"/>
              <a:t>indicação se exige </a:t>
            </a:r>
            <a:r>
              <a:rPr lang="pt-BR" b="1" dirty="0"/>
              <a:t>receita médica</a:t>
            </a:r>
            <a:endParaRPr lang="pt-BR" dirty="0"/>
          </a:p>
          <a:p>
            <a:r>
              <a:rPr lang="pt-BR" dirty="0"/>
              <a:t>Os </a:t>
            </a:r>
            <a:r>
              <a:rPr lang="pt-BR" b="1" dirty="0"/>
              <a:t>clientes</a:t>
            </a:r>
            <a:r>
              <a:rPr lang="pt-BR" dirty="0"/>
              <a:t> podem comprar vários produtos em uma única venda.</a:t>
            </a:r>
          </a:p>
          <a:p>
            <a:r>
              <a:rPr lang="pt-BR" dirty="0"/>
              <a:t>Cada </a:t>
            </a:r>
            <a:r>
              <a:rPr lang="pt-BR" b="1" dirty="0"/>
              <a:t>venda</a:t>
            </a:r>
            <a:r>
              <a:rPr lang="pt-BR" dirty="0"/>
              <a:t>:</a:t>
            </a:r>
          </a:p>
          <a:p>
            <a:pPr lvl="0"/>
            <a:r>
              <a:rPr lang="pt-BR" dirty="0"/>
              <a:t>possui data</a:t>
            </a:r>
          </a:p>
          <a:p>
            <a:pPr lvl="0"/>
            <a:r>
              <a:rPr lang="pt-BR" dirty="0"/>
              <a:t>valor total</a:t>
            </a:r>
          </a:p>
          <a:p>
            <a:pPr lvl="0"/>
            <a:r>
              <a:rPr lang="pt-BR" dirty="0"/>
              <a:t>forma de pagamento</a:t>
            </a:r>
          </a:p>
          <a:p>
            <a:pPr lvl="0"/>
            <a:r>
              <a:rPr lang="pt-BR" dirty="0"/>
              <a:t>é registrada por um funcionário</a:t>
            </a:r>
          </a:p>
          <a:p>
            <a:r>
              <a:rPr lang="pt-BR" dirty="0"/>
              <a:t>Uma venda pode possuir </a:t>
            </a:r>
            <a:r>
              <a:rPr lang="pt-BR" b="1" dirty="0"/>
              <a:t>vários itens</a:t>
            </a:r>
            <a:r>
              <a:rPr lang="pt-BR" dirty="0"/>
              <a:t>, e cada item corresponde a um produto com determinada quantidade.</a:t>
            </a:r>
          </a:p>
          <a:p>
            <a:r>
              <a:rPr lang="pt-BR" dirty="0"/>
              <a:t>O sistema também deve permitir o cadastro de </a:t>
            </a:r>
            <a:r>
              <a:rPr lang="pt-BR" b="1" dirty="0"/>
              <a:t>fornecedores</a:t>
            </a:r>
            <a:r>
              <a:rPr lang="pt-BR" dirty="0"/>
              <a:t>, responsáveis por fornecer produtos para a farmácia.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3686680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5FC28C-47FD-4769-B3AC-46691FFEC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Aula do dia 16/03/2026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749B2B0-A124-4C06-B5A2-866CADEC17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Relacionamentos entre classes</a:t>
            </a:r>
          </a:p>
        </p:txBody>
      </p:sp>
    </p:spTree>
    <p:extLst>
      <p:ext uri="{BB962C8B-B14F-4D97-AF65-F5344CB8AC3E}">
        <p14:creationId xmlns:p14="http://schemas.microsoft.com/office/powerpoint/2010/main" val="337692256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D263B3-835E-4752-B2DB-F5092CE14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Relacionamento Unitário ou reflexivo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750F0A4-046A-4AC0-BBA7-8658F7A3A4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É quando uma classe se relaciona com ela mesma.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Este tipo de Associação ocorre quando existe um relacionamento de um objeto com a mesma Classe.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Exemplo: O chefe de um funcionário também é, por</a:t>
            </a:r>
          </a:p>
          <a:p>
            <a:pPr marL="0" indent="0">
              <a:buNone/>
            </a:pPr>
            <a:r>
              <a:rPr lang="pt-BR" dirty="0"/>
              <a:t>sua vez, um funcionário.</a:t>
            </a:r>
          </a:p>
          <a:p>
            <a:pPr marL="0" indent="0">
              <a:buNone/>
            </a:pPr>
            <a:r>
              <a:rPr lang="pt-BR" dirty="0"/>
              <a:t>Exemplo 2: Pessoa e Pai</a:t>
            </a:r>
          </a:p>
          <a:p>
            <a:pPr marL="0" indent="0">
              <a:buNone/>
            </a:pPr>
            <a:r>
              <a:rPr lang="pt-BR" dirty="0"/>
              <a:t>Uma pessoa tem um Pai, mas por sua vez, o Pai </a:t>
            </a:r>
          </a:p>
          <a:p>
            <a:pPr marL="0" indent="0">
              <a:buNone/>
            </a:pPr>
            <a:r>
              <a:rPr lang="pt-BR" dirty="0"/>
              <a:t>Também é uma pessoa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3CF5709-4612-45C2-9E7A-F86ED6FC0AEE}"/>
              </a:ext>
            </a:extLst>
          </p:cNvPr>
          <p:cNvSpPr/>
          <p:nvPr/>
        </p:nvSpPr>
        <p:spPr>
          <a:xfrm>
            <a:off x="6096000" y="3913397"/>
            <a:ext cx="2098431" cy="26611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Funcionário</a:t>
            </a:r>
          </a:p>
          <a:p>
            <a:pPr algn="ctr"/>
            <a:r>
              <a:rPr lang="pt-BR" dirty="0"/>
              <a:t>___________________</a:t>
            </a:r>
          </a:p>
          <a:p>
            <a:r>
              <a:rPr lang="pt-BR" dirty="0"/>
              <a:t>Nome</a:t>
            </a:r>
          </a:p>
          <a:p>
            <a:r>
              <a:rPr lang="pt-BR" dirty="0"/>
              <a:t>Endereço</a:t>
            </a:r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B05A2B32-350E-4DB9-BD5B-FCF2BCE35CB9}"/>
              </a:ext>
            </a:extLst>
          </p:cNvPr>
          <p:cNvCxnSpPr>
            <a:cxnSpLocks/>
          </p:cNvCxnSpPr>
          <p:nvPr/>
        </p:nvCxnSpPr>
        <p:spPr>
          <a:xfrm>
            <a:off x="7145215" y="3423139"/>
            <a:ext cx="244426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995C6277-9241-45B5-81BD-FDB09D14625E}"/>
              </a:ext>
            </a:extLst>
          </p:cNvPr>
          <p:cNvCxnSpPr>
            <a:cxnSpLocks/>
          </p:cNvCxnSpPr>
          <p:nvPr/>
        </p:nvCxnSpPr>
        <p:spPr>
          <a:xfrm flipV="1">
            <a:off x="9589479" y="3432752"/>
            <a:ext cx="0" cy="154744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BA296407-F946-4418-99CB-564EB2F7862C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7145216" y="3423139"/>
            <a:ext cx="0" cy="49025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2048D586-C5FF-44AB-B53C-9B8C9FFA47F8}"/>
              </a:ext>
            </a:extLst>
          </p:cNvPr>
          <p:cNvCxnSpPr/>
          <p:nvPr/>
        </p:nvCxnSpPr>
        <p:spPr>
          <a:xfrm>
            <a:off x="8206154" y="4970585"/>
            <a:ext cx="135987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1F391986-5867-40CD-90EE-082CB3481CCB}"/>
              </a:ext>
            </a:extLst>
          </p:cNvPr>
          <p:cNvSpPr txBox="1"/>
          <p:nvPr/>
        </p:nvSpPr>
        <p:spPr>
          <a:xfrm>
            <a:off x="6671929" y="3602186"/>
            <a:ext cx="4555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0..*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E21EFD0D-E341-4FE4-836D-913BB50F0289}"/>
              </a:ext>
            </a:extLst>
          </p:cNvPr>
          <p:cNvSpPr txBox="1"/>
          <p:nvPr/>
        </p:nvSpPr>
        <p:spPr>
          <a:xfrm>
            <a:off x="8120117" y="3085693"/>
            <a:ext cx="6960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chefia</a:t>
            </a:r>
          </a:p>
        </p:txBody>
      </p:sp>
    </p:spTree>
    <p:extLst>
      <p:ext uri="{BB962C8B-B14F-4D97-AF65-F5344CB8AC3E}">
        <p14:creationId xmlns:p14="http://schemas.microsoft.com/office/powerpoint/2010/main" val="326979836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053A3F-7433-48AD-898E-EB10BC953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Relacionamento Unitário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30C4057-0683-4081-BA36-D15FDEDD7D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Observe 0..*</a:t>
            </a:r>
          </a:p>
          <a:p>
            <a:pPr marL="0" indent="0">
              <a:buNone/>
            </a:pPr>
            <a:r>
              <a:rPr lang="pt-BR" dirty="0"/>
              <a:t>Isso significa que um determinado funcionário pode chefiar nenhum (0) ou muitos funcionários, ou seja, um funcionário pode não chefiar ninguém ou pode chefiar muitos funcionários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299201F-A1A7-442E-9736-F6155E9C45A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564" t="50000" r="18000" b="17607"/>
          <a:stretch/>
        </p:blipFill>
        <p:spPr>
          <a:xfrm>
            <a:off x="920086" y="2830186"/>
            <a:ext cx="2703810" cy="2754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03371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053A3F-7433-48AD-898E-EB10BC953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Relacionamento Unitário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30C4057-0683-4081-BA36-D15FDEDD7D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Outra informação que poderia ser considerada útil é a definição de papeis, que são informações extras na associação que podem ajudar a explicar a função de um objeto ( o papel que este representa) dentro da Associação</a:t>
            </a:r>
          </a:p>
          <a:p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299201F-A1A7-442E-9736-F6155E9C45A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564" t="50000" r="18000" b="17607"/>
          <a:stretch/>
        </p:blipFill>
        <p:spPr>
          <a:xfrm>
            <a:off x="3802498" y="2942727"/>
            <a:ext cx="2703810" cy="3631809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DC3B8241-4B2A-4C97-BBF5-874FF4414C2A}"/>
              </a:ext>
            </a:extLst>
          </p:cNvPr>
          <p:cNvSpPr txBox="1"/>
          <p:nvPr/>
        </p:nvSpPr>
        <p:spPr>
          <a:xfrm>
            <a:off x="3903784" y="3275111"/>
            <a:ext cx="14750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+ subordinados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10C30E1-646B-478E-A345-0A63462DE348}"/>
              </a:ext>
            </a:extLst>
          </p:cNvPr>
          <p:cNvSpPr txBox="1"/>
          <p:nvPr/>
        </p:nvSpPr>
        <p:spPr>
          <a:xfrm>
            <a:off x="7291754" y="4114800"/>
            <a:ext cx="47361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Exercício de 5 minutos:</a:t>
            </a:r>
          </a:p>
          <a:p>
            <a:endParaRPr lang="pt-BR" dirty="0"/>
          </a:p>
          <a:p>
            <a:r>
              <a:rPr lang="pt-BR" dirty="0"/>
              <a:t>Crie uma classe que possa ter um relacionamento Unitário e a escreva</a:t>
            </a:r>
          </a:p>
        </p:txBody>
      </p:sp>
    </p:spTree>
    <p:extLst>
      <p:ext uri="{BB962C8B-B14F-4D97-AF65-F5344CB8AC3E}">
        <p14:creationId xmlns:p14="http://schemas.microsoft.com/office/powerpoint/2010/main" val="406649429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066F1C-641A-493B-B29F-A5B95B36D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Associação Binária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93DBEE-DC2F-45C6-8BFF-66664F3560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As associações Binárias ocorrem quando são identificados relacionamentos entre objetos de duas classes distintas. Este tipo de associação é a mais comum.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A classe sócio pode ou não relacionar com a classe dependente (0..*). Por outro lado, a classe dependente terá que relacionar obrigatoriamente com a classe Sócio, isso significa 1..1</a:t>
            </a:r>
          </a:p>
          <a:p>
            <a:endParaRPr lang="pt-BR" dirty="0"/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C0561260-6A66-488C-B1BB-72A6D0840F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9189770"/>
              </p:ext>
            </p:extLst>
          </p:nvPr>
        </p:nvGraphicFramePr>
        <p:xfrm>
          <a:off x="1633416" y="2872740"/>
          <a:ext cx="2211753" cy="220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1753">
                  <a:extLst>
                    <a:ext uri="{9D8B030D-6E8A-4147-A177-3AD203B41FA5}">
                      <a16:colId xmlns:a16="http://schemas.microsoft.com/office/drawing/2014/main" val="14380629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Sócio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760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Nome</a:t>
                      </a:r>
                    </a:p>
                    <a:p>
                      <a:r>
                        <a:rPr lang="pt-BR" dirty="0"/>
                        <a:t>Telefone</a:t>
                      </a:r>
                    </a:p>
                    <a:p>
                      <a:r>
                        <a:rPr lang="pt-BR" dirty="0"/>
                        <a:t>Endereço</a:t>
                      </a:r>
                    </a:p>
                    <a:p>
                      <a:r>
                        <a:rPr lang="pt-BR" dirty="0"/>
                        <a:t>E-mail</a:t>
                      </a:r>
                    </a:p>
                    <a:p>
                      <a:r>
                        <a:rPr lang="pt-BR" dirty="0"/>
                        <a:t>Data nascimento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85033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Paga()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8303394"/>
                  </a:ext>
                </a:extLst>
              </a:tr>
            </a:tbl>
          </a:graphicData>
        </a:graphic>
      </p:graphicFrame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B65C27B9-841A-48C4-9632-A16262D381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7227996"/>
              </p:ext>
            </p:extLst>
          </p:nvPr>
        </p:nvGraphicFramePr>
        <p:xfrm>
          <a:off x="7080737" y="2943665"/>
          <a:ext cx="3243385" cy="14263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3385">
                  <a:extLst>
                    <a:ext uri="{9D8B030D-6E8A-4147-A177-3AD203B41FA5}">
                      <a16:colId xmlns:a16="http://schemas.microsoft.com/office/drawing/2014/main" val="788292286"/>
                    </a:ext>
                  </a:extLst>
                </a:gridCol>
              </a:tblGrid>
              <a:tr h="393157">
                <a:tc>
                  <a:txBody>
                    <a:bodyPr/>
                    <a:lstStyle/>
                    <a:p>
                      <a:r>
                        <a:rPr lang="pt-BR" dirty="0"/>
                        <a:t>Dependente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765608"/>
                  </a:ext>
                </a:extLst>
              </a:tr>
              <a:tr h="393157">
                <a:tc>
                  <a:txBody>
                    <a:bodyPr/>
                    <a:lstStyle/>
                    <a:p>
                      <a:r>
                        <a:rPr lang="pt-BR" dirty="0" err="1"/>
                        <a:t>NomeDepdte</a:t>
                      </a:r>
                      <a:endParaRPr lang="pt-BR" dirty="0"/>
                    </a:p>
                    <a:p>
                      <a:r>
                        <a:rPr lang="pt-BR" dirty="0" err="1"/>
                        <a:t>DataNascDepdte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0317559"/>
                  </a:ext>
                </a:extLst>
              </a:tr>
              <a:tr h="393157">
                <a:tc>
                  <a:txBody>
                    <a:bodyPr/>
                    <a:lstStyle/>
                    <a:p>
                      <a:r>
                        <a:rPr lang="pt-BR" dirty="0"/>
                        <a:t>Participa()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901014"/>
                  </a:ext>
                </a:extLst>
              </a:tr>
            </a:tbl>
          </a:graphicData>
        </a:graphic>
      </p:graphicFrame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C4B6C6C-713E-4549-869C-57989A903707}"/>
              </a:ext>
            </a:extLst>
          </p:cNvPr>
          <p:cNvCxnSpPr/>
          <p:nvPr/>
        </p:nvCxnSpPr>
        <p:spPr>
          <a:xfrm>
            <a:off x="3845169" y="3429000"/>
            <a:ext cx="323556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F733D952-4121-4ABD-908F-49D6BFA80AE0}"/>
              </a:ext>
            </a:extLst>
          </p:cNvPr>
          <p:cNvSpPr txBox="1"/>
          <p:nvPr/>
        </p:nvSpPr>
        <p:spPr>
          <a:xfrm>
            <a:off x="4982308" y="3429000"/>
            <a:ext cx="6479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possui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B5FFC56-629A-4857-890C-334C04D0758B}"/>
              </a:ext>
            </a:extLst>
          </p:cNvPr>
          <p:cNvSpPr txBox="1"/>
          <p:nvPr/>
        </p:nvSpPr>
        <p:spPr>
          <a:xfrm>
            <a:off x="6663635" y="3457371"/>
            <a:ext cx="4171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0..*</a:t>
            </a:r>
          </a:p>
        </p:txBody>
      </p:sp>
    </p:spTree>
    <p:extLst>
      <p:ext uri="{BB962C8B-B14F-4D97-AF65-F5344CB8AC3E}">
        <p14:creationId xmlns:p14="http://schemas.microsoft.com/office/powerpoint/2010/main" val="280072907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066F1C-641A-493B-B29F-A5B95B36D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Associação Binária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93DBEE-DC2F-45C6-8BFF-66664F3560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A classe sócio pode ou não relacionar com a classe dependente (0..*). Por outro lado, a classe dependente terá que relacionar obrigatoriamente com a classe Sócio, isso significa 1..1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Neste caso a navegabilidade ocorre em um determinado sentido, portanto, há uma seta em uma das extremidades da associação, identificando o sentido que as informações são transmitidas entre os objetos das classes envolvidas. </a:t>
            </a:r>
          </a:p>
          <a:p>
            <a:endParaRPr lang="pt-BR" dirty="0"/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C0561260-6A66-488C-B1BB-72A6D0840F45}"/>
              </a:ext>
            </a:extLst>
          </p:cNvPr>
          <p:cNvGraphicFramePr>
            <a:graphicFrameLocks noGrp="1"/>
          </p:cNvGraphicFramePr>
          <p:nvPr/>
        </p:nvGraphicFramePr>
        <p:xfrm>
          <a:off x="1633416" y="2872740"/>
          <a:ext cx="2211753" cy="220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1753">
                  <a:extLst>
                    <a:ext uri="{9D8B030D-6E8A-4147-A177-3AD203B41FA5}">
                      <a16:colId xmlns:a16="http://schemas.microsoft.com/office/drawing/2014/main" val="14380629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Sócio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760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Nome</a:t>
                      </a:r>
                    </a:p>
                    <a:p>
                      <a:r>
                        <a:rPr lang="pt-BR" dirty="0"/>
                        <a:t>Telefone</a:t>
                      </a:r>
                    </a:p>
                    <a:p>
                      <a:r>
                        <a:rPr lang="pt-BR" dirty="0"/>
                        <a:t>Endereço</a:t>
                      </a:r>
                    </a:p>
                    <a:p>
                      <a:r>
                        <a:rPr lang="pt-BR" dirty="0"/>
                        <a:t>E-mail</a:t>
                      </a:r>
                    </a:p>
                    <a:p>
                      <a:r>
                        <a:rPr lang="pt-BR" dirty="0"/>
                        <a:t>Data nascimento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85033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Paga()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8303394"/>
                  </a:ext>
                </a:extLst>
              </a:tr>
            </a:tbl>
          </a:graphicData>
        </a:graphic>
      </p:graphicFrame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B65C27B9-841A-48C4-9632-A16262D38199}"/>
              </a:ext>
            </a:extLst>
          </p:cNvPr>
          <p:cNvGraphicFramePr>
            <a:graphicFrameLocks noGrp="1"/>
          </p:cNvGraphicFramePr>
          <p:nvPr/>
        </p:nvGraphicFramePr>
        <p:xfrm>
          <a:off x="7080737" y="2943665"/>
          <a:ext cx="3243385" cy="14263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3385">
                  <a:extLst>
                    <a:ext uri="{9D8B030D-6E8A-4147-A177-3AD203B41FA5}">
                      <a16:colId xmlns:a16="http://schemas.microsoft.com/office/drawing/2014/main" val="788292286"/>
                    </a:ext>
                  </a:extLst>
                </a:gridCol>
              </a:tblGrid>
              <a:tr h="393157">
                <a:tc>
                  <a:txBody>
                    <a:bodyPr/>
                    <a:lstStyle/>
                    <a:p>
                      <a:r>
                        <a:rPr lang="pt-BR" dirty="0"/>
                        <a:t>Dependente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765608"/>
                  </a:ext>
                </a:extLst>
              </a:tr>
              <a:tr h="393157">
                <a:tc>
                  <a:txBody>
                    <a:bodyPr/>
                    <a:lstStyle/>
                    <a:p>
                      <a:r>
                        <a:rPr lang="pt-BR" dirty="0" err="1"/>
                        <a:t>NomeDepdte</a:t>
                      </a:r>
                      <a:endParaRPr lang="pt-BR" dirty="0"/>
                    </a:p>
                    <a:p>
                      <a:r>
                        <a:rPr lang="pt-BR" dirty="0" err="1"/>
                        <a:t>DataNascDepdte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0317559"/>
                  </a:ext>
                </a:extLst>
              </a:tr>
              <a:tr h="393157">
                <a:tc>
                  <a:txBody>
                    <a:bodyPr/>
                    <a:lstStyle/>
                    <a:p>
                      <a:r>
                        <a:rPr lang="pt-BR" dirty="0"/>
                        <a:t>Participa()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901014"/>
                  </a:ext>
                </a:extLst>
              </a:tr>
            </a:tbl>
          </a:graphicData>
        </a:graphic>
      </p:graphicFrame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C4B6C6C-713E-4549-869C-57989A903707}"/>
              </a:ext>
            </a:extLst>
          </p:cNvPr>
          <p:cNvCxnSpPr/>
          <p:nvPr/>
        </p:nvCxnSpPr>
        <p:spPr>
          <a:xfrm>
            <a:off x="3845169" y="3429000"/>
            <a:ext cx="323556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F733D952-4121-4ABD-908F-49D6BFA80AE0}"/>
              </a:ext>
            </a:extLst>
          </p:cNvPr>
          <p:cNvSpPr txBox="1"/>
          <p:nvPr/>
        </p:nvSpPr>
        <p:spPr>
          <a:xfrm>
            <a:off x="4982308" y="3429000"/>
            <a:ext cx="6479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possui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B5FFC56-629A-4857-890C-334C04D0758B}"/>
              </a:ext>
            </a:extLst>
          </p:cNvPr>
          <p:cNvSpPr txBox="1"/>
          <p:nvPr/>
        </p:nvSpPr>
        <p:spPr>
          <a:xfrm>
            <a:off x="6663635" y="3457371"/>
            <a:ext cx="4171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0..*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0307FEF0-B161-44DE-9FB1-90398023638D}"/>
              </a:ext>
            </a:extLst>
          </p:cNvPr>
          <p:cNvCxnSpPr>
            <a:cxnSpLocks/>
          </p:cNvCxnSpPr>
          <p:nvPr/>
        </p:nvCxnSpPr>
        <p:spPr>
          <a:xfrm flipH="1" flipV="1">
            <a:off x="6872186" y="3153508"/>
            <a:ext cx="208551" cy="2754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813E1809-C8F7-42E4-8796-CC135F28F5A5}"/>
              </a:ext>
            </a:extLst>
          </p:cNvPr>
          <p:cNvCxnSpPr>
            <a:cxnSpLocks/>
          </p:cNvCxnSpPr>
          <p:nvPr/>
        </p:nvCxnSpPr>
        <p:spPr>
          <a:xfrm flipH="1">
            <a:off x="6895632" y="3400630"/>
            <a:ext cx="185104" cy="33374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053402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C1101-4B62-48D0-9B31-E86B8347B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Associação Binária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7936DEA-138E-46E2-A40D-39D7DA78CC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No exemplo citado, podemos classificar em UNIDIRECIONAL.</a:t>
            </a:r>
          </a:p>
          <a:p>
            <a:pPr lvl="1"/>
            <a:r>
              <a:rPr lang="pt-BR" dirty="0"/>
              <a:t>Vamos pensar!!!  Num sistema de Venda.</a:t>
            </a:r>
          </a:p>
          <a:p>
            <a:pPr lvl="2"/>
            <a:r>
              <a:rPr lang="pt-BR" dirty="0"/>
              <a:t>Uma nota de venda temos a parte superior onde encontramos alguns dados (atributos) como nome, data da venda, número da venda, forma de pagamento. Classe Venda</a:t>
            </a:r>
          </a:p>
          <a:p>
            <a:pPr lvl="2"/>
            <a:r>
              <a:rPr lang="pt-BR" dirty="0"/>
              <a:t>Mas temos a parte inferior onde encontramos detalhes da venda (outros atributos) quantidade comprada, código do item, valor unitário, valor total por produto...</a:t>
            </a:r>
          </a:p>
          <a:p>
            <a:pPr marL="457200" lvl="2" indent="0">
              <a:buNone/>
            </a:pPr>
            <a:r>
              <a:rPr lang="pt-BR" dirty="0"/>
              <a:t>Como ficaria </a:t>
            </a:r>
            <a:r>
              <a:rPr lang="pt-BR"/>
              <a:t>o diagrama!???</a:t>
            </a:r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Existe também a Associação Bidirecional</a:t>
            </a:r>
          </a:p>
          <a:p>
            <a:pPr lvl="1"/>
            <a:r>
              <a:rPr lang="pt-BR" dirty="0"/>
              <a:t>Faça uma pesquisa rápida sobre associação Bidirecional</a:t>
            </a:r>
          </a:p>
          <a:p>
            <a:pPr lvl="1"/>
            <a:r>
              <a:rPr lang="pt-BR" dirty="0"/>
              <a:t>E cite alguns exemplos.</a:t>
            </a:r>
          </a:p>
        </p:txBody>
      </p:sp>
    </p:spTree>
    <p:extLst>
      <p:ext uri="{BB962C8B-B14F-4D97-AF65-F5344CB8AC3E}">
        <p14:creationId xmlns:p14="http://schemas.microsoft.com/office/powerpoint/2010/main" val="183159694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C1101-4B62-48D0-9B31-E86B8347B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Associação Binária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7936DEA-138E-46E2-A40D-39D7DA78CC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No exemplo citado, podemos classificar em UNIDIRECIONAL.</a:t>
            </a:r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Existe também a Associação Bidirecional</a:t>
            </a:r>
          </a:p>
          <a:p>
            <a:r>
              <a:rPr lang="pt-BR" dirty="0"/>
              <a:t>Acontece quando duas classes se relacionam e ambas podem acessar uma à outra. Ou seja, cada classe possui uma referencia para a outra.</a:t>
            </a:r>
          </a:p>
          <a:p>
            <a:pPr marL="228600" lvl="1" indent="0">
              <a:buNone/>
            </a:pPr>
            <a:endParaRPr lang="pt-BR" dirty="0"/>
          </a:p>
          <a:p>
            <a:pPr marL="228600" lvl="1" indent="0">
              <a:buNone/>
            </a:pPr>
            <a:r>
              <a:rPr lang="pt-BR" dirty="0"/>
              <a:t>Exemplos </a:t>
            </a:r>
          </a:p>
          <a:p>
            <a:pPr marL="228600" lvl="1" indent="0">
              <a:buNone/>
            </a:pPr>
            <a:endParaRPr lang="pt-BR" dirty="0"/>
          </a:p>
          <a:p>
            <a:pPr marL="228600" lvl="1" indent="0">
              <a:buNone/>
            </a:pPr>
            <a:r>
              <a:rPr lang="pt-BR" dirty="0"/>
              <a:t>Professor </a:t>
            </a:r>
            <a:r>
              <a:rPr lang="pt-BR" dirty="0">
                <a:sym typeface="Wingdings" panose="05000000000000000000" pitchFamily="2" charset="2"/>
              </a:rPr>
              <a:t>                   Disciplina</a:t>
            </a:r>
          </a:p>
          <a:p>
            <a:pPr marL="228600" lvl="1" indent="0">
              <a:buNone/>
            </a:pPr>
            <a:r>
              <a:rPr lang="pt-BR" dirty="0">
                <a:sym typeface="Wingdings" panose="05000000000000000000" pitchFamily="2" charset="2"/>
              </a:rPr>
              <a:t>Fornecedor                  Produto</a:t>
            </a:r>
            <a:endParaRPr lang="pt-BR" dirty="0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26EA054C-F50C-443E-9A70-C9E7FF6A2E42}"/>
              </a:ext>
            </a:extLst>
          </p:cNvPr>
          <p:cNvCxnSpPr/>
          <p:nvPr/>
        </p:nvCxnSpPr>
        <p:spPr>
          <a:xfrm>
            <a:off x="1863090" y="5177790"/>
            <a:ext cx="110871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F8DD0BF9-CC42-4EA9-A63E-300CC1A197DD}"/>
              </a:ext>
            </a:extLst>
          </p:cNvPr>
          <p:cNvCxnSpPr/>
          <p:nvPr/>
        </p:nvCxnSpPr>
        <p:spPr>
          <a:xfrm>
            <a:off x="2015490" y="5547360"/>
            <a:ext cx="110871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306072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5E29A7-4A60-46D9-B1E6-0489CEE3E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Associação Binária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09D5D96-BABE-474A-882F-E63BB25910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Envolve exatamente duas classes</a:t>
            </a:r>
            <a:r>
              <a:rPr lang="pt-BR" dirty="0"/>
              <a:t> (por isso “binária”).</a:t>
            </a:r>
          </a:p>
          <a:p>
            <a:r>
              <a:rPr lang="pt-BR" dirty="0"/>
              <a:t>Representada por </a:t>
            </a:r>
            <a:r>
              <a:rPr lang="pt-BR" b="1" dirty="0"/>
              <a:t>uma linha sólida</a:t>
            </a:r>
            <a:r>
              <a:rPr lang="pt-BR" dirty="0"/>
              <a:t> ligando as classes.</a:t>
            </a:r>
          </a:p>
          <a:p>
            <a:r>
              <a:rPr lang="pt-BR" dirty="0"/>
              <a:t>Pode ter </a:t>
            </a:r>
            <a:r>
              <a:rPr lang="pt-BR" b="1" dirty="0"/>
              <a:t>nomes</a:t>
            </a:r>
            <a:r>
              <a:rPr lang="pt-BR" dirty="0"/>
              <a:t> para indicar o papel da associação (possui, tem, realiza, compra...).</a:t>
            </a:r>
          </a:p>
          <a:p>
            <a:r>
              <a:rPr lang="pt-BR" dirty="0"/>
              <a:t>Pode incluir </a:t>
            </a:r>
            <a:r>
              <a:rPr lang="pt-BR" b="1" dirty="0"/>
              <a:t>multiplicidade</a:t>
            </a:r>
            <a:r>
              <a:rPr lang="pt-BR" dirty="0"/>
              <a:t> (cardinalidade) para indicar quantas instâncias de uma classe podem estar associadas a instâncias da outra. (1; 0..*; 1..*)</a:t>
            </a:r>
          </a:p>
          <a:p>
            <a:r>
              <a:rPr lang="pt-BR" dirty="0"/>
              <a:t>Pode ser </a:t>
            </a:r>
            <a:r>
              <a:rPr lang="pt-BR" b="1" dirty="0"/>
              <a:t>unidirecional</a:t>
            </a:r>
            <a:r>
              <a:rPr lang="pt-BR" dirty="0"/>
              <a:t> (navegação em um sentido) ou </a:t>
            </a:r>
            <a:r>
              <a:rPr lang="pt-BR" b="1" dirty="0"/>
              <a:t>bidirecional</a:t>
            </a:r>
            <a:r>
              <a:rPr lang="pt-BR" dirty="0"/>
              <a:t> (navegação nos dois sentidos).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1049913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59488C-80B4-46C8-8721-4FDFE3F63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7EAEF11-04B0-4855-8FBD-F2BBEA602F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No exercício da Imobiliária há associação unitária e binária? Demonstre.</a:t>
            </a:r>
          </a:p>
          <a:p>
            <a:endParaRPr lang="pt-BR" dirty="0"/>
          </a:p>
          <a:p>
            <a:r>
              <a:rPr lang="pt-BR" dirty="0"/>
              <a:t>Analise o exercício da farmácia e monte o diagrama </a:t>
            </a:r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Faça uma pesquisa sobre Associação Ternária ou </a:t>
            </a:r>
            <a:r>
              <a:rPr lang="pt-BR" dirty="0" err="1"/>
              <a:t>N-ária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5829935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5D3A02-380A-41A5-8317-0A71D15BA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Aula dia 18-03-26 -Associação Ternária ou </a:t>
            </a:r>
            <a:r>
              <a:rPr lang="pt-BR" dirty="0" err="1"/>
              <a:t>N-ária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581C9F5-17D0-44BF-A1C3-B44A86C41D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Ternária É um relacionamento que envolve </a:t>
            </a:r>
            <a:r>
              <a:rPr lang="pt-BR" b="1" dirty="0"/>
              <a:t>três entidades ao mesmo tempo</a:t>
            </a:r>
            <a:r>
              <a:rPr lang="pt-BR" dirty="0"/>
              <a:t>.</a:t>
            </a:r>
          </a:p>
          <a:p>
            <a:r>
              <a:rPr lang="pt-BR" dirty="0"/>
              <a:t>São aquelas que conectam mais de duas classes. </a:t>
            </a:r>
          </a:p>
          <a:p>
            <a:r>
              <a:rPr lang="pt-BR" dirty="0"/>
              <a:t>São representada por um losango para onde convergem todas as ligações da associação.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pPr algn="just"/>
            <a:r>
              <a:rPr lang="pt-BR" dirty="0"/>
              <a:t>Observe que um professor pode lecionar no mínimo uma turma e no máximo muitas turmas; uma turma possui no mínimo um professor e no máximo muitos professores. E um professor para lecionar para uma determinada turma utiliza no mínimo uma sala de aula e no máximo muitas 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9D1339A-0E28-40BA-A6A7-21596B5E61E0}"/>
              </a:ext>
            </a:extLst>
          </p:cNvPr>
          <p:cNvSpPr/>
          <p:nvPr/>
        </p:nvSpPr>
        <p:spPr>
          <a:xfrm>
            <a:off x="832207" y="2989780"/>
            <a:ext cx="1982912" cy="6678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Professor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1205AE9-350E-4CA7-9DEE-C681797AE103}"/>
              </a:ext>
            </a:extLst>
          </p:cNvPr>
          <p:cNvSpPr/>
          <p:nvPr/>
        </p:nvSpPr>
        <p:spPr>
          <a:xfrm>
            <a:off x="6614846" y="2988068"/>
            <a:ext cx="1982912" cy="6678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Turma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362B5FFF-D907-4C1B-84FE-8EDF3F1AC524}"/>
              </a:ext>
            </a:extLst>
          </p:cNvPr>
          <p:cNvSpPr/>
          <p:nvPr/>
        </p:nvSpPr>
        <p:spPr>
          <a:xfrm>
            <a:off x="3773236" y="4477820"/>
            <a:ext cx="1982912" cy="6678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Sala de aula</a:t>
            </a:r>
          </a:p>
        </p:txBody>
      </p:sp>
      <p:sp>
        <p:nvSpPr>
          <p:cNvPr id="7" name="Losango 6">
            <a:extLst>
              <a:ext uri="{FF2B5EF4-FFF2-40B4-BE49-F238E27FC236}">
                <a16:creationId xmlns:a16="http://schemas.microsoft.com/office/drawing/2014/main" id="{58A324A0-11A0-48B0-A1AF-AD3AFAD9DF87}"/>
              </a:ext>
            </a:extLst>
          </p:cNvPr>
          <p:cNvSpPr/>
          <p:nvPr/>
        </p:nvSpPr>
        <p:spPr>
          <a:xfrm>
            <a:off x="3705144" y="2944368"/>
            <a:ext cx="2185774" cy="969264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Leciona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7C0B06DC-5113-4636-9825-CD15195E21D1}"/>
              </a:ext>
            </a:extLst>
          </p:cNvPr>
          <p:cNvCxnSpPr/>
          <p:nvPr/>
        </p:nvCxnSpPr>
        <p:spPr>
          <a:xfrm>
            <a:off x="2815119" y="3429000"/>
            <a:ext cx="95811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E9C81D94-1B1B-443F-AE85-16650A9C9C81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5890918" y="3429000"/>
            <a:ext cx="7239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7BD5A332-45DF-46C7-8113-DEBAD7700B45}"/>
              </a:ext>
            </a:extLst>
          </p:cNvPr>
          <p:cNvCxnSpPr/>
          <p:nvPr/>
        </p:nvCxnSpPr>
        <p:spPr>
          <a:xfrm>
            <a:off x="4798031" y="3913632"/>
            <a:ext cx="0" cy="5641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640550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3BE3E7-3606-9C1B-1A95-1B3F320CE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 1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214930C-11B7-7BE2-4385-E37D8680AB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Cenário:</a:t>
            </a:r>
          </a:p>
          <a:p>
            <a:r>
              <a:rPr lang="pt-BR" dirty="0"/>
              <a:t>Sistema de vendas</a:t>
            </a:r>
          </a:p>
          <a:p>
            <a:r>
              <a:rPr lang="pt-BR" dirty="0"/>
              <a:t>Entidades:</a:t>
            </a:r>
          </a:p>
          <a:p>
            <a:r>
              <a:rPr lang="pt-BR" dirty="0"/>
              <a:t>Cliente</a:t>
            </a:r>
          </a:p>
          <a:p>
            <a:r>
              <a:rPr lang="pt-BR" dirty="0"/>
              <a:t>Produto</a:t>
            </a:r>
          </a:p>
          <a:p>
            <a:r>
              <a:rPr lang="pt-BR" dirty="0"/>
              <a:t>Vendedor</a:t>
            </a:r>
          </a:p>
          <a:p>
            <a:r>
              <a:rPr lang="pt-BR" dirty="0"/>
              <a:t>👉 Relação terciária:</a:t>
            </a:r>
            <a:br>
              <a:rPr lang="pt-BR" dirty="0"/>
            </a:b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9820874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1AE067-7BB9-4961-D2B1-242C751A3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2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6417C84-6F6B-B6B2-B5B8-4EB2563B1E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Modele um sistema de:</a:t>
            </a:r>
            <a:br>
              <a:rPr lang="pt-BR" dirty="0"/>
            </a:br>
            <a:r>
              <a:rPr lang="pt-BR" b="1" dirty="0"/>
              <a:t>Hospital</a:t>
            </a:r>
            <a:endParaRPr lang="pt-BR" dirty="0"/>
          </a:p>
          <a:p>
            <a:r>
              <a:rPr lang="pt-BR" dirty="0"/>
              <a:t>Classes:</a:t>
            </a:r>
          </a:p>
          <a:p>
            <a:r>
              <a:rPr lang="pt-BR" dirty="0"/>
              <a:t>Médico</a:t>
            </a:r>
          </a:p>
          <a:p>
            <a:r>
              <a:rPr lang="pt-BR" dirty="0"/>
              <a:t>Paciente</a:t>
            </a:r>
          </a:p>
          <a:p>
            <a:r>
              <a:rPr lang="pt-BR" dirty="0"/>
              <a:t>Procedimento</a:t>
            </a:r>
          </a:p>
          <a:p>
            <a:r>
              <a:rPr lang="pt-BR" dirty="0"/>
              <a:t>👉 Criar:</a:t>
            </a:r>
          </a:p>
          <a:p>
            <a:r>
              <a:rPr lang="pt-BR" dirty="0"/>
              <a:t>Diagrama de classes básico</a:t>
            </a:r>
          </a:p>
          <a:p>
            <a:r>
              <a:rPr lang="pt-BR" dirty="0"/>
              <a:t>Um relacionamento terciário (</a:t>
            </a:r>
            <a:r>
              <a:rPr lang="pt-BR" dirty="0" err="1"/>
              <a:t>ex</a:t>
            </a:r>
            <a:r>
              <a:rPr lang="pt-BR" dirty="0"/>
              <a:t>: atendimento)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3471662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500578-6D84-4F10-8AAC-D3DEB95A6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Associação Ternária ou </a:t>
            </a:r>
            <a:r>
              <a:rPr lang="pt-BR" dirty="0" err="1"/>
              <a:t>N-ária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040BF1-980D-43B6-B1E5-C7A3EEB3DD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Outros exemplos</a:t>
            </a:r>
          </a:p>
          <a:p>
            <a:r>
              <a:rPr lang="pt-BR" dirty="0"/>
              <a:t>Cidade </a:t>
            </a:r>
            <a:r>
              <a:rPr lang="pt-BR" dirty="0">
                <a:sym typeface="Wingdings" panose="05000000000000000000" pitchFamily="2" charset="2"/>
              </a:rPr>
              <a:t> Produto - Distribuição</a:t>
            </a:r>
          </a:p>
          <a:p>
            <a:endParaRPr lang="pt-BR" dirty="0">
              <a:sym typeface="Wingdings" panose="05000000000000000000" pitchFamily="2" charset="2"/>
            </a:endParaRPr>
          </a:p>
          <a:p>
            <a:endParaRPr lang="pt-BR" dirty="0">
              <a:sym typeface="Wingdings" panose="05000000000000000000" pitchFamily="2" charset="2"/>
            </a:endParaRPr>
          </a:p>
          <a:p>
            <a:r>
              <a:rPr lang="pt-BR" dirty="0">
                <a:sym typeface="Wingdings" panose="05000000000000000000" pitchFamily="2" charset="2"/>
              </a:rPr>
              <a:t>Fornecedor  Peça - Projeto</a:t>
            </a:r>
          </a:p>
          <a:p>
            <a:endParaRPr lang="pt-BR" dirty="0">
              <a:sym typeface="Wingdings" panose="05000000000000000000" pitchFamily="2" charset="2"/>
            </a:endParaRPr>
          </a:p>
          <a:p>
            <a:endParaRPr lang="pt-BR" dirty="0">
              <a:sym typeface="Wingdings" panose="05000000000000000000" pitchFamily="2" charset="2"/>
            </a:endParaRPr>
          </a:p>
          <a:p>
            <a:r>
              <a:rPr lang="pt-BR" dirty="0">
                <a:sym typeface="Wingdings" panose="05000000000000000000" pitchFamily="2" charset="2"/>
              </a:rPr>
              <a:t>Pense pelo menos mais 3 exemplos: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8635446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F16C38-8FB8-4CB1-8F18-91EA3D738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Associação Agregação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50E525E-EEA1-46FD-AD2D-B8387A8D54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767" y="1888440"/>
            <a:ext cx="10652760" cy="4901184"/>
          </a:xfrm>
        </p:spPr>
        <p:txBody>
          <a:bodyPr/>
          <a:lstStyle/>
          <a:p>
            <a:r>
              <a:rPr lang="pt-BR" dirty="0"/>
              <a:t>É uma associação não forte. Pois a classe Empresa pode existir mesmo que não haja a classe Setor.</a:t>
            </a:r>
          </a:p>
          <a:p>
            <a:endParaRPr lang="pt-BR" dirty="0"/>
          </a:p>
          <a:p>
            <a:r>
              <a:rPr lang="pt-BR" dirty="0"/>
              <a:t>(◇ = losango vazio) </a:t>
            </a:r>
          </a:p>
          <a:p>
            <a:endParaRPr lang="pt-BR" dirty="0"/>
          </a:p>
          <a:p>
            <a:endParaRPr lang="pt-BR" dirty="0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DBAEED1D-B970-44D0-B75F-251EBB78017C}"/>
              </a:ext>
            </a:extLst>
          </p:cNvPr>
          <p:cNvCxnSpPr/>
          <p:nvPr/>
        </p:nvCxnSpPr>
        <p:spPr>
          <a:xfrm>
            <a:off x="6182525" y="1047963"/>
            <a:ext cx="239045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Losango 5">
            <a:extLst>
              <a:ext uri="{FF2B5EF4-FFF2-40B4-BE49-F238E27FC236}">
                <a16:creationId xmlns:a16="http://schemas.microsoft.com/office/drawing/2014/main" id="{199FD82A-EE90-4CEE-9D57-B684B8A02CA1}"/>
              </a:ext>
            </a:extLst>
          </p:cNvPr>
          <p:cNvSpPr/>
          <p:nvPr/>
        </p:nvSpPr>
        <p:spPr>
          <a:xfrm>
            <a:off x="5329770" y="858251"/>
            <a:ext cx="852755" cy="379425"/>
          </a:xfrm>
          <a:prstGeom prst="diamond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28FAF243-6EDB-474C-8CD8-99E985E16547}"/>
              </a:ext>
            </a:extLst>
          </p:cNvPr>
          <p:cNvSpPr/>
          <p:nvPr/>
        </p:nvSpPr>
        <p:spPr>
          <a:xfrm>
            <a:off x="2178120" y="3562472"/>
            <a:ext cx="2352782" cy="7294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Empresa</a:t>
            </a:r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4DB756FC-7BBB-4F58-B287-CC1FA6B7B358}"/>
              </a:ext>
            </a:extLst>
          </p:cNvPr>
          <p:cNvCxnSpPr/>
          <p:nvPr/>
        </p:nvCxnSpPr>
        <p:spPr>
          <a:xfrm>
            <a:off x="5383657" y="3830542"/>
            <a:ext cx="239045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Losango 8">
            <a:extLst>
              <a:ext uri="{FF2B5EF4-FFF2-40B4-BE49-F238E27FC236}">
                <a16:creationId xmlns:a16="http://schemas.microsoft.com/office/drawing/2014/main" id="{2A6CD396-3815-487A-A8DF-342289E0F166}"/>
              </a:ext>
            </a:extLst>
          </p:cNvPr>
          <p:cNvSpPr/>
          <p:nvPr/>
        </p:nvSpPr>
        <p:spPr>
          <a:xfrm>
            <a:off x="4530902" y="3640830"/>
            <a:ext cx="852755" cy="379425"/>
          </a:xfrm>
          <a:prstGeom prst="diamond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ACF9C93F-A623-45F3-93FE-DD7DD0955072}"/>
              </a:ext>
            </a:extLst>
          </p:cNvPr>
          <p:cNvSpPr/>
          <p:nvPr/>
        </p:nvSpPr>
        <p:spPr>
          <a:xfrm>
            <a:off x="7313486" y="3465809"/>
            <a:ext cx="2352782" cy="7294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Departamento</a:t>
            </a:r>
          </a:p>
        </p:txBody>
      </p:sp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5B6260AF-78E1-46D2-A90D-D9E9108597B2}"/>
              </a:ext>
            </a:extLst>
          </p:cNvPr>
          <p:cNvSpPr/>
          <p:nvPr/>
        </p:nvSpPr>
        <p:spPr>
          <a:xfrm>
            <a:off x="8568646" y="4243222"/>
            <a:ext cx="1112281" cy="885199"/>
          </a:xfrm>
          <a:custGeom>
            <a:avLst/>
            <a:gdLst>
              <a:gd name="connsiteX0" fmla="*/ 0 w 1112281"/>
              <a:gd name="connsiteY0" fmla="*/ 0 h 885199"/>
              <a:gd name="connsiteX1" fmla="*/ 215757 w 1112281"/>
              <a:gd name="connsiteY1" fmla="*/ 739739 h 885199"/>
              <a:gd name="connsiteX2" fmla="*/ 924674 w 1112281"/>
              <a:gd name="connsiteY2" fmla="*/ 863029 h 885199"/>
              <a:gd name="connsiteX3" fmla="*/ 1109609 w 1112281"/>
              <a:gd name="connsiteY3" fmla="*/ 883578 h 885199"/>
              <a:gd name="connsiteX4" fmla="*/ 1017141 w 1112281"/>
              <a:gd name="connsiteY4" fmla="*/ 842481 h 885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2281" h="885199">
                <a:moveTo>
                  <a:pt x="0" y="0"/>
                </a:moveTo>
                <a:cubicBezTo>
                  <a:pt x="30822" y="297950"/>
                  <a:pt x="61645" y="595901"/>
                  <a:pt x="215757" y="739739"/>
                </a:cubicBezTo>
                <a:cubicBezTo>
                  <a:pt x="369869" y="883577"/>
                  <a:pt x="775699" y="839056"/>
                  <a:pt x="924674" y="863029"/>
                </a:cubicBezTo>
                <a:cubicBezTo>
                  <a:pt x="1073649" y="887002"/>
                  <a:pt x="1094198" y="887003"/>
                  <a:pt x="1109609" y="883578"/>
                </a:cubicBezTo>
                <a:cubicBezTo>
                  <a:pt x="1125020" y="880153"/>
                  <a:pt x="1071080" y="861317"/>
                  <a:pt x="1017141" y="842481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4432303-1AFE-450E-96B4-37EEFB89E6DF}"/>
              </a:ext>
            </a:extLst>
          </p:cNvPr>
          <p:cNvSpPr txBox="1"/>
          <p:nvPr/>
        </p:nvSpPr>
        <p:spPr>
          <a:xfrm>
            <a:off x="9411127" y="4930666"/>
            <a:ext cx="755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parte</a:t>
            </a:r>
          </a:p>
        </p:txBody>
      </p:sp>
      <p:sp>
        <p:nvSpPr>
          <p:cNvPr id="13" name="Forma Livre: Forma 12">
            <a:extLst>
              <a:ext uri="{FF2B5EF4-FFF2-40B4-BE49-F238E27FC236}">
                <a16:creationId xmlns:a16="http://schemas.microsoft.com/office/drawing/2014/main" id="{B53E140C-07C9-43A6-B486-5B52A5907BF1}"/>
              </a:ext>
            </a:extLst>
          </p:cNvPr>
          <p:cNvSpPr/>
          <p:nvPr/>
        </p:nvSpPr>
        <p:spPr>
          <a:xfrm>
            <a:off x="3102134" y="4304867"/>
            <a:ext cx="689028" cy="832756"/>
          </a:xfrm>
          <a:custGeom>
            <a:avLst/>
            <a:gdLst>
              <a:gd name="connsiteX0" fmla="*/ 82853 w 689028"/>
              <a:gd name="connsiteY0" fmla="*/ 0 h 832756"/>
              <a:gd name="connsiteX1" fmla="*/ 52031 w 689028"/>
              <a:gd name="connsiteY1" fmla="*/ 739739 h 832756"/>
              <a:gd name="connsiteX2" fmla="*/ 689028 w 689028"/>
              <a:gd name="connsiteY2" fmla="*/ 821933 h 832756"/>
              <a:gd name="connsiteX3" fmla="*/ 689028 w 689028"/>
              <a:gd name="connsiteY3" fmla="*/ 821933 h 832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9028" h="832756">
                <a:moveTo>
                  <a:pt x="82853" y="0"/>
                </a:moveTo>
                <a:cubicBezTo>
                  <a:pt x="16927" y="301375"/>
                  <a:pt x="-48998" y="602750"/>
                  <a:pt x="52031" y="739739"/>
                </a:cubicBezTo>
                <a:cubicBezTo>
                  <a:pt x="153060" y="876728"/>
                  <a:pt x="689028" y="821933"/>
                  <a:pt x="689028" y="821933"/>
                </a:cubicBezTo>
                <a:lnTo>
                  <a:pt x="689028" y="821933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CA857AEC-81BD-4FE7-AAB8-ED985CDC72CD}"/>
              </a:ext>
            </a:extLst>
          </p:cNvPr>
          <p:cNvSpPr txBox="1"/>
          <p:nvPr/>
        </p:nvSpPr>
        <p:spPr>
          <a:xfrm>
            <a:off x="3758322" y="4943755"/>
            <a:ext cx="679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todo</a:t>
            </a:r>
          </a:p>
        </p:txBody>
      </p:sp>
    </p:spTree>
    <p:extLst>
      <p:ext uri="{BB962C8B-B14F-4D97-AF65-F5344CB8AC3E}">
        <p14:creationId xmlns:p14="http://schemas.microsoft.com/office/powerpoint/2010/main" val="188350730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0C0103-A816-2587-DB8F-1EC50CD71C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Exemplo clássico</a:t>
            </a:r>
          </a:p>
          <a:p>
            <a:r>
              <a:rPr lang="pt-BR" dirty="0"/>
              <a:t>Turma ◇           Aluno</a:t>
            </a:r>
          </a:p>
          <a:p>
            <a:r>
              <a:rPr lang="pt-BR" dirty="0"/>
              <a:t>👉 Uma turma tem alunos</a:t>
            </a:r>
            <a:br>
              <a:rPr lang="pt-BR" dirty="0"/>
            </a:br>
            <a:r>
              <a:rPr lang="pt-BR" dirty="0"/>
              <a:t>👉 MAS o aluno pode existir sem a turma</a:t>
            </a:r>
          </a:p>
          <a:p>
            <a:endParaRPr lang="pt-BR" dirty="0"/>
          </a:p>
          <a:p>
            <a:endParaRPr lang="pt-BR" dirty="0"/>
          </a:p>
          <a:p>
            <a:r>
              <a:rPr lang="pt-BR" b="1" dirty="0"/>
              <a:t>Pergunta-chave (para fixação)</a:t>
            </a:r>
          </a:p>
          <a:p>
            <a:r>
              <a:rPr lang="pt-BR" dirty="0"/>
              <a:t>“Se eu apagar o ‘todo’, a ‘parte’ continua existindo?”</a:t>
            </a:r>
          </a:p>
          <a:p>
            <a:r>
              <a:rPr lang="pt-BR" b="1" dirty="0"/>
              <a:t>Sim → Agregação</a:t>
            </a:r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D88E6E91-D04C-0B5D-5A30-3214F45E0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213" y="284163"/>
            <a:ext cx="10652125" cy="968375"/>
          </a:xfrm>
        </p:spPr>
        <p:txBody>
          <a:bodyPr/>
          <a:lstStyle/>
          <a:p>
            <a:r>
              <a:rPr lang="pt-BR" dirty="0"/>
              <a:t>Associação Agregação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BA02A36D-4C07-45FA-BCBC-1F789A5DA384}"/>
              </a:ext>
            </a:extLst>
          </p:cNvPr>
          <p:cNvCxnSpPr/>
          <p:nvPr/>
        </p:nvCxnSpPr>
        <p:spPr>
          <a:xfrm>
            <a:off x="1633591" y="2054831"/>
            <a:ext cx="57535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825830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2E4596-396D-B04A-3C20-93A93C3D7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1DFE730-FD32-E3CE-1B5A-17CCA07EA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Biblioteca </a:t>
            </a:r>
            <a:r>
              <a:rPr lang="pt-BR" b="1" dirty="0"/>
              <a:t>◇</a:t>
            </a:r>
            <a:r>
              <a:rPr lang="pt-BR" dirty="0"/>
              <a:t>— Livro</a:t>
            </a:r>
            <a:br>
              <a:rPr lang="pt-BR" dirty="0"/>
            </a:br>
            <a:r>
              <a:rPr lang="pt-BR" dirty="0"/>
              <a:t>👉 Agregação (livro existe fora da biblioteca)</a:t>
            </a:r>
          </a:p>
          <a:p>
            <a:endParaRPr lang="pt-BR" dirty="0"/>
          </a:p>
          <a:p>
            <a:r>
              <a:rPr lang="pt-BR" b="1" dirty="0"/>
              <a:t>Time ◇— Jogador</a:t>
            </a:r>
          </a:p>
          <a:p>
            <a:r>
              <a:rPr lang="pt-BR" dirty="0"/>
              <a:t>Time tem jogadores</a:t>
            </a:r>
            <a:br>
              <a:rPr lang="pt-BR" dirty="0"/>
            </a:br>
            <a:r>
              <a:rPr lang="pt-BR" dirty="0"/>
              <a:t>✔ Agregação</a:t>
            </a:r>
            <a:br>
              <a:rPr lang="pt-BR" dirty="0"/>
            </a:br>
            <a:r>
              <a:rPr lang="pt-BR" dirty="0"/>
              <a:t>👉 Jogador pode trocar de time</a:t>
            </a:r>
          </a:p>
          <a:p>
            <a:endParaRPr lang="pt-BR" dirty="0"/>
          </a:p>
          <a:p>
            <a:r>
              <a:rPr lang="pt-BR" dirty="0"/>
              <a:t>Carrinho ◇— Produto</a:t>
            </a:r>
            <a:br>
              <a:rPr lang="pt-BR" dirty="0"/>
            </a:br>
            <a:r>
              <a:rPr lang="pt-BR" dirty="0"/>
              <a:t>✔ Agregação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0699540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68DE77-C439-4A52-AE17-D787F8AC3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6593"/>
            <a:ext cx="2231239" cy="600114"/>
          </a:xfrm>
        </p:spPr>
        <p:txBody>
          <a:bodyPr/>
          <a:lstStyle/>
          <a:p>
            <a:r>
              <a:rPr lang="pt-BR" dirty="0"/>
              <a:t>Exercício: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93951CC-69B9-4235-9F05-2E247E6C6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767" y="583521"/>
            <a:ext cx="11683463" cy="5991015"/>
          </a:xfrm>
        </p:spPr>
        <p:txBody>
          <a:bodyPr>
            <a:normAutofit fontScale="85000" lnSpcReduction="20000"/>
          </a:bodyPr>
          <a:lstStyle/>
          <a:p>
            <a:r>
              <a:rPr lang="pt-BR" dirty="0"/>
              <a:t>A empresa de embalagens necessita de um sistema para controlar a produção e o setor administrativo.</a:t>
            </a:r>
          </a:p>
          <a:p>
            <a:r>
              <a:rPr lang="pt-BR" dirty="0"/>
              <a:t>Em uma primeira conversa com o proprietário, ficou claro que o atual sistema não atende as necessidades da empresa e sistemas paralelos foram desenvolvidos para amenizar as dificuldades e deficiências do atual sistema.</a:t>
            </a:r>
          </a:p>
          <a:p>
            <a:r>
              <a:rPr lang="pt-BR" dirty="0"/>
              <a:t>Senhor Emilio comentou que o sistema a ser desenvolvido necessita fazer um controle da produção, como controle de matéria prima e produtos acabados, bem como a questão de impressão. </a:t>
            </a:r>
          </a:p>
          <a:p>
            <a:r>
              <a:rPr lang="pt-BR" dirty="0"/>
              <a:t>Quando questionado de reutilizar o sistema, não existe nenhuma possibilidade, pois segundo ele, o sistema apresenta muitas falhas e é totalmente desatualizado, portanto um novo sistema deve ser desenvolvido.</a:t>
            </a:r>
          </a:p>
          <a:p>
            <a:r>
              <a:rPr lang="pt-BR" dirty="0"/>
              <a:t>Ao conversar com o Murilo (responsável pela produção) é necessário um sistema que ao cadastrar o pedido no setor administrativo gere uma ordem de serviço o qual deve ser apresentado na tela do monitor, o qual ao dar duplo clique gere a impressão das etiquetas para serem coladas nos fardos (pacotes) acabados. Cada vez que um pedido é finalizado este deve ser pesado e digitado o peso total, também deve ser informado o tipo de embalagem (palete, tubo, sacaria, </a:t>
            </a:r>
            <a:r>
              <a:rPr lang="pt-BR" dirty="0" err="1"/>
              <a:t>etc</a:t>
            </a:r>
            <a:r>
              <a:rPr lang="pt-BR" dirty="0"/>
              <a:t>) o qual o sistema deverá descontar o peso do mesmo e apresentar um relatório final com o peso líquido. O sistema deve ainda comunicar-se com o equipamento de impressão, para que este gerar etiquetas, apresentar mensagens referentes à impressão e tinta.</a:t>
            </a:r>
          </a:p>
          <a:p>
            <a:r>
              <a:rPr lang="pt-BR" dirty="0"/>
              <a:t>Já na parte administrativa, segundo a Adriana; ”temos grande dificuldade de apresentar um orçamento devido aos infinitos fatores que pode influenciar no preço final”. Cadastro que deverão ser feitos: fornecedores, funcionários, aparas (produtos que serão reaproveitados), transportadora. </a:t>
            </a:r>
          </a:p>
          <a:p>
            <a:r>
              <a:rPr lang="pt-BR" dirty="0"/>
              <a:t>Já o senhor Emilio quer ter um controle mais profundo da empresa e ter em mãos alguns relatórios como: retorno de aparas; controle de matéria prima (compras), estoque, histórico de compra por cliente; relação de recebimentos, folha de pagamento, controle de férias. O sistema deve ainda possibilitar fazer consultas simples por celular como: pedido finalizado, pedidos em atraso, novos pedidos e solicitação de orçamentos.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378160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DC16DA-6EB0-43A0-B510-0D79567F0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Analisando o Case faça: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4461D98-E56E-41D2-93BD-582145A6AC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1 - ) Defina quem seriam os atores do sistema</a:t>
            </a:r>
          </a:p>
          <a:p>
            <a:pPr marL="0" indent="0">
              <a:buNone/>
            </a:pPr>
            <a:r>
              <a:rPr lang="pt-BR" dirty="0"/>
              <a:t>2-) Faça o diagrama de Caso de USO</a:t>
            </a:r>
          </a:p>
          <a:p>
            <a:pPr marL="0" indent="0">
              <a:buNone/>
            </a:pPr>
            <a:r>
              <a:rPr lang="pt-BR" dirty="0"/>
              <a:t>3-) Cite pelo menos 5 classes que haveriam no sistema a ser desenvolvido</a:t>
            </a:r>
          </a:p>
          <a:p>
            <a:pPr marL="0" indent="0">
              <a:buNone/>
            </a:pPr>
            <a:r>
              <a:rPr lang="pt-BR" dirty="0"/>
              <a:t>4-) Mostre pelo menos uma classe com herança</a:t>
            </a:r>
          </a:p>
          <a:p>
            <a:pPr marL="0" indent="0">
              <a:buNone/>
            </a:pPr>
            <a:r>
              <a:rPr lang="pt-BR" dirty="0"/>
              <a:t>5-) Mostre pelo menos 1 classe que poderia ter uma relacionamento Unitário</a:t>
            </a:r>
          </a:p>
          <a:p>
            <a:pPr marL="0" indent="0">
              <a:buNone/>
            </a:pPr>
            <a:r>
              <a:rPr lang="pt-BR" dirty="0"/>
              <a:t>6-) Verifique se há uma associação Binária unidirecional e bidirecional</a:t>
            </a:r>
          </a:p>
          <a:p>
            <a:pPr marL="0" indent="0">
              <a:buNone/>
            </a:pPr>
            <a:r>
              <a:rPr lang="pt-BR" dirty="0"/>
              <a:t>7-) Analise se há associação </a:t>
            </a:r>
            <a:r>
              <a:rPr lang="pt-BR" dirty="0" err="1"/>
              <a:t>Tenária</a:t>
            </a:r>
            <a:r>
              <a:rPr lang="pt-BR" dirty="0"/>
              <a:t>, e demonstre</a:t>
            </a:r>
          </a:p>
          <a:p>
            <a:pPr marL="0" indent="0">
              <a:buNone/>
            </a:pPr>
            <a:r>
              <a:rPr lang="pt-BR" dirty="0"/>
              <a:t>8-) Analise se há associação de Agregação, e demonstre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5030159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5A24E9-1219-737A-9FB8-38A0DA753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Aula 01/04/2026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C474AD8-24F8-4507-817C-673E89EAC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Revisão Rápida:</a:t>
            </a:r>
          </a:p>
          <a:p>
            <a:r>
              <a:rPr lang="pt-BR" dirty="0"/>
              <a:t>Diagrama de Classe é composta por: Classe, Atributos, Métodos, Relacionamento entre Classe</a:t>
            </a:r>
          </a:p>
          <a:p>
            <a:endParaRPr lang="pt-BR" dirty="0"/>
          </a:p>
          <a:p>
            <a:r>
              <a:rPr lang="pt-BR" dirty="0"/>
              <a:t>Relacionamentos entre as Classes:</a:t>
            </a:r>
          </a:p>
          <a:p>
            <a:pPr lvl="1"/>
            <a:r>
              <a:rPr lang="pt-BR" dirty="0"/>
              <a:t>1. Herança: herda as características da classe pai. Ex.: Pessoa – funcionário, cliente </a:t>
            </a:r>
          </a:p>
          <a:p>
            <a:pPr lvl="1"/>
            <a:r>
              <a:rPr lang="pt-BR" dirty="0"/>
              <a:t>2. Relacionamentos:</a:t>
            </a:r>
          </a:p>
          <a:p>
            <a:pPr lvl="2"/>
            <a:r>
              <a:rPr lang="pt-BR" dirty="0"/>
              <a:t>Unitário:</a:t>
            </a:r>
          </a:p>
          <a:p>
            <a:pPr lvl="2"/>
            <a:r>
              <a:rPr lang="pt-BR" dirty="0"/>
              <a:t>Binário</a:t>
            </a:r>
          </a:p>
          <a:p>
            <a:pPr lvl="2"/>
            <a:r>
              <a:rPr lang="pt-BR" dirty="0"/>
              <a:t>Ternário</a:t>
            </a:r>
          </a:p>
          <a:p>
            <a:pPr lvl="2"/>
            <a:endParaRPr lang="pt-BR" dirty="0"/>
          </a:p>
          <a:p>
            <a:pPr lvl="1"/>
            <a:r>
              <a:rPr lang="pt-BR" dirty="0"/>
              <a:t>Associação por Agregação– Relacionamento não forte</a:t>
            </a:r>
          </a:p>
          <a:p>
            <a:pPr lvl="1"/>
            <a:endParaRPr lang="pt-BR" dirty="0"/>
          </a:p>
          <a:p>
            <a:pPr lvl="1"/>
            <a:r>
              <a:rPr lang="pt-BR" dirty="0"/>
              <a:t>2.  Composição –Vamos estudar Hoje</a:t>
            </a:r>
          </a:p>
          <a:p>
            <a:pPr lvl="1"/>
            <a:endParaRPr lang="pt-BR" dirty="0"/>
          </a:p>
          <a:p>
            <a:pPr lvl="1"/>
            <a:r>
              <a:rPr lang="pt-BR" dirty="0"/>
              <a:t>3. Dependência – Vamos estudar hoje </a:t>
            </a:r>
          </a:p>
          <a:p>
            <a:endParaRPr lang="pt-BR" dirty="0"/>
          </a:p>
          <a:p>
            <a:endParaRPr lang="pt-BR" dirty="0"/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7437020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F16C38-8FB8-4CB1-8F18-91EA3D738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98377"/>
          </a:xfrm>
          <a:solidFill>
            <a:schemeClr val="accent2"/>
          </a:solidFill>
        </p:spPr>
        <p:txBody>
          <a:bodyPr/>
          <a:lstStyle/>
          <a:p>
            <a:r>
              <a:rPr lang="pt-BR" dirty="0"/>
              <a:t>Associação Composição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50E525E-EEA1-46FD-AD2D-B8387A8D54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768" y="1248159"/>
            <a:ext cx="8143211" cy="5028407"/>
          </a:xfrm>
        </p:spPr>
        <p:txBody>
          <a:bodyPr>
            <a:noAutofit/>
          </a:bodyPr>
          <a:lstStyle/>
          <a:p>
            <a:r>
              <a:rPr lang="pt-BR" sz="2000" dirty="0"/>
              <a:t>– É uma variante semanticamente mais “forte” da agregação</a:t>
            </a:r>
          </a:p>
          <a:p>
            <a:r>
              <a:rPr lang="pt-BR" sz="2000" dirty="0"/>
              <a:t>– Os objetos “parte” só podem pertencer a um único objeto “todo” e têm o seu tempo de vida coincidente com o dele</a:t>
            </a:r>
          </a:p>
          <a:p>
            <a:endParaRPr lang="pt-BR" sz="2000" dirty="0"/>
          </a:p>
          <a:p>
            <a:r>
              <a:rPr lang="pt-BR" sz="2000" dirty="0"/>
              <a:t>                                         1                                                   1</a:t>
            </a:r>
          </a:p>
          <a:p>
            <a:endParaRPr lang="pt-BR" sz="2000" dirty="0"/>
          </a:p>
          <a:p>
            <a:endParaRPr lang="pt-BR" sz="2000" dirty="0"/>
          </a:p>
          <a:p>
            <a:endParaRPr lang="pt-BR" sz="2000" dirty="0"/>
          </a:p>
          <a:p>
            <a:endParaRPr lang="pt-BR" sz="2000" dirty="0"/>
          </a:p>
          <a:p>
            <a:endParaRPr lang="pt-BR" sz="2000" dirty="0"/>
          </a:p>
          <a:p>
            <a:r>
              <a:rPr lang="pt-BR" sz="2000" dirty="0"/>
              <a:t>Quando o “todo” morre todas as suas “partes” também morrem</a:t>
            </a:r>
          </a:p>
          <a:p>
            <a:endParaRPr lang="pt-BR" sz="2000" dirty="0"/>
          </a:p>
          <a:p>
            <a:endParaRPr lang="pt-BR" sz="2000" dirty="0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DBAEED1D-B970-44D0-B75F-251EBB78017C}"/>
              </a:ext>
            </a:extLst>
          </p:cNvPr>
          <p:cNvCxnSpPr/>
          <p:nvPr/>
        </p:nvCxnSpPr>
        <p:spPr>
          <a:xfrm>
            <a:off x="6182525" y="581434"/>
            <a:ext cx="239045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Losango 5">
            <a:extLst>
              <a:ext uri="{FF2B5EF4-FFF2-40B4-BE49-F238E27FC236}">
                <a16:creationId xmlns:a16="http://schemas.microsoft.com/office/drawing/2014/main" id="{199FD82A-EE90-4CEE-9D57-B684B8A02CA1}"/>
              </a:ext>
            </a:extLst>
          </p:cNvPr>
          <p:cNvSpPr/>
          <p:nvPr/>
        </p:nvSpPr>
        <p:spPr>
          <a:xfrm>
            <a:off x="5329770" y="391722"/>
            <a:ext cx="852755" cy="379425"/>
          </a:xfrm>
          <a:prstGeom prst="diamond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28FAF243-6EDB-474C-8CD8-99E985E16547}"/>
              </a:ext>
            </a:extLst>
          </p:cNvPr>
          <p:cNvSpPr/>
          <p:nvPr/>
        </p:nvSpPr>
        <p:spPr>
          <a:xfrm>
            <a:off x="815858" y="3319879"/>
            <a:ext cx="2352782" cy="7294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Notebook</a:t>
            </a:r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4DB756FC-7BBB-4F58-B287-CC1FA6B7B358}"/>
              </a:ext>
            </a:extLst>
          </p:cNvPr>
          <p:cNvCxnSpPr/>
          <p:nvPr/>
        </p:nvCxnSpPr>
        <p:spPr>
          <a:xfrm>
            <a:off x="4021395" y="3587949"/>
            <a:ext cx="239045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Losango 8">
            <a:extLst>
              <a:ext uri="{FF2B5EF4-FFF2-40B4-BE49-F238E27FC236}">
                <a16:creationId xmlns:a16="http://schemas.microsoft.com/office/drawing/2014/main" id="{2A6CD396-3815-487A-A8DF-342289E0F166}"/>
              </a:ext>
            </a:extLst>
          </p:cNvPr>
          <p:cNvSpPr/>
          <p:nvPr/>
        </p:nvSpPr>
        <p:spPr>
          <a:xfrm>
            <a:off x="3168640" y="3398237"/>
            <a:ext cx="852755" cy="379425"/>
          </a:xfrm>
          <a:prstGeom prst="diamond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ACF9C93F-A623-45F3-93FE-DD7DD0955072}"/>
              </a:ext>
            </a:extLst>
          </p:cNvPr>
          <p:cNvSpPr/>
          <p:nvPr/>
        </p:nvSpPr>
        <p:spPr>
          <a:xfrm>
            <a:off x="5951224" y="3223216"/>
            <a:ext cx="2352782" cy="7294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Teclado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BF6715D-FA40-44DA-BFF6-FAE2AE7E1F9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000" t="77112" r="26205" b="15281"/>
          <a:stretch/>
        </p:blipFill>
        <p:spPr>
          <a:xfrm>
            <a:off x="3790538" y="4759521"/>
            <a:ext cx="2852167" cy="72946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D08E984E-3E61-5F84-A3F0-8508B6BBF7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2069" y="2238209"/>
            <a:ext cx="2883045" cy="1349740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1E79C4C1-6305-EC52-8D90-3479401BB6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9302" y="4402985"/>
            <a:ext cx="3839111" cy="108600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1933365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F16C38-8FB8-4CB1-8F18-91EA3D738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83464"/>
            <a:ext cx="10652760" cy="1463274"/>
          </a:xfrm>
        </p:spPr>
        <p:txBody>
          <a:bodyPr/>
          <a:lstStyle/>
          <a:p>
            <a:r>
              <a:rPr lang="pt-BR" dirty="0"/>
              <a:t>Associação Composição</a:t>
            </a:r>
            <a:br>
              <a:rPr lang="pt-BR" sz="1100" dirty="0"/>
            </a:br>
            <a:br>
              <a:rPr lang="pt-BR" sz="1100" dirty="0"/>
            </a:br>
            <a:r>
              <a:rPr lang="pt-BR" sz="2000" dirty="0"/>
              <a:t>Exemplos:</a:t>
            </a:r>
            <a:endParaRPr lang="pt-BR" dirty="0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DBAEED1D-B970-44D0-B75F-251EBB78017C}"/>
              </a:ext>
            </a:extLst>
          </p:cNvPr>
          <p:cNvCxnSpPr/>
          <p:nvPr/>
        </p:nvCxnSpPr>
        <p:spPr>
          <a:xfrm>
            <a:off x="6182525" y="1047963"/>
            <a:ext cx="239045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Losango 5">
            <a:extLst>
              <a:ext uri="{FF2B5EF4-FFF2-40B4-BE49-F238E27FC236}">
                <a16:creationId xmlns:a16="http://schemas.microsoft.com/office/drawing/2014/main" id="{199FD82A-EE90-4CEE-9D57-B684B8A02CA1}"/>
              </a:ext>
            </a:extLst>
          </p:cNvPr>
          <p:cNvSpPr/>
          <p:nvPr/>
        </p:nvSpPr>
        <p:spPr>
          <a:xfrm>
            <a:off x="5329770" y="858251"/>
            <a:ext cx="852755" cy="379425"/>
          </a:xfrm>
          <a:prstGeom prst="diamond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5987E323-E24E-4DBB-B275-86D64B92CCC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9607" t="44103" r="30718" b="34560"/>
          <a:stretch/>
        </p:blipFill>
        <p:spPr>
          <a:xfrm>
            <a:off x="879231" y="2508738"/>
            <a:ext cx="2543908" cy="1463274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95B26C5D-B37E-447A-83B3-9549D986AEC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803" t="60684" r="6650" b="17979"/>
          <a:stretch/>
        </p:blipFill>
        <p:spPr>
          <a:xfrm>
            <a:off x="4787479" y="2321525"/>
            <a:ext cx="2790092" cy="1463274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2837DE81-8758-4285-A1B0-964BB39C126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5350" t="47521" r="22103" b="23077"/>
          <a:stretch/>
        </p:blipFill>
        <p:spPr>
          <a:xfrm>
            <a:off x="8522676" y="2232189"/>
            <a:ext cx="2790093" cy="2016371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EEBEA961-D3D2-4F0F-8CC0-BDA9BD4B4AF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8530" t="26428" r="28257" b="56752"/>
          <a:stretch/>
        </p:blipFill>
        <p:spPr>
          <a:xfrm>
            <a:off x="603739" y="4874494"/>
            <a:ext cx="3094892" cy="1153476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96DD62C8-69C0-4E36-B75F-DEC287AF4E5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8257" t="25470" r="28940" b="56240"/>
          <a:stretch/>
        </p:blipFill>
        <p:spPr>
          <a:xfrm>
            <a:off x="4548553" y="4745387"/>
            <a:ext cx="3094893" cy="1254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61473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F16C38-8FB8-4CB1-8F18-91EA3D738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83464"/>
            <a:ext cx="10652760" cy="1463274"/>
          </a:xfrm>
        </p:spPr>
        <p:txBody>
          <a:bodyPr/>
          <a:lstStyle/>
          <a:p>
            <a:r>
              <a:rPr lang="pt-BR" dirty="0"/>
              <a:t>Dependência                                &gt;</a:t>
            </a:r>
            <a:br>
              <a:rPr lang="pt-BR" sz="1100" dirty="0"/>
            </a:br>
            <a:endParaRPr lang="pt-BR" dirty="0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DBAEED1D-B970-44D0-B75F-251EBB78017C}"/>
              </a:ext>
            </a:extLst>
          </p:cNvPr>
          <p:cNvCxnSpPr/>
          <p:nvPr/>
        </p:nvCxnSpPr>
        <p:spPr>
          <a:xfrm>
            <a:off x="4096871" y="1037690"/>
            <a:ext cx="2390454" cy="0"/>
          </a:xfrm>
          <a:prstGeom prst="line">
            <a:avLst/>
          </a:prstGeom>
          <a:ln w="3810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B0B4EC46-A7DF-47AC-99B3-327396930121}"/>
              </a:ext>
            </a:extLst>
          </p:cNvPr>
          <p:cNvSpPr txBox="1"/>
          <p:nvPr/>
        </p:nvSpPr>
        <p:spPr>
          <a:xfrm>
            <a:off x="347574" y="1771369"/>
            <a:ext cx="1154989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Indica um certo grau de dependência de uma classe em relação à outra. </a:t>
            </a:r>
          </a:p>
          <a:p>
            <a:endParaRPr lang="pt-BR" dirty="0"/>
          </a:p>
          <a:p>
            <a:endParaRPr lang="pt-BR" dirty="0"/>
          </a:p>
          <a:p>
            <a:pPr algn="just"/>
            <a:r>
              <a:rPr lang="pt-BR" dirty="0"/>
              <a:t>A dependência no diagrama de classes UML indica um relacionamento de "uso" temporário, onde uma classe (cliente) depende de outra (fornecedor) para funcionar, mas não a possui. É representada por uma seta tracejada apontando da classe dependente para a independente, significando que mudanças no fornecedor podem exigir alterações na classe cliente.</a:t>
            </a:r>
          </a:p>
          <a:p>
            <a:pPr algn="just"/>
            <a:endParaRPr lang="pt-BR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1F6A4D6-9BBE-4339-83AD-E2E6EC576F9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0903"/>
          <a:stretch/>
        </p:blipFill>
        <p:spPr>
          <a:xfrm>
            <a:off x="2088823" y="4296371"/>
            <a:ext cx="6017487" cy="2278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49285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EC48F-1B5E-5087-92D8-D198DCEE0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7C24D0-62B0-A538-9410-1B497E565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83464"/>
            <a:ext cx="10652760" cy="1463274"/>
          </a:xfrm>
        </p:spPr>
        <p:txBody>
          <a:bodyPr/>
          <a:lstStyle/>
          <a:p>
            <a:r>
              <a:rPr lang="pt-BR" dirty="0"/>
              <a:t>Dependência                                &gt;</a:t>
            </a:r>
            <a:br>
              <a:rPr lang="pt-BR" dirty="0"/>
            </a:br>
            <a:r>
              <a:rPr lang="pt-BR" sz="1100" dirty="0"/>
              <a:t>De acordo com o </a:t>
            </a:r>
            <a:r>
              <a:rPr lang="pt-BR" sz="1100" dirty="0" err="1"/>
              <a:t>chatGPT</a:t>
            </a:r>
            <a:br>
              <a:rPr lang="pt-BR" sz="1100" dirty="0"/>
            </a:br>
            <a:br>
              <a:rPr lang="pt-BR" sz="1100" dirty="0"/>
            </a:br>
            <a:endParaRPr lang="pt-BR" dirty="0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3AF9DB6B-B5C3-B8C9-1255-FE5070D6BF35}"/>
              </a:ext>
            </a:extLst>
          </p:cNvPr>
          <p:cNvCxnSpPr/>
          <p:nvPr/>
        </p:nvCxnSpPr>
        <p:spPr>
          <a:xfrm>
            <a:off x="4022226" y="739111"/>
            <a:ext cx="2390454" cy="0"/>
          </a:xfrm>
          <a:prstGeom prst="line">
            <a:avLst/>
          </a:prstGeom>
          <a:ln w="3810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7" name="Imagem 6">
            <a:extLst>
              <a:ext uri="{FF2B5EF4-FFF2-40B4-BE49-F238E27FC236}">
                <a16:creationId xmlns:a16="http://schemas.microsoft.com/office/drawing/2014/main" id="{70C7B5B2-B190-429E-C647-E9C71615E4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05" y="1201529"/>
            <a:ext cx="8533337" cy="1891574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36BCCE84-0D25-2DD2-5AF1-F0C8389296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4819" y="3021961"/>
            <a:ext cx="5908668" cy="153373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4409235E-72A7-B577-66E2-8D11A61C6A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537" y="3788830"/>
            <a:ext cx="4018442" cy="1671755"/>
          </a:xfrm>
          <a:prstGeom prst="rect">
            <a:avLst/>
          </a:prstGeom>
          <a:ln>
            <a:solidFill>
              <a:srgbClr val="FFC000"/>
            </a:solidFill>
          </a:ln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CF4E3682-BBB5-DA00-F08E-180A6DBBD4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7726" y="4484557"/>
            <a:ext cx="4933525" cy="1533739"/>
          </a:xfrm>
          <a:prstGeom prst="rect">
            <a:avLst/>
          </a:prstGeom>
          <a:ln>
            <a:solidFill>
              <a:srgbClr val="00B050"/>
            </a:solidFill>
          </a:ln>
        </p:spPr>
      </p:pic>
    </p:spTree>
    <p:extLst>
      <p:ext uri="{BB962C8B-B14F-4D97-AF65-F5344CB8AC3E}">
        <p14:creationId xmlns:p14="http://schemas.microsoft.com/office/powerpoint/2010/main" val="391732837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751A89-D711-6E22-C320-38C657CD4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Tabela Comparativa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6FEDABDC-02A5-AE4A-BE8E-2805F7FE64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7612" y="1732126"/>
            <a:ext cx="11596776" cy="4131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60821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9453067-306E-7CF5-F5E8-F6650EB970FB}"/>
              </a:ext>
            </a:extLst>
          </p:cNvPr>
          <p:cNvSpPr txBox="1"/>
          <p:nvPr/>
        </p:nvSpPr>
        <p:spPr>
          <a:xfrm>
            <a:off x="324853" y="457199"/>
            <a:ext cx="1044341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Exercícios</a:t>
            </a:r>
          </a:p>
          <a:p>
            <a:endParaRPr lang="pt-BR" sz="2800" dirty="0"/>
          </a:p>
          <a:p>
            <a:r>
              <a:rPr lang="pt-BR" sz="2800" dirty="0"/>
              <a:t>Utilizando o exercício anterior (da empresa de Embalagem) </a:t>
            </a:r>
          </a:p>
          <a:p>
            <a:r>
              <a:rPr lang="pt-BR" sz="2800" dirty="0"/>
              <a:t>1-) verifique quais são as associações de  composição.</a:t>
            </a:r>
          </a:p>
          <a:p>
            <a:r>
              <a:rPr lang="pt-BR" sz="2800" dirty="0"/>
              <a:t>2-) Verifique sé há classes com dependências</a:t>
            </a:r>
          </a:p>
          <a:p>
            <a:r>
              <a:rPr lang="pt-BR" sz="2800" dirty="0"/>
              <a:t>3-) Atualize o seu diagrama</a:t>
            </a:r>
          </a:p>
          <a:p>
            <a:endParaRPr lang="pt-BR" sz="2800" dirty="0"/>
          </a:p>
          <a:p>
            <a:endParaRPr lang="pt-BR" sz="2800" dirty="0"/>
          </a:p>
          <a:p>
            <a:endParaRPr lang="pt-BR" sz="2800" b="1" dirty="0"/>
          </a:p>
          <a:p>
            <a:r>
              <a:rPr lang="pt-BR" sz="2800" b="1" dirty="0"/>
              <a:t>Projeto PI</a:t>
            </a:r>
          </a:p>
          <a:p>
            <a:r>
              <a:rPr lang="pt-BR" sz="2800" dirty="0"/>
              <a:t>Atualize o Diagrama de Classe</a:t>
            </a:r>
          </a:p>
        </p:txBody>
      </p:sp>
    </p:spTree>
    <p:extLst>
      <p:ext uri="{BB962C8B-B14F-4D97-AF65-F5344CB8AC3E}">
        <p14:creationId xmlns:p14="http://schemas.microsoft.com/office/powerpoint/2010/main" val="2136896929"/>
      </p:ext>
    </p:extLst>
  </p:cSld>
  <p:clrMapOvr>
    <a:masterClrMapping/>
  </p:clrMapOvr>
</p:sld>
</file>

<file path=ppt/theme/theme1.xml><?xml version="1.0" encoding="utf-8"?>
<a:theme xmlns:a="http://schemas.openxmlformats.org/drawingml/2006/main" name="Dune">
  <a:themeElements>
    <a:clrScheme name="Dune">
      <a:dk1>
        <a:srgbClr val="131313"/>
      </a:dk1>
      <a:lt1>
        <a:sysClr val="window" lastClr="FFFFFF"/>
      </a:lt1>
      <a:dk2>
        <a:srgbClr val="203430"/>
      </a:dk2>
      <a:lt2>
        <a:srgbClr val="F0EDE6"/>
      </a:lt2>
      <a:accent1>
        <a:srgbClr val="A57361"/>
      </a:accent1>
      <a:accent2>
        <a:srgbClr val="CD9979"/>
      </a:accent2>
      <a:accent3>
        <a:srgbClr val="4E6C67"/>
      </a:accent3>
      <a:accent4>
        <a:srgbClr val="BA958C"/>
      </a:accent4>
      <a:accent5>
        <a:srgbClr val="A08C60"/>
      </a:accent5>
      <a:accent6>
        <a:srgbClr val="956969"/>
      </a:accent6>
      <a:hlink>
        <a:srgbClr val="B0685E"/>
      </a:hlink>
      <a:folHlink>
        <a:srgbClr val="5E827E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ne" id="{826328CA-5F67-4711-B85D-145ABD90F0C2}" vid="{19057A55-7D5A-4630-9E53-CA5ED6447771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6403</TotalTime>
  <Words>4013</Words>
  <Application>Microsoft Office PowerPoint</Application>
  <PresentationFormat>Widescreen</PresentationFormat>
  <Paragraphs>604</Paragraphs>
  <Slides>78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78</vt:i4>
      </vt:variant>
    </vt:vector>
  </HeadingPairs>
  <TitlesOfParts>
    <vt:vector size="84" baseType="lpstr">
      <vt:lpstr>Aptos</vt:lpstr>
      <vt:lpstr>Arial</vt:lpstr>
      <vt:lpstr>Google Sans</vt:lpstr>
      <vt:lpstr>Neue Haas Grotesk Text Pro</vt:lpstr>
      <vt:lpstr>Wingdings</vt:lpstr>
      <vt:lpstr>Dune</vt:lpstr>
      <vt:lpstr>Engenharia de Software II</vt:lpstr>
      <vt:lpstr>Antes da UML: por que modelar?</vt:lpstr>
      <vt:lpstr>Algumas questões devem ter surgido:</vt:lpstr>
      <vt:lpstr>Ficou claro que não dá para sair programando????</vt:lpstr>
      <vt:lpstr>O que precisamos fazer???</vt:lpstr>
      <vt:lpstr>O que é UML ??  </vt:lpstr>
      <vt:lpstr>UML (Unified Modeling Language, ou Linguagem de Modelagem Unificada)</vt:lpstr>
      <vt:lpstr>UML – Conceitos </vt:lpstr>
      <vt:lpstr>UML - Conceitos</vt:lpstr>
      <vt:lpstr>IMPORTANTE: </vt:lpstr>
      <vt:lpstr>Alguns tipos de Diagramas</vt:lpstr>
      <vt:lpstr>Diagrama de Casos de Uso</vt:lpstr>
      <vt:lpstr>Atores</vt:lpstr>
      <vt:lpstr>Caso de Uso</vt:lpstr>
      <vt:lpstr>Caso de Uso</vt:lpstr>
      <vt:lpstr>Etapa 1:</vt:lpstr>
      <vt:lpstr>Etapa 2:</vt:lpstr>
      <vt:lpstr>Caso de Uso</vt:lpstr>
      <vt:lpstr>Etapa 3:</vt:lpstr>
      <vt:lpstr>Exercícios</vt:lpstr>
      <vt:lpstr>Analise o diagrama</vt:lpstr>
      <vt:lpstr>Associações </vt:lpstr>
      <vt:lpstr>Associações</vt:lpstr>
      <vt:lpstr>Associações Extend</vt:lpstr>
      <vt:lpstr>Associações Include</vt:lpstr>
      <vt:lpstr>Associações Include</vt:lpstr>
      <vt:lpstr>Associações Include</vt:lpstr>
      <vt:lpstr>Apresentação do PowerPoint</vt:lpstr>
      <vt:lpstr>Relações «include»: Realizar Matrícula -------- «include» --------&gt; Validar Dados do Aluno  Renovar Matrícula -------- «include» --------&gt; Validar Dados do Aluno  Emitir Boleto -------- «include» --------&gt; Validar Dados do Aluno </vt:lpstr>
      <vt:lpstr>Exercício</vt:lpstr>
      <vt:lpstr>ESPECIFICAÇÃO/GENERALIZAÇÃO</vt:lpstr>
      <vt:lpstr>ESPECIFICAÇÃO/GENERALIZAÇÃO</vt:lpstr>
      <vt:lpstr>Resumo Geral – Para Memorizar</vt:lpstr>
      <vt:lpstr>Apresentação do PowerPoint</vt:lpstr>
      <vt:lpstr>Diagrama de Caso e Uso</vt:lpstr>
      <vt:lpstr>Documentação - Atendente</vt:lpstr>
      <vt:lpstr>Documentação - Atendente</vt:lpstr>
      <vt:lpstr>Exercício</vt:lpstr>
      <vt:lpstr>Documentação de Caso de Uso</vt:lpstr>
      <vt:lpstr>Documentação de Caso de Uso</vt:lpstr>
      <vt:lpstr>Exercícios</vt:lpstr>
      <vt:lpstr>Exercício Avaliativo</vt:lpstr>
      <vt:lpstr>Documentação Sistema da Imobiliária</vt:lpstr>
      <vt:lpstr>Conceito de Herança</vt:lpstr>
      <vt:lpstr>Exemplo</vt:lpstr>
      <vt:lpstr>Apresentação do PowerPoint</vt:lpstr>
      <vt:lpstr>Na UML, a herança é representada por:</vt:lpstr>
      <vt:lpstr>Apresentação do PowerPoint</vt:lpstr>
      <vt:lpstr>Questão:</vt:lpstr>
      <vt:lpstr>Pensando na Farmácia</vt:lpstr>
      <vt:lpstr>Exercício </vt:lpstr>
      <vt:lpstr>Exercício – Modelagem UML para Sistema de Farmácia</vt:lpstr>
      <vt:lpstr>Aula do dia 16/03/2026</vt:lpstr>
      <vt:lpstr>Relacionamento Unitário ou reflexivo</vt:lpstr>
      <vt:lpstr>Relacionamento Unitário</vt:lpstr>
      <vt:lpstr>Relacionamento Unitário</vt:lpstr>
      <vt:lpstr>Associação Binária</vt:lpstr>
      <vt:lpstr>Associação Binária</vt:lpstr>
      <vt:lpstr>Associação Binária</vt:lpstr>
      <vt:lpstr>Associação Binária</vt:lpstr>
      <vt:lpstr>Associação Binária</vt:lpstr>
      <vt:lpstr>Exercício</vt:lpstr>
      <vt:lpstr>Aula dia 18-03-26 -Associação Ternária ou N-ária</vt:lpstr>
      <vt:lpstr>Exercícios 1</vt:lpstr>
      <vt:lpstr>Exercício 2</vt:lpstr>
      <vt:lpstr>Associação Ternária ou N-ária</vt:lpstr>
      <vt:lpstr>Associação Agregação</vt:lpstr>
      <vt:lpstr>Associação Agregação</vt:lpstr>
      <vt:lpstr>Exemplos</vt:lpstr>
      <vt:lpstr>Exercício:</vt:lpstr>
      <vt:lpstr>Analisando o Case faça:</vt:lpstr>
      <vt:lpstr>Aula 01/04/2026</vt:lpstr>
      <vt:lpstr>Associação Composição</vt:lpstr>
      <vt:lpstr>Associação Composição  Exemplos:</vt:lpstr>
      <vt:lpstr>Dependência                                &gt; </vt:lpstr>
      <vt:lpstr>Dependência                                &gt; De acordo com o chatGPT  </vt:lpstr>
      <vt:lpstr>Tabela Comparativa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Diagrama de Casos de Uso</dc:title>
  <dc:creator>Aparecido Gonçalves Menezes</dc:creator>
  <cp:lastModifiedBy>Sérgio Donisete Clauss</cp:lastModifiedBy>
  <cp:revision>47</cp:revision>
  <dcterms:created xsi:type="dcterms:W3CDTF">2026-02-25T00:37:31Z</dcterms:created>
  <dcterms:modified xsi:type="dcterms:W3CDTF">2026-08-22T13:00:55Z</dcterms:modified>
</cp:coreProperties>
</file>