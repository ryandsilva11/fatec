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7" r:id="rId9"/>
    <p:sldId id="268" r:id="rId10"/>
    <p:sldId id="269" r:id="rId11"/>
    <p:sldId id="270" r:id="rId12"/>
    <p:sldId id="271" r:id="rId13"/>
    <p:sldId id="277" r:id="rId14"/>
    <p:sldId id="278" r:id="rId15"/>
    <p:sldId id="279" r:id="rId16"/>
    <p:sldId id="280" r:id="rId17"/>
    <p:sldId id="281" r:id="rId18"/>
    <p:sldId id="295" r:id="rId19"/>
    <p:sldId id="296" r:id="rId20"/>
    <p:sldId id="297" r:id="rId21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7"/>
  </p:normalViewPr>
  <p:slideViewPr>
    <p:cSldViewPr>
      <p:cViewPr varScale="1">
        <p:scale>
          <a:sx n="62" d="100"/>
          <a:sy n="62" d="100"/>
        </p:scale>
        <p:origin x="1400" y="4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id="{B7C9944C-5121-C6FB-50FF-19B0B409807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69532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19EEEE50-9617-AFAC-FACC-5DF08C86D58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1">
            <a:extLst>
              <a:ext uri="{FF2B5EF4-FFF2-40B4-BE49-F238E27FC236}">
                <a16:creationId xmlns:a16="http://schemas.microsoft.com/office/drawing/2014/main" id="{D72800DD-DC44-5A7A-D01E-1152E148D03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Text Box 2">
            <a:extLst>
              <a:ext uri="{FF2B5EF4-FFF2-40B4-BE49-F238E27FC236}">
                <a16:creationId xmlns:a16="http://schemas.microsoft.com/office/drawing/2014/main" id="{0B560350-C75F-AB4A-F8BB-A4FAC2014B0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1">
            <a:extLst>
              <a:ext uri="{FF2B5EF4-FFF2-40B4-BE49-F238E27FC236}">
                <a16:creationId xmlns:a16="http://schemas.microsoft.com/office/drawing/2014/main" id="{8B5FDAA5-DD94-73BE-9107-20A1CD35589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Text Box 2">
            <a:extLst>
              <a:ext uri="{FF2B5EF4-FFF2-40B4-BE49-F238E27FC236}">
                <a16:creationId xmlns:a16="http://schemas.microsoft.com/office/drawing/2014/main" id="{E2CEA6FA-9405-7DED-3F28-E8C8AE9D966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1">
            <a:extLst>
              <a:ext uri="{FF2B5EF4-FFF2-40B4-BE49-F238E27FC236}">
                <a16:creationId xmlns:a16="http://schemas.microsoft.com/office/drawing/2014/main" id="{0087FF6B-7722-EC90-1598-B15E57165CE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Text Box 2">
            <a:extLst>
              <a:ext uri="{FF2B5EF4-FFF2-40B4-BE49-F238E27FC236}">
                <a16:creationId xmlns:a16="http://schemas.microsoft.com/office/drawing/2014/main" id="{B8EABA2A-A631-BE87-6414-AADC18825FC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>
            <a:extLst>
              <a:ext uri="{FF2B5EF4-FFF2-40B4-BE49-F238E27FC236}">
                <a16:creationId xmlns:a16="http://schemas.microsoft.com/office/drawing/2014/main" id="{5121BD27-0F0F-255E-D2DD-314DC3B2DCE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720E9848-C96A-707A-937D-5B3D6D5F8DA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>
            <a:extLst>
              <a:ext uri="{FF2B5EF4-FFF2-40B4-BE49-F238E27FC236}">
                <a16:creationId xmlns:a16="http://schemas.microsoft.com/office/drawing/2014/main" id="{09A7ADBE-0EA4-E31E-3D58-F3E055FBB44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Text Box 2">
            <a:extLst>
              <a:ext uri="{FF2B5EF4-FFF2-40B4-BE49-F238E27FC236}">
                <a16:creationId xmlns:a16="http://schemas.microsoft.com/office/drawing/2014/main" id="{D5AE8DA7-268D-FB13-DD2D-B7863EB051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>
            <a:extLst>
              <a:ext uri="{FF2B5EF4-FFF2-40B4-BE49-F238E27FC236}">
                <a16:creationId xmlns:a16="http://schemas.microsoft.com/office/drawing/2014/main" id="{A5363682-94CC-1767-416E-B7D0C438B1F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Text Box 2">
            <a:extLst>
              <a:ext uri="{FF2B5EF4-FFF2-40B4-BE49-F238E27FC236}">
                <a16:creationId xmlns:a16="http://schemas.microsoft.com/office/drawing/2014/main" id="{F6079F4D-9423-4BD9-C41C-70FF5BEC52D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>
            <a:extLst>
              <a:ext uri="{FF2B5EF4-FFF2-40B4-BE49-F238E27FC236}">
                <a16:creationId xmlns:a16="http://schemas.microsoft.com/office/drawing/2014/main" id="{68C0E02F-F2CF-34AB-B9DE-D17759E11FC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Text Box 2">
            <a:extLst>
              <a:ext uri="{FF2B5EF4-FFF2-40B4-BE49-F238E27FC236}">
                <a16:creationId xmlns:a16="http://schemas.microsoft.com/office/drawing/2014/main" id="{9208DC7E-14E1-8359-B215-31F1FE77892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>
            <a:extLst>
              <a:ext uri="{FF2B5EF4-FFF2-40B4-BE49-F238E27FC236}">
                <a16:creationId xmlns:a16="http://schemas.microsoft.com/office/drawing/2014/main" id="{558BB720-4431-8C5E-7CD9-1251DFCDC82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Text Box 2">
            <a:extLst>
              <a:ext uri="{FF2B5EF4-FFF2-40B4-BE49-F238E27FC236}">
                <a16:creationId xmlns:a16="http://schemas.microsoft.com/office/drawing/2014/main" id="{687F89DB-0429-1131-3B11-8303DE937C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ext Box 1">
            <a:extLst>
              <a:ext uri="{FF2B5EF4-FFF2-40B4-BE49-F238E27FC236}">
                <a16:creationId xmlns:a16="http://schemas.microsoft.com/office/drawing/2014/main" id="{89015009-1285-DC07-F9A3-4894E2A4F5C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Text Box 2">
            <a:extLst>
              <a:ext uri="{FF2B5EF4-FFF2-40B4-BE49-F238E27FC236}">
                <a16:creationId xmlns:a16="http://schemas.microsoft.com/office/drawing/2014/main" id="{B68B5CAB-0AE7-CB6A-8216-C11898D4AA4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1">
            <a:extLst>
              <a:ext uri="{FF2B5EF4-FFF2-40B4-BE49-F238E27FC236}">
                <a16:creationId xmlns:a16="http://schemas.microsoft.com/office/drawing/2014/main" id="{0943D6C8-34C0-D69D-DEF4-EDF45AE4654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4" name="Text Box 2">
            <a:extLst>
              <a:ext uri="{FF2B5EF4-FFF2-40B4-BE49-F238E27FC236}">
                <a16:creationId xmlns:a16="http://schemas.microsoft.com/office/drawing/2014/main" id="{8F6E9A63-E448-8A3B-7360-5F7B523472E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1">
            <a:extLst>
              <a:ext uri="{FF2B5EF4-FFF2-40B4-BE49-F238E27FC236}">
                <a16:creationId xmlns:a16="http://schemas.microsoft.com/office/drawing/2014/main" id="{58349937-7AD3-CF50-7FB6-89E552461D0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Text Box 2">
            <a:extLst>
              <a:ext uri="{FF2B5EF4-FFF2-40B4-BE49-F238E27FC236}">
                <a16:creationId xmlns:a16="http://schemas.microsoft.com/office/drawing/2014/main" id="{6D4B0C45-AF6F-99BB-EE60-2C4D27A5F69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>
            <a:extLst>
              <a:ext uri="{FF2B5EF4-FFF2-40B4-BE49-F238E27FC236}">
                <a16:creationId xmlns:a16="http://schemas.microsoft.com/office/drawing/2014/main" id="{61A662D9-A3E7-906A-7DF6-A5A0FDDDA6A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2" name="Text Box 2">
            <a:extLst>
              <a:ext uri="{FF2B5EF4-FFF2-40B4-BE49-F238E27FC236}">
                <a16:creationId xmlns:a16="http://schemas.microsoft.com/office/drawing/2014/main" id="{0A5C70EA-3103-DC06-43F6-7306822BC98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>
            <a:extLst>
              <a:ext uri="{FF2B5EF4-FFF2-40B4-BE49-F238E27FC236}">
                <a16:creationId xmlns:a16="http://schemas.microsoft.com/office/drawing/2014/main" id="{26BCA283-84DA-90ED-8C12-5EAFF59AFA1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6" name="Text Box 2">
            <a:extLst>
              <a:ext uri="{FF2B5EF4-FFF2-40B4-BE49-F238E27FC236}">
                <a16:creationId xmlns:a16="http://schemas.microsoft.com/office/drawing/2014/main" id="{D25F488F-DFF0-7801-3029-E9BDC7C06AA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ext Box 1">
            <a:extLst>
              <a:ext uri="{FF2B5EF4-FFF2-40B4-BE49-F238E27FC236}">
                <a16:creationId xmlns:a16="http://schemas.microsoft.com/office/drawing/2014/main" id="{4E2337F6-D36C-C5DD-E60B-C467F52C954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Text Box 2">
            <a:extLst>
              <a:ext uri="{FF2B5EF4-FFF2-40B4-BE49-F238E27FC236}">
                <a16:creationId xmlns:a16="http://schemas.microsoft.com/office/drawing/2014/main" id="{CE5BED80-6961-096E-7294-2106E046FE6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1">
            <a:extLst>
              <a:ext uri="{FF2B5EF4-FFF2-40B4-BE49-F238E27FC236}">
                <a16:creationId xmlns:a16="http://schemas.microsoft.com/office/drawing/2014/main" id="{E3E8027F-CB4E-906C-56E9-86362F5D261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4" name="Text Box 2">
            <a:extLst>
              <a:ext uri="{FF2B5EF4-FFF2-40B4-BE49-F238E27FC236}">
                <a16:creationId xmlns:a16="http://schemas.microsoft.com/office/drawing/2014/main" id="{A2C81E6E-857D-F628-2FDF-23D965789EB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1">
            <a:extLst>
              <a:ext uri="{FF2B5EF4-FFF2-40B4-BE49-F238E27FC236}">
                <a16:creationId xmlns:a16="http://schemas.microsoft.com/office/drawing/2014/main" id="{33B794A3-8F23-8E65-C466-1280DFAA90C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Text Box 2">
            <a:extLst>
              <a:ext uri="{FF2B5EF4-FFF2-40B4-BE49-F238E27FC236}">
                <a16:creationId xmlns:a16="http://schemas.microsoft.com/office/drawing/2014/main" id="{DF75B7C7-A399-A712-2032-98A9C9398ED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">
            <a:extLst>
              <a:ext uri="{FF2B5EF4-FFF2-40B4-BE49-F238E27FC236}">
                <a16:creationId xmlns:a16="http://schemas.microsoft.com/office/drawing/2014/main" id="{BE25E920-4F10-49E4-5D83-180477D6A11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2" name="Text Box 2">
            <a:extLst>
              <a:ext uri="{FF2B5EF4-FFF2-40B4-BE49-F238E27FC236}">
                <a16:creationId xmlns:a16="http://schemas.microsoft.com/office/drawing/2014/main" id="{7414E8A3-85FA-30A6-3605-F8834A96FAF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ext Box 1">
            <a:extLst>
              <a:ext uri="{FF2B5EF4-FFF2-40B4-BE49-F238E27FC236}">
                <a16:creationId xmlns:a16="http://schemas.microsoft.com/office/drawing/2014/main" id="{0F2E25F9-C48B-E46C-5146-7DCBEC4A425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8" name="Text Box 2">
            <a:extLst>
              <a:ext uri="{FF2B5EF4-FFF2-40B4-BE49-F238E27FC236}">
                <a16:creationId xmlns:a16="http://schemas.microsoft.com/office/drawing/2014/main" id="{CD903C7F-E9E9-618A-3514-2B59392306A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ext Box 1">
            <a:extLst>
              <a:ext uri="{FF2B5EF4-FFF2-40B4-BE49-F238E27FC236}">
                <a16:creationId xmlns:a16="http://schemas.microsoft.com/office/drawing/2014/main" id="{2AAD5B44-E6CB-AC90-4D7F-3512B52592C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Text Box 2">
            <a:extLst>
              <a:ext uri="{FF2B5EF4-FFF2-40B4-BE49-F238E27FC236}">
                <a16:creationId xmlns:a16="http://schemas.microsoft.com/office/drawing/2014/main" id="{79ED309D-3D23-61AA-665F-5E0CEF9ADEF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ext Box 1">
            <a:extLst>
              <a:ext uri="{FF2B5EF4-FFF2-40B4-BE49-F238E27FC236}">
                <a16:creationId xmlns:a16="http://schemas.microsoft.com/office/drawing/2014/main" id="{9A3922CD-47D7-E927-F622-2BDA64A2906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6" name="Text Box 2">
            <a:extLst>
              <a:ext uri="{FF2B5EF4-FFF2-40B4-BE49-F238E27FC236}">
                <a16:creationId xmlns:a16="http://schemas.microsoft.com/office/drawing/2014/main" id="{8F8A1C9D-EE30-A699-CF7D-DE1D981D9E7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77186F99-EE0E-F25F-CA3B-C3E7FB8DCC5B}"/>
              </a:ext>
            </a:extLst>
          </p:cNvPr>
          <p:cNvSpPr/>
          <p:nvPr/>
        </p:nvSpPr>
        <p:spPr>
          <a:xfrm>
            <a:off x="1328738" y="1295400"/>
            <a:ext cx="6486525" cy="3152775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914400" eaLnBrk="1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3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rtlCol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72F3A13-70D1-8971-B258-D0E23376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1FA80D0-98D5-FB8B-1FC2-218FAAB4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2D5432-2585-1985-5801-43FA562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645E9BF-EC1F-854E-AB29-67B14C5A99E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166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08FF3-6C37-A2AB-EB2A-7422FC4F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6878F-3755-944C-3AE0-F226C5514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5B845-E3EF-AFB1-261E-D1664D9C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6E9FA-7060-5541-B9E9-5765E93C641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212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264BB-6D3E-115C-EAC8-9667D3EF14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1DB6F-8BB5-5052-205E-0F4C49C61F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CCA39-D6B8-20BA-29E0-7595FFEB5C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8F55D-9966-8B42-A1E4-80ED1631508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1454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/>
          <a:lstStyle>
            <a:lvl1pPr algn="ctr">
              <a:defRPr sz="4600" b="0" cap="none" baseline="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27906-A85E-25DC-1D4A-2C74317AF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395A2-2A37-5FB9-1438-0AF9D65C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76862-4D9E-CE7F-845D-80F2F83B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BA5F6-9D4F-F646-B3C1-DB6A9411A3F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0720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E0C0E3F-B51E-FDFC-50DA-EE873F23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C69BB6-3E3A-96A5-6710-15CA9601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391AEEE-C132-2EA8-A28F-F02C4FBF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C59CB-9807-B64E-950C-CB365CD5F84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7821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D3137F1-0958-1F19-11D5-E63CD23AD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C5A07D0-AD9A-398A-984B-7C936AED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64E0BCE-4D7C-84F6-455F-D2A93E0B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2BBE1-69BA-A543-8E34-22AF3870F22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59398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8CA7E6-FA71-D4B5-3055-0690C32B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26B6FA-8A33-3352-EF60-D0194CD2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9C1980B-0C59-63E0-D500-A88D329D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DD8B9-C74D-FD48-B678-308E00726E2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7916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C3A8CB0-FA59-AA3A-B21E-56583E24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637F1F-1E3E-58DB-21F1-5C2D365C1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B5094A4-F323-C48F-4A2A-2576D0D5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5D698-8BF9-9F48-B800-72CD0E0F731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0615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6B18A-5362-11FA-01D8-53A67CDB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A3A48-723B-F35D-DDE7-E2A44617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AA7EE-353C-C101-33B2-0E75CD1E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ED3704-7425-9A4F-84B9-1B5BC00FECF3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432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noProof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EB0815E-AD7A-5CDD-3F76-479DC8CD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101B1-6879-95A7-F41F-BD6FCB3D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16823-711F-C42E-065F-2236F793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3F07C-1DCA-5C4B-A1DB-C5DEB7C760E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45369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D4C09-0620-56F6-5EF8-A3E0EF81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2B2C8-562B-7B87-75C3-4DD9AA8C7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A6B94-8FB1-0F9D-560B-7DCF7BDA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B7941-BF65-8940-A4E4-5298019933F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97970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52C6B-CD3A-B664-399D-30FF9BFC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C8F35-9CF9-054A-412E-77684F7F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7E5ED-9E38-2B27-2689-41B5BE6E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51201A-75C2-C949-8556-450D90454F0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83215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04202CD-8060-812B-2C67-8717E8D2C41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8995FFF-85A4-4B0C-51FA-0D4E9172E5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FBBC0-41B5-4AB9-A3CD-EA9DC6434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29275" y="62753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E363F-F3A0-A8EA-36A8-456FD8627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113" y="6275388"/>
            <a:ext cx="48402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2ED40-AA0A-07B7-54E8-7E4933E32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7813" y="6275388"/>
            <a:ext cx="990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3600" smtClean="0"/>
            </a:lvl1pPr>
          </a:lstStyle>
          <a:p>
            <a:pPr>
              <a:defRPr/>
            </a:pPr>
            <a:fld id="{F69BAFC0-1D01-C349-AC39-2164A8A2A1B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8" r:id="rId9"/>
    <p:sldLayoutId id="2147483774" r:id="rId10"/>
    <p:sldLayoutId id="2147483775" r:id="rId11"/>
    <p:sldLayoutId id="214748377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panose="020B0503020103020203" pitchFamily="34" charset="0"/>
          <a:ea typeface="ＭＳ Ｐゴシック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panose="020B0503020103020203" pitchFamily="34" charset="0"/>
          <a:ea typeface="ＭＳ Ｐゴシック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panose="020B0503020103020203" pitchFamily="34" charset="0"/>
          <a:ea typeface="ＭＳ Ｐゴシック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panose="020B0503020103020203" pitchFamily="34" charset="0"/>
          <a:ea typeface="ＭＳ Ｐゴシック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panose="020B0503020103020203" pitchFamily="34" charset="0"/>
          <a:ea typeface="ＭＳ Ｐゴシック" panose="020B0600070205080204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panose="020B0503020103020203" pitchFamily="34" charset="0"/>
          <a:ea typeface="ＭＳ Ｐゴシック" panose="020B0600070205080204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panose="020B0503020103020203" pitchFamily="34" charset="0"/>
          <a:ea typeface="ＭＳ Ｐゴシック" panose="020B0600070205080204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panose="020B0503020103020203" pitchFamily="34" charset="0"/>
          <a:ea typeface="ＭＳ Ｐゴシック" panose="020B0600070205080204" pitchFamily="34" charset="-128"/>
        </a:defRPr>
      </a:lvl9pPr>
    </p:titleStyle>
    <p:bodyStyle>
      <a:lvl1pPr marL="349250" indent="-349250" algn="l" rtl="0" eaLnBrk="0" fontAlgn="base" hangingPunct="0">
        <a:spcBef>
          <a:spcPts val="20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400" kern="1200">
          <a:solidFill>
            <a:srgbClr val="595959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sz="2200" kern="1200">
          <a:solidFill>
            <a:srgbClr val="595959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96837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000" kern="1200">
          <a:solidFill>
            <a:srgbClr val="595959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1263650" indent="-295275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154622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emf"/><Relationship Id="rId5" Type="http://schemas.openxmlformats.org/officeDocument/2006/relationships/image" Target="../media/image28.png"/><Relationship Id="rId4" Type="http://schemas.openxmlformats.org/officeDocument/2006/relationships/image" Target="../media/image27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1">
            <a:extLst>
              <a:ext uri="{FF2B5EF4-FFF2-40B4-BE49-F238E27FC236}">
                <a16:creationId xmlns:a16="http://schemas.microsoft.com/office/drawing/2014/main" id="{C6206743-5002-266F-A428-416BDE6CD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900" y="0"/>
            <a:ext cx="35941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Rectangle 2">
            <a:extLst>
              <a:ext uri="{FF2B5EF4-FFF2-40B4-BE49-F238E27FC236}">
                <a16:creationId xmlns:a16="http://schemas.microsoft.com/office/drawing/2014/main" id="{E150A6E7-9BD1-D754-D2DC-552A8671F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84713"/>
            <a:ext cx="9217025" cy="2209800"/>
          </a:xfrm>
          <a:prstGeom prst="rect">
            <a:avLst/>
          </a:prstGeom>
          <a:gradFill rotWithShape="0">
            <a:gsLst>
              <a:gs pos="0">
                <a:srgbClr val="336699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3076" name="Text Box 4">
            <a:extLst>
              <a:ext uri="{FF2B5EF4-FFF2-40B4-BE49-F238E27FC236}">
                <a16:creationId xmlns:a16="http://schemas.microsoft.com/office/drawing/2014/main" id="{CD5367E0-CC26-3192-1ABD-4491C15DC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8" y="2133600"/>
            <a:ext cx="5526087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SzPct val="100000"/>
              <a:defRPr/>
            </a:pPr>
            <a:r>
              <a:rPr lang="pt-BR" altLang="pt-BR" u="sng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INTERFACE HUMANO COMPUTADOR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19BA6311-FA8C-3729-E52A-F04235BAF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17410" name="Rectangle 4">
            <a:extLst>
              <a:ext uri="{FF2B5EF4-FFF2-40B4-BE49-F238E27FC236}">
                <a16:creationId xmlns:a16="http://schemas.microsoft.com/office/drawing/2014/main" id="{8358CBDD-C8B2-F5CD-E7F0-EC23FA4C7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11125"/>
            <a:ext cx="34004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2800" b="1">
                <a:solidFill>
                  <a:srgbClr val="3333CC"/>
                </a:solidFill>
                <a:latin typeface="Verdana" panose="020B0604030504040204" pitchFamily="34" charset="0"/>
              </a:rPr>
              <a:t>Panorama atual</a:t>
            </a: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7E748B1-8DD6-CE9B-D30B-1F59C354E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838200"/>
            <a:ext cx="3208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2000">
                <a:solidFill>
                  <a:srgbClr val="3333CC"/>
                </a:solidFill>
                <a:latin typeface="Verdana" panose="020B0604030504040204" pitchFamily="34" charset="0"/>
              </a:rPr>
              <a:t>Quem são os usuários?</a:t>
            </a: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645B5F84-573B-CAFF-E92B-F529C92F3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" y="1371600"/>
            <a:ext cx="2905125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>
            <a:extLst>
              <a:ext uri="{FF2B5EF4-FFF2-40B4-BE49-F238E27FC236}">
                <a16:creationId xmlns:a16="http://schemas.microsoft.com/office/drawing/2014/main" id="{1D82AA75-CB69-CDEA-307B-B9B7E6FF1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8" y="2514600"/>
            <a:ext cx="1677987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5784A775-5E56-854B-FCA8-0F6E9901F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275" y="1371600"/>
            <a:ext cx="29067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>
            <a:extLst>
              <a:ext uri="{FF2B5EF4-FFF2-40B4-BE49-F238E27FC236}">
                <a16:creationId xmlns:a16="http://schemas.microsoft.com/office/drawing/2014/main" id="{53679EDA-E7A8-DF8A-E319-3C9C84271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275" y="4038600"/>
            <a:ext cx="29083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BBE6C212-95A0-FAB8-9CC4-380A14D44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" y="4038600"/>
            <a:ext cx="28956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8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3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8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3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>
            <a:extLst>
              <a:ext uri="{FF2B5EF4-FFF2-40B4-BE49-F238E27FC236}">
                <a16:creationId xmlns:a16="http://schemas.microsoft.com/office/drawing/2014/main" id="{6BF26DB3-FC37-D85E-D737-A33B0C0D6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267200"/>
            <a:ext cx="2133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Rectangle 2">
            <a:extLst>
              <a:ext uri="{FF2B5EF4-FFF2-40B4-BE49-F238E27FC236}">
                <a16:creationId xmlns:a16="http://schemas.microsoft.com/office/drawing/2014/main" id="{D909717A-13BE-E20F-2AF2-7DE74266B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19459" name="Text Box 5">
            <a:extLst>
              <a:ext uri="{FF2B5EF4-FFF2-40B4-BE49-F238E27FC236}">
                <a16:creationId xmlns:a16="http://schemas.microsoft.com/office/drawing/2014/main" id="{07283021-49D7-386E-ED29-DFD8EC6BA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1295400"/>
            <a:ext cx="8001000" cy="321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Usuários não são especialistas em informática e não tem obrigação de ser. </a:t>
            </a:r>
          </a:p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São impacientes:</a:t>
            </a:r>
          </a:p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   - Não estão dispostos a perder tempo em sites ou programas com interfaces confusas que não atendam suas necessidades. (gratificação instantânea)</a:t>
            </a:r>
          </a:p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   - Não entendem ou aceitam que o computador se </a:t>
            </a:r>
            <a:r>
              <a:rPr lang="pt-BR" altLang="en-US" sz="1400">
                <a:solidFill>
                  <a:srgbClr val="3333CC"/>
                </a:solidFill>
                <a:latin typeface="Verdana" panose="020B0604030504040204" pitchFamily="34" charset="0"/>
              </a:rPr>
              <a:t>“</a:t>
            </a: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comporte</a:t>
            </a:r>
            <a:r>
              <a:rPr lang="pt-BR" altLang="en-US" sz="1400">
                <a:solidFill>
                  <a:srgbClr val="3333CC"/>
                </a:solidFill>
                <a:latin typeface="Verdana" panose="020B0604030504040204" pitchFamily="34" charset="0"/>
              </a:rPr>
              <a:t>“</a:t>
            </a: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de maneira inesperada (bugs); </a:t>
            </a:r>
          </a:p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Têm necessidades diferentes:</a:t>
            </a:r>
          </a:p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   - em função da sua experiência, formações e idades   (diferentes perfis); </a:t>
            </a:r>
          </a:p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Trazem consigo experiências passadas:</a:t>
            </a:r>
          </a:p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   - Se eles não sabem muito a respeito de um objeto ou tarefa, irão associar com algo que já é de seu conhecimento.</a:t>
            </a: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4BC7BA63-BC9A-76E3-2D7C-9496F5A4D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838200"/>
            <a:ext cx="3208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2000">
                <a:solidFill>
                  <a:srgbClr val="3333CC"/>
                </a:solidFill>
                <a:latin typeface="Verdana" panose="020B0604030504040204" pitchFamily="34" charset="0"/>
              </a:rPr>
              <a:t>Quem são os usuários?</a:t>
            </a: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</a:t>
            </a:r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B47A96BA-3DDE-1C45-C9F5-8764B1592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800600"/>
            <a:ext cx="152400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8" name="AutoShape 8">
            <a:extLst>
              <a:ext uri="{FF2B5EF4-FFF2-40B4-BE49-F238E27FC236}">
                <a16:creationId xmlns:a16="http://schemas.microsoft.com/office/drawing/2014/main" id="{E8E29C7C-871F-E23D-AEB9-ACC8ECC04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953000"/>
            <a:ext cx="1066800" cy="609600"/>
          </a:xfrm>
          <a:prstGeom prst="rightArrow">
            <a:avLst>
              <a:gd name="adj1" fmla="val 31769"/>
              <a:gd name="adj2" fmla="val 74902"/>
            </a:avLst>
          </a:prstGeom>
          <a:gradFill rotWithShape="0">
            <a:gsLst>
              <a:gs pos="0">
                <a:srgbClr val="FFFFFF"/>
              </a:gs>
              <a:gs pos="100000">
                <a:srgbClr val="3333CC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19463" name="Rectangle 9">
            <a:extLst>
              <a:ext uri="{FF2B5EF4-FFF2-40B4-BE49-F238E27FC236}">
                <a16:creationId xmlns:a16="http://schemas.microsoft.com/office/drawing/2014/main" id="{42E8A6A7-E4E4-54AA-1B85-98BFA459A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111125"/>
            <a:ext cx="34004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2800" b="1">
                <a:solidFill>
                  <a:srgbClr val="3333CC"/>
                </a:solidFill>
                <a:latin typeface="Verdana" panose="020B0604030504040204" pitchFamily="34" charset="0"/>
              </a:rPr>
              <a:t>Panorama atual</a:t>
            </a: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8" dur="500"/>
                                        <p:tgtEl>
                                          <p:spTgt spid="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>
            <a:extLst>
              <a:ext uri="{FF2B5EF4-FFF2-40B4-BE49-F238E27FC236}">
                <a16:creationId xmlns:a16="http://schemas.microsoft.com/office/drawing/2014/main" id="{8AD443FB-A979-5781-F760-99FE82995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149225"/>
            <a:ext cx="7904162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563"/>
              </a:spcBef>
              <a:buClrTx/>
              <a:buFontTx/>
              <a:buNone/>
            </a:pPr>
            <a:r>
              <a:rPr lang="pt-BR" altLang="pt-BR" sz="2500" b="1">
                <a:solidFill>
                  <a:srgbClr val="3333CC"/>
                </a:solidFill>
                <a:latin typeface="Verdana" panose="020B0604030504040204" pitchFamily="34" charset="0"/>
              </a:rPr>
              <a:t>Interfaces tem mudado a vida das pessoas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FDCB865-67EE-9813-ECB5-40FE6A50E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1147763"/>
            <a:ext cx="1181100" cy="98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3">
            <a:extLst>
              <a:ext uri="{FF2B5EF4-FFF2-40B4-BE49-F238E27FC236}">
                <a16:creationId xmlns:a16="http://schemas.microsoft.com/office/drawing/2014/main" id="{9E6A19D7-1AA0-6A28-6FEF-FF8F7394D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762000"/>
            <a:ext cx="12890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250"/>
              </a:spcBef>
              <a:buClrTx/>
              <a:buFontTx/>
              <a:buNone/>
            </a:pPr>
            <a:r>
              <a:rPr lang="pt-BR" altLang="pt-BR" sz="2000">
                <a:solidFill>
                  <a:srgbClr val="3333CC"/>
                </a:solidFill>
                <a:latin typeface="Verdana" panose="020B0604030504040204" pitchFamily="34" charset="0"/>
              </a:rPr>
              <a:t>Medicina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BDEA4892-E9C2-F999-F575-F0CEB6D52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3657600"/>
            <a:ext cx="3276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5">
            <a:extLst>
              <a:ext uri="{FF2B5EF4-FFF2-40B4-BE49-F238E27FC236}">
                <a16:creationId xmlns:a16="http://schemas.microsoft.com/office/drawing/2014/main" id="{504E5D80-CF53-8D79-309F-AF774C34D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2743200"/>
            <a:ext cx="298132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Robôs cirurgiões</a:t>
            </a:r>
          </a:p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Tomografias computadorizadas</a:t>
            </a:r>
          </a:p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Modelos 3d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BE9FB1B5-8C75-9754-0696-B69555972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505200"/>
            <a:ext cx="2590800" cy="152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1" name="Rectangle 7">
            <a:extLst>
              <a:ext uri="{FF2B5EF4-FFF2-40B4-BE49-F238E27FC236}">
                <a16:creationId xmlns:a16="http://schemas.microsoft.com/office/drawing/2014/main" id="{B1AA9179-8661-9691-0D35-B078A7548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181600"/>
            <a:ext cx="25908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pt-BR" altLang="pt-BR" sz="1200">
                <a:solidFill>
                  <a:srgbClr val="3333CC"/>
                </a:solidFill>
                <a:latin typeface="Verdana" panose="020B0604030504040204" pitchFamily="34" charset="0"/>
              </a:rPr>
              <a:t>Em forma de besouro, o robô tem uma micro-câmera e pode inserir medicamentos no paciente. </a:t>
            </a:r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CEB3671E-551D-0888-E0B9-A8F87BCDE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143000"/>
            <a:ext cx="2590800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3" name="Rectangle 9">
            <a:extLst>
              <a:ext uri="{FF2B5EF4-FFF2-40B4-BE49-F238E27FC236}">
                <a16:creationId xmlns:a16="http://schemas.microsoft.com/office/drawing/2014/main" id="{60526A5F-BD64-948C-BAF4-7B7C2EDA9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>
            <a:extLst>
              <a:ext uri="{FF2B5EF4-FFF2-40B4-BE49-F238E27FC236}">
                <a16:creationId xmlns:a16="http://schemas.microsoft.com/office/drawing/2014/main" id="{2A48DB4E-4666-305F-270B-5C47F9D04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149225"/>
            <a:ext cx="7904163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563"/>
              </a:spcBef>
              <a:buClrTx/>
              <a:buFontTx/>
              <a:buNone/>
            </a:pPr>
            <a:r>
              <a:rPr lang="pt-BR" altLang="pt-BR" sz="2500" b="1">
                <a:solidFill>
                  <a:srgbClr val="3333CC"/>
                </a:solidFill>
                <a:latin typeface="Verdana" panose="020B0604030504040204" pitchFamily="34" charset="0"/>
              </a:rPr>
              <a:t>Interfaces tem mudado a vida das pessoas 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3D06E459-81EC-350E-E672-86887B8DF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914400"/>
            <a:ext cx="138588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250"/>
              </a:spcBef>
              <a:buClrTx/>
              <a:buFontTx/>
              <a:buNone/>
            </a:pPr>
            <a:r>
              <a:rPr lang="pt-BR" altLang="pt-BR" sz="2000">
                <a:solidFill>
                  <a:srgbClr val="3333CC"/>
                </a:solidFill>
                <a:latin typeface="Verdana" panose="020B0604030504040204" pitchFamily="34" charset="0"/>
              </a:rPr>
              <a:t>Educação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F9F81BF-775E-29B9-B781-6198FFBC5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1709738"/>
            <a:ext cx="2251075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EAD</a:t>
            </a:r>
          </a:p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Softwares educativos</a:t>
            </a:r>
          </a:p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E-books</a:t>
            </a:r>
          </a:p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Artigos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51A86D60-EA1A-8A23-48ED-6C1C26BA7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3505200"/>
            <a:ext cx="2514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5">
            <a:extLst>
              <a:ext uri="{FF2B5EF4-FFF2-40B4-BE49-F238E27FC236}">
                <a16:creationId xmlns:a16="http://schemas.microsoft.com/office/drawing/2014/main" id="{A5128539-0EBA-E222-5D00-6A3A32BD3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914400"/>
            <a:ext cx="15319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250"/>
              </a:spcBef>
              <a:buClrTx/>
              <a:buFontTx/>
              <a:buNone/>
            </a:pPr>
            <a:r>
              <a:rPr lang="pt-BR" altLang="pt-BR" sz="2000">
                <a:solidFill>
                  <a:srgbClr val="3333CC"/>
                </a:solidFill>
                <a:latin typeface="Verdana" panose="020B0604030504040204" pitchFamily="34" charset="0"/>
              </a:rPr>
              <a:t>Segurança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CECF904E-0553-E62B-7B3D-3D83039B8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709738"/>
            <a:ext cx="2209800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Controle de trafego</a:t>
            </a:r>
          </a:p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Simuladores</a:t>
            </a:r>
          </a:p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Treinamentos </a:t>
            </a:r>
          </a:p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Usinas nucleares</a:t>
            </a:r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3C64020A-A214-B4AC-D919-AAE05D7F3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914400"/>
            <a:ext cx="2159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250"/>
              </a:spcBef>
              <a:buClrTx/>
              <a:buFontTx/>
              <a:buNone/>
            </a:pPr>
            <a:r>
              <a:rPr lang="pt-BR" altLang="pt-BR" sz="2000">
                <a:solidFill>
                  <a:srgbClr val="3333CC"/>
                </a:solidFill>
                <a:latin typeface="Verdana" panose="020B0604030504040204" pitchFamily="34" charset="0"/>
              </a:rPr>
              <a:t>Entretenimento</a:t>
            </a: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FAF429FA-20B4-E03F-E262-3DA2211A6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1709738"/>
            <a:ext cx="2590800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Arte, música e esportes são atualmente auxiliadas e suportadas por sistemas computacionais</a:t>
            </a:r>
          </a:p>
          <a:p>
            <a:pPr eaLnBrk="1" hangingPunct="1">
              <a:spcBef>
                <a:spcPts val="875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 sz="1400">
                <a:solidFill>
                  <a:srgbClr val="3333CC"/>
                </a:solidFill>
                <a:latin typeface="Verdana" panose="020B0604030504040204" pitchFamily="34" charset="0"/>
              </a:rPr>
              <a:t> Vídeo games</a:t>
            </a:r>
          </a:p>
          <a:p>
            <a:pPr eaLnBrk="1" hangingPunct="1">
              <a:spcBef>
                <a:spcPts val="875"/>
              </a:spcBef>
              <a:buClrTx/>
              <a:buFontTx/>
              <a:buNone/>
            </a:pPr>
            <a:endParaRPr lang="pt-BR" altLang="pt-BR" sz="1400">
              <a:solidFill>
                <a:srgbClr val="3333CC"/>
              </a:solidFill>
              <a:latin typeface="Verdana" panose="020B0604030504040204" pitchFamily="34" charset="0"/>
            </a:endParaRPr>
          </a:p>
        </p:txBody>
      </p:sp>
      <p:pic>
        <p:nvPicPr>
          <p:cNvPr id="7177" name="Picture 9">
            <a:extLst>
              <a:ext uri="{FF2B5EF4-FFF2-40B4-BE49-F238E27FC236}">
                <a16:creationId xmlns:a16="http://schemas.microsoft.com/office/drawing/2014/main" id="{B964FA56-6B8F-DB3E-06D4-DE1BC5E36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733800"/>
            <a:ext cx="2667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Picture 10">
            <a:extLst>
              <a:ext uri="{FF2B5EF4-FFF2-40B4-BE49-F238E27FC236}">
                <a16:creationId xmlns:a16="http://schemas.microsoft.com/office/drawing/2014/main" id="{8AEB8E50-D1D1-97AF-ED23-F130D54D3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733800"/>
            <a:ext cx="2438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3" name="Rectangle 11">
            <a:extLst>
              <a:ext uri="{FF2B5EF4-FFF2-40B4-BE49-F238E27FC236}">
                <a16:creationId xmlns:a16="http://schemas.microsoft.com/office/drawing/2014/main" id="{4731DB8E-542B-3901-14B3-AB9EE6DBF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2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7C2E932E-6C36-AC3B-52DB-D9C29DC9D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25602" name="Rectangle 4">
            <a:extLst>
              <a:ext uri="{FF2B5EF4-FFF2-40B4-BE49-F238E27FC236}">
                <a16:creationId xmlns:a16="http://schemas.microsoft.com/office/drawing/2014/main" id="{268F7FEA-BE2F-7AF6-A36D-3736A1D06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288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25603" name="Text Box 5">
            <a:extLst>
              <a:ext uri="{FF2B5EF4-FFF2-40B4-BE49-F238E27FC236}">
                <a16:creationId xmlns:a16="http://schemas.microsoft.com/office/drawing/2014/main" id="{CE6BBDCE-F37B-2EAF-64A7-7BE39D2DC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16113"/>
            <a:ext cx="8074025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572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indent="0" algn="just">
              <a:lnSpc>
                <a:spcPct val="85000"/>
              </a:lnSpc>
              <a:spcBef>
                <a:spcPts val="600"/>
              </a:spcBef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Porque é necessário estabelecer um bom nível de conversação entre o usuário e o sistema</a:t>
            </a:r>
          </a:p>
          <a:p>
            <a:pPr lvl="1" indent="0" algn="just">
              <a:lnSpc>
                <a:spcPct val="85000"/>
              </a:lnSpc>
              <a:spcBef>
                <a:spcPts val="600"/>
              </a:spcBef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computacional</a:t>
            </a:r>
          </a:p>
        </p:txBody>
      </p:sp>
      <p:sp>
        <p:nvSpPr>
          <p:cNvPr id="25604" name="AutoShape 6">
            <a:extLst>
              <a:ext uri="{FF2B5EF4-FFF2-40B4-BE49-F238E27FC236}">
                <a16:creationId xmlns:a16="http://schemas.microsoft.com/office/drawing/2014/main" id="{E6B2298F-2656-AE45-9CF2-E87D2389B5F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233863" y="3629025"/>
            <a:ext cx="522287" cy="322263"/>
          </a:xfrm>
          <a:prstGeom prst="rightArrow">
            <a:avLst>
              <a:gd name="adj1" fmla="val 50000"/>
              <a:gd name="adj2" fmla="val 81042"/>
            </a:avLst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25605" name="AutoShape 7">
            <a:extLst>
              <a:ext uri="{FF2B5EF4-FFF2-40B4-BE49-F238E27FC236}">
                <a16:creationId xmlns:a16="http://schemas.microsoft.com/office/drawing/2014/main" id="{31056DEB-E525-F6DE-C458-AEB07415F65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200525" y="4059238"/>
            <a:ext cx="522288" cy="322262"/>
          </a:xfrm>
          <a:prstGeom prst="rightArrow">
            <a:avLst>
              <a:gd name="adj1" fmla="val 50000"/>
              <a:gd name="adj2" fmla="val 81042"/>
            </a:avLst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25606" name="Text Box 8">
            <a:extLst>
              <a:ext uri="{FF2B5EF4-FFF2-40B4-BE49-F238E27FC236}">
                <a16:creationId xmlns:a16="http://schemas.microsoft.com/office/drawing/2014/main" id="{97E5EFBB-1AE9-9391-88CF-EF3AB9750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4992688"/>
            <a:ext cx="340995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342900" indent="-3429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572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indent="0" algn="ctr">
              <a:lnSpc>
                <a:spcPct val="85000"/>
              </a:lnSpc>
              <a:spcBef>
                <a:spcPts val="600"/>
              </a:spcBef>
              <a:buClrTx/>
              <a:buFontTx/>
              <a:buNone/>
            </a:pPr>
            <a:r>
              <a:rPr lang="pt-BR" altLang="pt-BR" b="1">
                <a:solidFill>
                  <a:srgbClr val="3333CC"/>
                </a:solidFill>
                <a:latin typeface="Verdana" panose="020B0604030504040204" pitchFamily="34" charset="0"/>
              </a:rPr>
              <a:t>CONFORTO </a:t>
            </a:r>
          </a:p>
          <a:p>
            <a:pPr lvl="1" indent="0" algn="ctr">
              <a:lnSpc>
                <a:spcPct val="85000"/>
              </a:lnSpc>
              <a:spcBef>
                <a:spcPts val="600"/>
              </a:spcBef>
              <a:buClrTx/>
              <a:buFontTx/>
              <a:buNone/>
            </a:pPr>
            <a:r>
              <a:rPr lang="pt-BR" altLang="pt-BR" b="1">
                <a:solidFill>
                  <a:srgbClr val="3333CC"/>
                </a:solidFill>
                <a:latin typeface="Verdana" panose="020B0604030504040204" pitchFamily="34" charset="0"/>
              </a:rPr>
              <a:t>(Confiabilidade)</a:t>
            </a:r>
          </a:p>
        </p:txBody>
      </p:sp>
      <p:sp>
        <p:nvSpPr>
          <p:cNvPr id="25607" name="Text Box 9">
            <a:extLst>
              <a:ext uri="{FF2B5EF4-FFF2-40B4-BE49-F238E27FC236}">
                <a16:creationId xmlns:a16="http://schemas.microsoft.com/office/drawing/2014/main" id="{D0CD5182-F43C-1B41-9D7E-A38025009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0213" y="4992688"/>
            <a:ext cx="4006850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572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indent="0" algn="ctr">
              <a:lnSpc>
                <a:spcPct val="85000"/>
              </a:lnSpc>
              <a:spcBef>
                <a:spcPts val="600"/>
              </a:spcBef>
              <a:buClrTx/>
              <a:buFontTx/>
              <a:buNone/>
            </a:pPr>
            <a:r>
              <a:rPr lang="pt-BR" altLang="pt-BR" b="1">
                <a:solidFill>
                  <a:srgbClr val="3333CC"/>
                </a:solidFill>
                <a:latin typeface="Verdana" panose="020B0604030504040204" pitchFamily="34" charset="0"/>
              </a:rPr>
              <a:t>DESEMPENHO</a:t>
            </a:r>
          </a:p>
          <a:p>
            <a:pPr lvl="1" indent="0" algn="ctr">
              <a:lnSpc>
                <a:spcPct val="85000"/>
              </a:lnSpc>
              <a:spcBef>
                <a:spcPts val="600"/>
              </a:spcBef>
              <a:buClrTx/>
              <a:buFontTx/>
              <a:buNone/>
            </a:pPr>
            <a:r>
              <a:rPr lang="pt-BR" altLang="pt-BR" b="1">
                <a:solidFill>
                  <a:srgbClr val="3333CC"/>
                </a:solidFill>
                <a:latin typeface="Verdana" panose="020B0604030504040204" pitchFamily="34" charset="0"/>
              </a:rPr>
              <a:t>(Custo do trabalho)</a:t>
            </a:r>
          </a:p>
          <a:p>
            <a:pPr algn="ctr">
              <a:buClrTx/>
              <a:buFontTx/>
              <a:buNone/>
            </a:pPr>
            <a:endParaRPr lang="pt-BR" altLang="pt-BR" b="1">
              <a:solidFill>
                <a:srgbClr val="3333CC"/>
              </a:solidFill>
              <a:latin typeface="Verdana" panose="020B0604030504040204" pitchFamily="34" charset="0"/>
            </a:endParaRPr>
          </a:p>
        </p:txBody>
      </p:sp>
      <p:sp>
        <p:nvSpPr>
          <p:cNvPr id="25608" name="Text Box 10">
            <a:extLst>
              <a:ext uri="{FF2B5EF4-FFF2-40B4-BE49-F238E27FC236}">
                <a16:creationId xmlns:a16="http://schemas.microsoft.com/office/drawing/2014/main" id="{46761943-EE3C-172D-E69A-2EFA3482D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65175"/>
            <a:ext cx="7777162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pt-BR" altLang="pt-BR" sz="3500" b="1">
                <a:solidFill>
                  <a:srgbClr val="3333CC"/>
                </a:solidFill>
                <a:latin typeface="Verdana" panose="020B0604030504040204" pitchFamily="34" charset="0"/>
              </a:rPr>
              <a:t>Porque estudar interfaces?</a:t>
            </a:r>
          </a:p>
        </p:txBody>
      </p:sp>
      <p:pic>
        <p:nvPicPr>
          <p:cNvPr id="25609" name="Picture 11">
            <a:extLst>
              <a:ext uri="{FF2B5EF4-FFF2-40B4-BE49-F238E27FC236}">
                <a16:creationId xmlns:a16="http://schemas.microsoft.com/office/drawing/2014/main" id="{FE83F4A5-F501-9BF1-EBE6-5CC402DCD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200400"/>
            <a:ext cx="7429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0" name="Picture 12">
            <a:extLst>
              <a:ext uri="{FF2B5EF4-FFF2-40B4-BE49-F238E27FC236}">
                <a16:creationId xmlns:a16="http://schemas.microsoft.com/office/drawing/2014/main" id="{E8EB0EB8-00D8-8485-458C-BE65A6AC8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429000"/>
            <a:ext cx="19431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1" name="Picture 13">
            <a:extLst>
              <a:ext uri="{FF2B5EF4-FFF2-40B4-BE49-F238E27FC236}">
                <a16:creationId xmlns:a16="http://schemas.microsoft.com/office/drawing/2014/main" id="{426E8758-CCA7-9956-481A-2C21421BE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200400"/>
            <a:ext cx="7429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2" name="Picture 14">
            <a:extLst>
              <a:ext uri="{FF2B5EF4-FFF2-40B4-BE49-F238E27FC236}">
                <a16:creationId xmlns:a16="http://schemas.microsoft.com/office/drawing/2014/main" id="{C9D11379-760B-C7FF-7080-45FE0171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276600"/>
            <a:ext cx="7429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>
            <a:extLst>
              <a:ext uri="{FF2B5EF4-FFF2-40B4-BE49-F238E27FC236}">
                <a16:creationId xmlns:a16="http://schemas.microsoft.com/office/drawing/2014/main" id="{0C899225-3039-F9A4-4C9B-670DB9D0F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27650" name="Rectangle 4">
            <a:extLst>
              <a:ext uri="{FF2B5EF4-FFF2-40B4-BE49-F238E27FC236}">
                <a16:creationId xmlns:a16="http://schemas.microsoft.com/office/drawing/2014/main" id="{ABF97D72-0FAA-048E-6B22-2A93B3ABB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52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>
            <a:lvl1pPr marL="342900" indent="-3429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42950" algn="l"/>
                <a:tab pos="1657350" algn="l"/>
                <a:tab pos="2571750" algn="l"/>
                <a:tab pos="3486150" algn="l"/>
                <a:tab pos="4400550" algn="l"/>
                <a:tab pos="5314950" algn="l"/>
                <a:tab pos="6229350" algn="l"/>
                <a:tab pos="7143750" algn="l"/>
                <a:tab pos="8058150" algn="l"/>
                <a:tab pos="8972550" algn="l"/>
                <a:tab pos="9886950" algn="l"/>
                <a:tab pos="1080135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42950" algn="l"/>
                <a:tab pos="1657350" algn="l"/>
                <a:tab pos="2571750" algn="l"/>
                <a:tab pos="3486150" algn="l"/>
                <a:tab pos="4400550" algn="l"/>
                <a:tab pos="5314950" algn="l"/>
                <a:tab pos="6229350" algn="l"/>
                <a:tab pos="7143750" algn="l"/>
                <a:tab pos="8058150" algn="l"/>
                <a:tab pos="8972550" algn="l"/>
                <a:tab pos="9886950" algn="l"/>
                <a:tab pos="1080135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42950" algn="l"/>
                <a:tab pos="1657350" algn="l"/>
                <a:tab pos="2571750" algn="l"/>
                <a:tab pos="3486150" algn="l"/>
                <a:tab pos="4400550" algn="l"/>
                <a:tab pos="5314950" algn="l"/>
                <a:tab pos="6229350" algn="l"/>
                <a:tab pos="7143750" algn="l"/>
                <a:tab pos="8058150" algn="l"/>
                <a:tab pos="8972550" algn="l"/>
                <a:tab pos="9886950" algn="l"/>
                <a:tab pos="1080135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42950" algn="l"/>
                <a:tab pos="1657350" algn="l"/>
                <a:tab pos="2571750" algn="l"/>
                <a:tab pos="3486150" algn="l"/>
                <a:tab pos="4400550" algn="l"/>
                <a:tab pos="5314950" algn="l"/>
                <a:tab pos="6229350" algn="l"/>
                <a:tab pos="7143750" algn="l"/>
                <a:tab pos="8058150" algn="l"/>
                <a:tab pos="8972550" algn="l"/>
                <a:tab pos="9886950" algn="l"/>
                <a:tab pos="1080135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42950" algn="l"/>
                <a:tab pos="1657350" algn="l"/>
                <a:tab pos="2571750" algn="l"/>
                <a:tab pos="3486150" algn="l"/>
                <a:tab pos="4400550" algn="l"/>
                <a:tab pos="5314950" algn="l"/>
                <a:tab pos="6229350" algn="l"/>
                <a:tab pos="7143750" algn="l"/>
                <a:tab pos="8058150" algn="l"/>
                <a:tab pos="8972550" algn="l"/>
                <a:tab pos="9886950" algn="l"/>
                <a:tab pos="1080135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42950" algn="l"/>
                <a:tab pos="1657350" algn="l"/>
                <a:tab pos="2571750" algn="l"/>
                <a:tab pos="3486150" algn="l"/>
                <a:tab pos="4400550" algn="l"/>
                <a:tab pos="5314950" algn="l"/>
                <a:tab pos="6229350" algn="l"/>
                <a:tab pos="7143750" algn="l"/>
                <a:tab pos="8058150" algn="l"/>
                <a:tab pos="8972550" algn="l"/>
                <a:tab pos="9886950" algn="l"/>
                <a:tab pos="1080135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42950" algn="l"/>
                <a:tab pos="1657350" algn="l"/>
                <a:tab pos="2571750" algn="l"/>
                <a:tab pos="3486150" algn="l"/>
                <a:tab pos="4400550" algn="l"/>
                <a:tab pos="5314950" algn="l"/>
                <a:tab pos="6229350" algn="l"/>
                <a:tab pos="7143750" algn="l"/>
                <a:tab pos="8058150" algn="l"/>
                <a:tab pos="8972550" algn="l"/>
                <a:tab pos="9886950" algn="l"/>
                <a:tab pos="1080135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42950" algn="l"/>
                <a:tab pos="1657350" algn="l"/>
                <a:tab pos="2571750" algn="l"/>
                <a:tab pos="3486150" algn="l"/>
                <a:tab pos="4400550" algn="l"/>
                <a:tab pos="5314950" algn="l"/>
                <a:tab pos="6229350" algn="l"/>
                <a:tab pos="7143750" algn="l"/>
                <a:tab pos="8058150" algn="l"/>
                <a:tab pos="8972550" algn="l"/>
                <a:tab pos="9886950" algn="l"/>
                <a:tab pos="1080135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42950" algn="l"/>
                <a:tab pos="1657350" algn="l"/>
                <a:tab pos="2571750" algn="l"/>
                <a:tab pos="3486150" algn="l"/>
                <a:tab pos="4400550" algn="l"/>
                <a:tab pos="5314950" algn="l"/>
                <a:tab pos="6229350" algn="l"/>
                <a:tab pos="7143750" algn="l"/>
                <a:tab pos="8058150" algn="l"/>
                <a:tab pos="8972550" algn="l"/>
                <a:tab pos="9886950" algn="l"/>
                <a:tab pos="1080135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algn="just" eaLnBrk="1" hangingPunct="1">
              <a:lnSpc>
                <a:spcPct val="85000"/>
              </a:lnSpc>
              <a:spcBef>
                <a:spcPts val="700"/>
              </a:spcBef>
              <a:buClrTx/>
              <a:buFontTx/>
              <a:buNone/>
            </a:pPr>
            <a:endParaRPr lang="pt-BR" altLang="pt-BR" sz="2800" b="1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lvl="1" algn="just" eaLnBrk="1" hangingPunct="1">
              <a:lnSpc>
                <a:spcPct val="85000"/>
              </a:lnSpc>
              <a:spcBef>
                <a:spcPts val="700"/>
              </a:spcBef>
              <a:buClrTx/>
              <a:buFontTx/>
              <a:buNone/>
            </a:pPr>
            <a:endParaRPr lang="pt-BR" altLang="pt-BR" sz="2800" b="1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lvl="1" algn="just" eaLnBrk="1" hangingPunct="1">
              <a:lnSpc>
                <a:spcPct val="85000"/>
              </a:lnSpc>
              <a:spcBef>
                <a:spcPts val="700"/>
              </a:spcBef>
              <a:buClrTx/>
              <a:buFontTx/>
              <a:buNone/>
            </a:pPr>
            <a:endParaRPr lang="pt-BR" altLang="pt-BR" sz="2800" b="1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lvl="1" algn="just" eaLnBrk="1" hangingPunct="1">
              <a:lnSpc>
                <a:spcPct val="85000"/>
              </a:lnSpc>
              <a:spcBef>
                <a:spcPts val="700"/>
              </a:spcBef>
              <a:buClrTx/>
              <a:buFontTx/>
              <a:buNone/>
            </a:pPr>
            <a:endParaRPr lang="pt-BR" altLang="pt-BR" sz="2800" b="1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lvl="1" algn="just" eaLnBrk="1" hangingPunct="1">
              <a:lnSpc>
                <a:spcPct val="85000"/>
              </a:lnSpc>
              <a:spcBef>
                <a:spcPts val="700"/>
              </a:spcBef>
              <a:buClrTx/>
              <a:buFontTx/>
              <a:buNone/>
            </a:pPr>
            <a:endParaRPr lang="pt-BR" altLang="pt-BR" sz="2800" b="1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lvl="1" algn="just" eaLnBrk="1" hangingPunct="1">
              <a:lnSpc>
                <a:spcPct val="85000"/>
              </a:lnSpc>
              <a:spcBef>
                <a:spcPts val="700"/>
              </a:spcBef>
              <a:buClrTx/>
              <a:buFontTx/>
              <a:buNone/>
            </a:pPr>
            <a:endParaRPr lang="pt-BR" altLang="pt-BR" sz="2800" b="1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lvl="1" algn="just" eaLnBrk="1" hangingPunct="1">
              <a:lnSpc>
                <a:spcPct val="85000"/>
              </a:lnSpc>
              <a:spcBef>
                <a:spcPts val="700"/>
              </a:spcBef>
              <a:buClrTx/>
              <a:buFontTx/>
              <a:buNone/>
            </a:pPr>
            <a:endParaRPr lang="pt-BR" altLang="pt-BR" sz="2800" b="1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lvl="1" algn="just" eaLnBrk="1" hangingPunct="1">
              <a:lnSpc>
                <a:spcPct val="85000"/>
              </a:lnSpc>
              <a:spcBef>
                <a:spcPts val="700"/>
              </a:spcBef>
              <a:buClrTx/>
              <a:buFontTx/>
              <a:buNone/>
            </a:pPr>
            <a:endParaRPr lang="pt-BR" altLang="pt-BR" sz="2800" b="1">
              <a:solidFill>
                <a:srgbClr val="3333CC"/>
              </a:solidFill>
              <a:latin typeface="Verdana" panose="020B0604030504040204" pitchFamily="34" charset="0"/>
            </a:endParaRP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5CBA92AE-6B74-EB98-47EC-C5325AA8F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2400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0360" tIns="44280" rIns="90360" bIns="4428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SzPct val="100000"/>
              <a:defRPr/>
            </a:pPr>
            <a:r>
              <a:rPr lang="pt-BR" altLang="pt-BR" sz="3500" b="1" u="sng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Visão Geral</a:t>
            </a:r>
          </a:p>
        </p:txBody>
      </p:sp>
      <p:sp>
        <p:nvSpPr>
          <p:cNvPr id="27652" name="Rectangle 6">
            <a:extLst>
              <a:ext uri="{FF2B5EF4-FFF2-40B4-BE49-F238E27FC236}">
                <a16:creationId xmlns:a16="http://schemas.microsoft.com/office/drawing/2014/main" id="{9BDFE632-CB46-814C-62B1-18EB0ED1D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43668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>
            <a:lvl1pPr marL="342900" indent="-34131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ts val="625"/>
              </a:spcBef>
              <a:buClrTx/>
              <a:buFontTx/>
              <a:buNone/>
            </a:pPr>
            <a:r>
              <a:rPr lang="pt-BR" altLang="pt-BR" sz="2500" b="1">
                <a:solidFill>
                  <a:srgbClr val="3333CC"/>
                </a:solidFill>
                <a:latin typeface="Verdana" panose="020B0604030504040204" pitchFamily="34" charset="0"/>
              </a:rPr>
              <a:t>Por que estudar Interfaces?</a:t>
            </a:r>
          </a:p>
        </p:txBody>
      </p:sp>
      <p:sp>
        <p:nvSpPr>
          <p:cNvPr id="27653" name="Text Box 7">
            <a:extLst>
              <a:ext uri="{FF2B5EF4-FFF2-40B4-BE49-F238E27FC236}">
                <a16:creationId xmlns:a16="http://schemas.microsoft.com/office/drawing/2014/main" id="{D855470E-C4C0-1B37-B658-C7AA61ADB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205038"/>
            <a:ext cx="8226425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572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indent="0">
              <a:lnSpc>
                <a:spcPct val="85000"/>
              </a:lnSpc>
              <a:spcBef>
                <a:spcPts val="450"/>
              </a:spcBef>
              <a:buClrTx/>
              <a:buFontTx/>
              <a:buNone/>
            </a:pPr>
            <a:r>
              <a:rPr lang="pt-BR" altLang="pt-BR" sz="1800">
                <a:solidFill>
                  <a:srgbClr val="3333CC"/>
                </a:solidFill>
                <a:latin typeface="Verdana" panose="020B0604030504040204" pitchFamily="34" charset="0"/>
              </a:rPr>
              <a:t>A qualidade da interface determina se os usuários aceitam ou recusam um sistema (interesse comercial)</a:t>
            </a:r>
          </a:p>
          <a:p>
            <a:pPr>
              <a:buClrTx/>
              <a:buFontTx/>
              <a:buNone/>
            </a:pPr>
            <a:endParaRPr lang="pt-BR" altLang="pt-BR" sz="1800">
              <a:solidFill>
                <a:srgbClr val="3333CC"/>
              </a:solidFill>
              <a:latin typeface="Verdana" panose="020B0604030504040204" pitchFamily="34" charset="0"/>
            </a:endParaRPr>
          </a:p>
        </p:txBody>
      </p:sp>
      <p:sp>
        <p:nvSpPr>
          <p:cNvPr id="12296" name="AutoShape 8">
            <a:extLst>
              <a:ext uri="{FF2B5EF4-FFF2-40B4-BE49-F238E27FC236}">
                <a16:creationId xmlns:a16="http://schemas.microsoft.com/office/drawing/2014/main" id="{EF37B732-CE22-C0DC-FA2C-684651BB4CE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195513" y="2997200"/>
            <a:ext cx="304800" cy="361950"/>
          </a:xfrm>
          <a:custGeom>
            <a:avLst/>
            <a:gdLst>
              <a:gd name="T0" fmla="*/ 213078 w 21600"/>
              <a:gd name="T1" fmla="*/ 0 h 21600"/>
              <a:gd name="T2" fmla="*/ 213078 w 21600"/>
              <a:gd name="T3" fmla="*/ 203731 h 21600"/>
              <a:gd name="T4" fmla="*/ 45861 w 21600"/>
              <a:gd name="T5" fmla="*/ 361950 h 21600"/>
              <a:gd name="T6" fmla="*/ 304800 w 21600"/>
              <a:gd name="T7" fmla="*/ 101865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00 h 21600"/>
              <a:gd name="T14" fmla="*/ 18201 w 21600"/>
              <a:gd name="T15" fmla="*/ 925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00" y="0"/>
                </a:lnTo>
                <a:lnTo>
                  <a:pt x="15100" y="2900"/>
                </a:lnTo>
                <a:lnTo>
                  <a:pt x="12427" y="2900"/>
                </a:lnTo>
                <a:cubicBezTo>
                  <a:pt x="5564" y="2900"/>
                  <a:pt x="0" y="7045"/>
                  <a:pt x="0" y="12158"/>
                </a:cubicBezTo>
                <a:lnTo>
                  <a:pt x="0" y="21600"/>
                </a:lnTo>
                <a:lnTo>
                  <a:pt x="6499" y="21600"/>
                </a:lnTo>
                <a:lnTo>
                  <a:pt x="6499" y="12158"/>
                </a:lnTo>
                <a:cubicBezTo>
                  <a:pt x="6499" y="10556"/>
                  <a:pt x="9153" y="9258"/>
                  <a:pt x="12427" y="9258"/>
                </a:cubicBezTo>
                <a:lnTo>
                  <a:pt x="15100" y="9258"/>
                </a:lnTo>
                <a:lnTo>
                  <a:pt x="15100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000080"/>
          </a:solidFill>
          <a:ln w="12600">
            <a:solidFill>
              <a:srgbClr val="B2B2B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pt-BR"/>
          </a:p>
        </p:txBody>
      </p:sp>
      <p:sp>
        <p:nvSpPr>
          <p:cNvPr id="27655" name="Text Box 9">
            <a:extLst>
              <a:ext uri="{FF2B5EF4-FFF2-40B4-BE49-F238E27FC236}">
                <a16:creationId xmlns:a16="http://schemas.microsoft.com/office/drawing/2014/main" id="{F6AA297E-2C34-2B2F-34C3-1CE8D5DB0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7638" y="3043238"/>
            <a:ext cx="4354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1800" b="1" i="1">
                <a:solidFill>
                  <a:srgbClr val="3333CC"/>
                </a:solidFill>
                <a:latin typeface="Verdana" panose="020B0604030504040204" pitchFamily="34" charset="0"/>
              </a:rPr>
              <a:t>Sucesso ou fracasso de mercado</a:t>
            </a:r>
          </a:p>
        </p:txBody>
      </p:sp>
      <p:sp>
        <p:nvSpPr>
          <p:cNvPr id="27656" name="Text Box 10">
            <a:extLst>
              <a:ext uri="{FF2B5EF4-FFF2-40B4-BE49-F238E27FC236}">
                <a16:creationId xmlns:a16="http://schemas.microsoft.com/office/drawing/2014/main" id="{56F7D2BC-2344-DE65-65EA-2F2702A64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573463"/>
            <a:ext cx="82264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572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indent="0" algn="just">
              <a:lnSpc>
                <a:spcPct val="85000"/>
              </a:lnSpc>
              <a:spcBef>
                <a:spcPts val="450"/>
              </a:spcBef>
              <a:buClrTx/>
              <a:buFontTx/>
              <a:buNone/>
            </a:pPr>
            <a:r>
              <a:rPr lang="pt-BR" altLang="pt-BR" sz="1800">
                <a:solidFill>
                  <a:srgbClr val="3333CC"/>
                </a:solidFill>
                <a:latin typeface="Verdana" panose="020B0604030504040204" pitchFamily="34" charset="0"/>
              </a:rPr>
              <a:t>Custos de hardware e software barateados permitem que se gaste maior capacidade computacional em troca de conforto para o usuário.</a:t>
            </a:r>
          </a:p>
        </p:txBody>
      </p:sp>
      <p:sp>
        <p:nvSpPr>
          <p:cNvPr id="27657" name="Text Box 11">
            <a:extLst>
              <a:ext uri="{FF2B5EF4-FFF2-40B4-BE49-F238E27FC236}">
                <a16:creationId xmlns:a16="http://schemas.microsoft.com/office/drawing/2014/main" id="{41752D62-A2D0-4E37-FA72-EE56743AB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437063"/>
            <a:ext cx="8424863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572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indent="0" algn="just">
              <a:lnSpc>
                <a:spcPct val="85000"/>
              </a:lnSpc>
              <a:spcBef>
                <a:spcPts val="450"/>
              </a:spcBef>
              <a:buClrTx/>
              <a:buFontTx/>
              <a:buNone/>
            </a:pPr>
            <a:r>
              <a:rPr lang="pt-BR" altLang="pt-BR" sz="1800">
                <a:solidFill>
                  <a:srgbClr val="3333CC"/>
                </a:solidFill>
                <a:latin typeface="Verdana" panose="020B0604030504040204" pitchFamily="34" charset="0"/>
              </a:rPr>
              <a:t>A qualidade da interface é crítica em certas atividades, como: tráfego aéreo ou usinas nucleares.</a:t>
            </a:r>
          </a:p>
        </p:txBody>
      </p:sp>
      <p:sp>
        <p:nvSpPr>
          <p:cNvPr id="27658" name="Text Box 12">
            <a:extLst>
              <a:ext uri="{FF2B5EF4-FFF2-40B4-BE49-F238E27FC236}">
                <a16:creationId xmlns:a16="http://schemas.microsoft.com/office/drawing/2014/main" id="{F3F10F6B-02DC-AB75-6D26-629EF4BBC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84763"/>
            <a:ext cx="813593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572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indent="0" eaLnBrk="1" hangingPunct="1">
              <a:buClrTx/>
              <a:buFontTx/>
              <a:buNone/>
            </a:pPr>
            <a:r>
              <a:rPr lang="pt-BR" altLang="pt-BR" sz="1800">
                <a:solidFill>
                  <a:srgbClr val="3333CC"/>
                </a:solidFill>
                <a:latin typeface="Verdana" panose="020B0604030504040204" pitchFamily="34" charset="0"/>
              </a:rPr>
              <a:t>Usuários comuns estão cada vez mais em contato com sistemas computacionais devido a popularização da Internet e a disseminação de equipamentos e serviços que utilizam computadores.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>
            <a:extLst>
              <a:ext uri="{FF2B5EF4-FFF2-40B4-BE49-F238E27FC236}">
                <a16:creationId xmlns:a16="http://schemas.microsoft.com/office/drawing/2014/main" id="{5B77EEBE-89EA-1C22-98B4-EC135AE5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31746" name="Rectangle 4">
            <a:extLst>
              <a:ext uri="{FF2B5EF4-FFF2-40B4-BE49-F238E27FC236}">
                <a16:creationId xmlns:a16="http://schemas.microsoft.com/office/drawing/2014/main" id="{B8EDD2EA-77ED-B5A5-5FA8-F07B77DDE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773238"/>
            <a:ext cx="7345363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Interface e interação são conceitos que não podem ser estabelecidos ou analisados independentemente.</a:t>
            </a:r>
          </a:p>
          <a:p>
            <a:pPr eaLnBrk="1" hangingPunct="1">
              <a:buClrTx/>
              <a:buFontTx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Interação Humano-Computador (IHC): área de estudo que está na interseção das ciências da computação e informação e ciências sociais e comportamentais e envolve todos os aspectos relacionados com a interação entre usuários e sistemas (Preece et al., 1994; Carroll, 2003).</a:t>
            </a:r>
          </a:p>
          <a:p>
            <a:pPr eaLnBrk="1" hangingPunct="1">
              <a:buClrTx/>
              <a:buFontTx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9ABD5DBF-7F38-1FC2-7FAD-8461BFD80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735013"/>
            <a:ext cx="37449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>
            <a:lvl1pPr marL="342900" indent="-34131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3500" b="1">
                <a:solidFill>
                  <a:srgbClr val="3333CC"/>
                </a:solidFill>
                <a:latin typeface="Verdana" panose="020B0604030504040204" pitchFamily="34" charset="0"/>
              </a:rPr>
              <a:t>O que é IHC?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D1D46B0C-3B1F-5C19-40D2-A933D52A2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33794" name="Rectangle 4">
            <a:extLst>
              <a:ext uri="{FF2B5EF4-FFF2-40B4-BE49-F238E27FC236}">
                <a16:creationId xmlns:a16="http://schemas.microsoft.com/office/drawing/2014/main" id="{A127B7A0-0CE3-70EE-B56A-3FF11D41D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773238"/>
            <a:ext cx="7345363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IHC é a disciplina preocupada com o design, avaliação e implementação de sistemas computacionais interativos para uso humano e com o estudo dos principais fenômenos ao redor deles. </a:t>
            </a:r>
          </a:p>
          <a:p>
            <a:pPr eaLnBrk="1" hangingPunct="1">
              <a:buClrTx/>
              <a:buFontTx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</p:txBody>
      </p:sp>
      <p:sp>
        <p:nvSpPr>
          <p:cNvPr id="33795" name="Rectangle 5">
            <a:extLst>
              <a:ext uri="{FF2B5EF4-FFF2-40B4-BE49-F238E27FC236}">
                <a16:creationId xmlns:a16="http://schemas.microsoft.com/office/drawing/2014/main" id="{AE9A7640-936B-20BC-E856-D6120B15B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735013"/>
            <a:ext cx="37449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>
            <a:lvl1pPr marL="342900" indent="-34131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ts val="875"/>
              </a:spcBef>
              <a:buClrTx/>
              <a:buFontTx/>
              <a:buNone/>
            </a:pPr>
            <a:r>
              <a:rPr lang="pt-BR" altLang="pt-BR" sz="3500" b="1">
                <a:solidFill>
                  <a:srgbClr val="3333CC"/>
                </a:solidFill>
                <a:latin typeface="Verdana" panose="020B0604030504040204" pitchFamily="34" charset="0"/>
              </a:rPr>
              <a:t>O que é IHC?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>
            <a:extLst>
              <a:ext uri="{FF2B5EF4-FFF2-40B4-BE49-F238E27FC236}">
                <a16:creationId xmlns:a16="http://schemas.microsoft.com/office/drawing/2014/main" id="{BE86EE9E-0DB8-4C12-4985-9A94C0E45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35842" name="Text Box 4">
            <a:extLst>
              <a:ext uri="{FF2B5EF4-FFF2-40B4-BE49-F238E27FC236}">
                <a16:creationId xmlns:a16="http://schemas.microsoft.com/office/drawing/2014/main" id="{61F06768-9DF1-0162-C5E5-DE7161FD9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908050"/>
            <a:ext cx="8216900" cy="467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500"/>
              </a:spcBef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Fornecer explicações e previsões para fenômenos de interação usuário-sistema e resultados práticos para o projeto da interação (ACM SIGCHI, 1992).</a:t>
            </a:r>
          </a:p>
          <a:p>
            <a:pPr eaLnBrk="1" hangingPunct="1">
              <a:spcBef>
                <a:spcPts val="1500"/>
              </a:spcBef>
              <a:buClrTx/>
              <a:buFontTx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eaLnBrk="1" hangingPunct="1"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Apresentar recomendações para o projeto de interfaces que facilitem a interação;</a:t>
            </a:r>
          </a:p>
          <a:p>
            <a:pPr eaLnBrk="1" hangingPunct="1">
              <a:buClr>
                <a:srgbClr val="3333CC"/>
              </a:buClr>
              <a:buFont typeface="Verdana" panose="020B0604030504040204" pitchFamily="34" charset="0"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eaLnBrk="1" hangingPunct="1"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Testar a facilidade de uso de aplicações</a:t>
            </a:r>
          </a:p>
          <a:p>
            <a:pPr eaLnBrk="1" hangingPunct="1"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computacionais;</a:t>
            </a:r>
          </a:p>
          <a:p>
            <a:pPr eaLnBrk="1" hangingPunct="1">
              <a:buClrTx/>
              <a:buFontTx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eaLnBrk="1" hangingPunct="1"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Relatar os problemas encontrados e apresentar possíveis soluções.</a:t>
            </a:r>
          </a:p>
        </p:txBody>
      </p:sp>
      <p:sp>
        <p:nvSpPr>
          <p:cNvPr id="35843" name="Rectangle 5">
            <a:extLst>
              <a:ext uri="{FF2B5EF4-FFF2-40B4-BE49-F238E27FC236}">
                <a16:creationId xmlns:a16="http://schemas.microsoft.com/office/drawing/2014/main" id="{D6D38D26-7D18-3686-B62F-8A61365EF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111125"/>
            <a:ext cx="20780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750"/>
              </a:spcBef>
              <a:buClrTx/>
              <a:buFontTx/>
              <a:buNone/>
            </a:pPr>
            <a:r>
              <a:rPr lang="pt-BR" altLang="pt-BR" sz="2800" b="1">
                <a:solidFill>
                  <a:srgbClr val="3333CC"/>
                </a:solidFill>
                <a:latin typeface="Verdana" panose="020B0604030504040204" pitchFamily="34" charset="0"/>
              </a:rPr>
              <a:t>Objetivos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>
            <a:extLst>
              <a:ext uri="{FF2B5EF4-FFF2-40B4-BE49-F238E27FC236}">
                <a16:creationId xmlns:a16="http://schemas.microsoft.com/office/drawing/2014/main" id="{8E8BAB25-EF84-27A9-090D-72F7416C8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37890" name="Rectangle 4">
            <a:extLst>
              <a:ext uri="{FF2B5EF4-FFF2-40B4-BE49-F238E27FC236}">
                <a16:creationId xmlns:a16="http://schemas.microsoft.com/office/drawing/2014/main" id="{3F26FA9E-C12A-C6C4-7AB9-2FA3F9350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908050"/>
            <a:ext cx="7993063" cy="344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3333CC"/>
              </a:buClr>
              <a:buFont typeface="Times New Roman" panose="02020603050405020304" pitchFamily="18" charset="0"/>
              <a:buChar char="•"/>
            </a:pPr>
            <a:r>
              <a:rPr lang="pt-BR" altLang="pt-BR" sz="2800">
                <a:solidFill>
                  <a:srgbClr val="3333CC"/>
                </a:solidFill>
              </a:rPr>
              <a:t> </a:t>
            </a: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Equilibrar conforto e facilidades de uso com desempenho da aplicação ;</a:t>
            </a:r>
          </a:p>
          <a:p>
            <a:pPr eaLnBrk="1" hangingPunct="1">
              <a:buClr>
                <a:srgbClr val="3333CC"/>
              </a:buClr>
              <a:buFont typeface="Verdana" panose="020B0604030504040204" pitchFamily="34" charset="0"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eaLnBrk="1" hangingPunct="1"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Projetar sistemas que atendam diferentes perfis de usuários;</a:t>
            </a:r>
          </a:p>
          <a:p>
            <a:pPr eaLnBrk="1" hangingPunct="1">
              <a:buClr>
                <a:srgbClr val="3333CC"/>
              </a:buClr>
              <a:buFont typeface="Verdana" panose="020B0604030504040204" pitchFamily="34" charset="0"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eaLnBrk="1" hangingPunct="1"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Projetar boas interfaces em aplicações</a:t>
            </a:r>
          </a:p>
          <a:p>
            <a:pPr eaLnBrk="1" hangingPunct="1"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complexas, que normalmente possuem um grande número de funções. (Exemplo: carro)</a:t>
            </a:r>
          </a:p>
        </p:txBody>
      </p:sp>
      <p:sp>
        <p:nvSpPr>
          <p:cNvPr id="37891" name="Rectangle 5">
            <a:extLst>
              <a:ext uri="{FF2B5EF4-FFF2-40B4-BE49-F238E27FC236}">
                <a16:creationId xmlns:a16="http://schemas.microsoft.com/office/drawing/2014/main" id="{25D35FE0-D757-C50D-541A-A29985F27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3" y="111125"/>
            <a:ext cx="188436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750"/>
              </a:spcBef>
              <a:buClrTx/>
              <a:buFontTx/>
              <a:buNone/>
            </a:pPr>
            <a:r>
              <a:rPr lang="pt-BR" altLang="pt-BR" sz="2800" b="1">
                <a:solidFill>
                  <a:srgbClr val="3333CC"/>
                </a:solidFill>
                <a:latin typeface="Verdana" panose="020B0604030504040204" pitchFamily="34" charset="0"/>
              </a:rPr>
              <a:t>Desafios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>
            <a:extLst>
              <a:ext uri="{FF2B5EF4-FFF2-40B4-BE49-F238E27FC236}">
                <a16:creationId xmlns:a16="http://schemas.microsoft.com/office/drawing/2014/main" id="{4B705E71-7AFA-DFCB-B736-D97B0CBEE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39938" name="Rectangle 4">
            <a:extLst>
              <a:ext uri="{FF2B5EF4-FFF2-40B4-BE49-F238E27FC236}">
                <a16:creationId xmlns:a16="http://schemas.microsoft.com/office/drawing/2014/main" id="{A6DA241C-03D6-43D3-3F14-5C29D85CA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81000"/>
            <a:ext cx="203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>
            <a:lvl1pPr marL="342900" indent="-34131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ts val="700"/>
              </a:spcBef>
              <a:buClrTx/>
              <a:buFontTx/>
              <a:buNone/>
            </a:pPr>
            <a:r>
              <a:rPr lang="pt-BR" altLang="pt-BR" sz="2800" b="1">
                <a:solidFill>
                  <a:srgbClr val="3333CC"/>
                </a:solidFill>
                <a:latin typeface="Verdana" panose="020B0604030504040204" pitchFamily="34" charset="0"/>
              </a:rPr>
              <a:t>Histórico </a:t>
            </a:r>
          </a:p>
        </p:txBody>
      </p:sp>
      <p:pic>
        <p:nvPicPr>
          <p:cNvPr id="39939" name="Picture 5">
            <a:extLst>
              <a:ext uri="{FF2B5EF4-FFF2-40B4-BE49-F238E27FC236}">
                <a16:creationId xmlns:a16="http://schemas.microsoft.com/office/drawing/2014/main" id="{341DC071-BA34-55B4-7313-4F966396B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24000"/>
            <a:ext cx="914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6">
            <a:extLst>
              <a:ext uri="{FF2B5EF4-FFF2-40B4-BE49-F238E27FC236}">
                <a16:creationId xmlns:a16="http://schemas.microsoft.com/office/drawing/2014/main" id="{B0E63729-7774-C040-B76F-C80157F97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47800"/>
            <a:ext cx="42672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7">
            <a:extLst>
              <a:ext uri="{FF2B5EF4-FFF2-40B4-BE49-F238E27FC236}">
                <a16:creationId xmlns:a16="http://schemas.microsoft.com/office/drawing/2014/main" id="{BFA53969-7BC9-9EFB-1317-1695BB8CD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581400"/>
            <a:ext cx="3505200" cy="210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8">
            <a:extLst>
              <a:ext uri="{FF2B5EF4-FFF2-40B4-BE49-F238E27FC236}">
                <a16:creationId xmlns:a16="http://schemas.microsoft.com/office/drawing/2014/main" id="{3A5A5A80-5B18-0F2D-212D-D4AB6E0E5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447800"/>
            <a:ext cx="2047875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>
            <a:extLst>
              <a:ext uri="{FF2B5EF4-FFF2-40B4-BE49-F238E27FC236}">
                <a16:creationId xmlns:a16="http://schemas.microsoft.com/office/drawing/2014/main" id="{EED51984-13F1-9310-33CA-9F683EF40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41986" name="Text Box 4">
            <a:extLst>
              <a:ext uri="{FF2B5EF4-FFF2-40B4-BE49-F238E27FC236}">
                <a16:creationId xmlns:a16="http://schemas.microsoft.com/office/drawing/2014/main" id="{C70F9D8A-93D5-7E18-B172-5957E909E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52600"/>
            <a:ext cx="7848600" cy="285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500"/>
              </a:spcBef>
              <a:buClr>
                <a:srgbClr val="3333CC"/>
              </a:buClr>
              <a:buFont typeface="Verdana" panose="020B0604030504040204" pitchFamily="34" charset="0"/>
              <a:buChar char="-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baseada em comandos escritos pelo próprio usuário (query interfaces).</a:t>
            </a:r>
          </a:p>
          <a:p>
            <a:pPr eaLnBrk="1" hangingPunct="1">
              <a:spcBef>
                <a:spcPts val="1500"/>
              </a:spcBef>
              <a:buClr>
                <a:srgbClr val="3333CC"/>
              </a:buClr>
              <a:buFont typeface="Verdana" panose="020B0604030504040204" pitchFamily="34" charset="0"/>
              <a:buChar char="-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A comunicação é puramente textual e é feita via comandos.  </a:t>
            </a:r>
          </a:p>
          <a:p>
            <a:pPr eaLnBrk="1" hangingPunct="1">
              <a:spcBef>
                <a:spcPts val="1500"/>
              </a:spcBef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unix, ms-dos e so dos mainframes.</a:t>
            </a:r>
          </a:p>
          <a:p>
            <a:pPr eaLnBrk="1" hangingPunct="1">
              <a:spcBef>
                <a:spcPts val="1500"/>
              </a:spcBef>
              <a:buClrTx/>
              <a:buFontTx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</p:txBody>
      </p:sp>
      <p:sp>
        <p:nvSpPr>
          <p:cNvPr id="41987" name="Rectangle 5">
            <a:extLst>
              <a:ext uri="{FF2B5EF4-FFF2-40B4-BE49-F238E27FC236}">
                <a16:creationId xmlns:a16="http://schemas.microsoft.com/office/drawing/2014/main" id="{0BCAE700-D317-4C8A-DD9B-4435DA415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1143000"/>
            <a:ext cx="32337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b="1">
                <a:solidFill>
                  <a:srgbClr val="3333CC"/>
                </a:solidFill>
                <a:latin typeface="Verdana" panose="020B0604030504040204" pitchFamily="34" charset="0"/>
              </a:rPr>
              <a:t>Primeira geração:</a:t>
            </a:r>
          </a:p>
        </p:txBody>
      </p:sp>
      <p:pic>
        <p:nvPicPr>
          <p:cNvPr id="41988" name="Picture 6">
            <a:extLst>
              <a:ext uri="{FF2B5EF4-FFF2-40B4-BE49-F238E27FC236}">
                <a16:creationId xmlns:a16="http://schemas.microsoft.com/office/drawing/2014/main" id="{3A3E3F00-50E9-14D8-8F2E-191BEE611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200400"/>
            <a:ext cx="208597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7">
            <a:extLst>
              <a:ext uri="{FF2B5EF4-FFF2-40B4-BE49-F238E27FC236}">
                <a16:creationId xmlns:a16="http://schemas.microsoft.com/office/drawing/2014/main" id="{12BAD987-BFBB-D196-1346-A49604361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228600"/>
            <a:ext cx="473868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2800" b="1">
                <a:solidFill>
                  <a:srgbClr val="3333CC"/>
                </a:solidFill>
                <a:latin typeface="Verdana" panose="020B0604030504040204" pitchFamily="34" charset="0"/>
              </a:rPr>
              <a:t>Gerações de interfaces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>
            <a:extLst>
              <a:ext uri="{FF2B5EF4-FFF2-40B4-BE49-F238E27FC236}">
                <a16:creationId xmlns:a16="http://schemas.microsoft.com/office/drawing/2014/main" id="{5746401A-9823-5D1F-1B01-A87783300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44034" name="Text Box 4">
            <a:extLst>
              <a:ext uri="{FF2B5EF4-FFF2-40B4-BE49-F238E27FC236}">
                <a16:creationId xmlns:a16="http://schemas.microsoft.com/office/drawing/2014/main" id="{1A9C2220-75AE-ECD5-E6B1-8674DBFEA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133600"/>
            <a:ext cx="5715000" cy="155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500"/>
              </a:spcBef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- menu simples. uma lista de opções é apresentada ao usuário e a decisão apropriada é selecionada via algum código digitado.	</a:t>
            </a:r>
          </a:p>
        </p:txBody>
      </p:sp>
      <p:sp>
        <p:nvSpPr>
          <p:cNvPr id="44035" name="Rectangle 5">
            <a:extLst>
              <a:ext uri="{FF2B5EF4-FFF2-40B4-BE49-F238E27FC236}">
                <a16:creationId xmlns:a16="http://schemas.microsoft.com/office/drawing/2014/main" id="{A48DDFAD-8871-CC88-CC81-75674893C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228600"/>
            <a:ext cx="473868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2800" b="1">
                <a:solidFill>
                  <a:srgbClr val="3333CC"/>
                </a:solidFill>
                <a:latin typeface="Verdana" panose="020B0604030504040204" pitchFamily="34" charset="0"/>
              </a:rPr>
              <a:t>Gerações de interfaces</a:t>
            </a:r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571A9C49-D196-5939-FEBA-419DA9C62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1143000"/>
            <a:ext cx="32527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b="1">
                <a:solidFill>
                  <a:srgbClr val="3333CC"/>
                </a:solidFill>
                <a:latin typeface="Verdana" panose="020B0604030504040204" pitchFamily="34" charset="0"/>
              </a:rPr>
              <a:t>Segunda geração:</a:t>
            </a:r>
          </a:p>
        </p:txBody>
      </p:sp>
      <p:pic>
        <p:nvPicPr>
          <p:cNvPr id="44037" name="Picture 7">
            <a:extLst>
              <a:ext uri="{FF2B5EF4-FFF2-40B4-BE49-F238E27FC236}">
                <a16:creationId xmlns:a16="http://schemas.microsoft.com/office/drawing/2014/main" id="{A433D98C-C92D-9C15-F204-CED11D7AC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962400"/>
            <a:ext cx="2643188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>
            <a:extLst>
              <a:ext uri="{FF2B5EF4-FFF2-40B4-BE49-F238E27FC236}">
                <a16:creationId xmlns:a16="http://schemas.microsoft.com/office/drawing/2014/main" id="{38580F9A-6002-B774-0A27-BF30BCE3C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46082" name="Text Box 4">
            <a:extLst>
              <a:ext uri="{FF2B5EF4-FFF2-40B4-BE49-F238E27FC236}">
                <a16:creationId xmlns:a16="http://schemas.microsoft.com/office/drawing/2014/main" id="{A553E839-162F-46F5-EF12-03708E733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81200"/>
            <a:ext cx="7010400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500"/>
              </a:spcBef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- Orientada a janela, interfaces de apontar e apanhar (point and pick interfaces).</a:t>
            </a:r>
          </a:p>
          <a:p>
            <a:pPr eaLnBrk="1" hangingPunct="1">
              <a:spcBef>
                <a:spcPts val="1500"/>
              </a:spcBef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- Conhecidas como interfaces WIMP (Windows, Icons, Menus, and Pointing devices) + manipulação direta.</a:t>
            </a:r>
          </a:p>
          <a:p>
            <a:pPr eaLnBrk="1" hangingPunct="1">
              <a:spcBef>
                <a:spcPts val="1500"/>
              </a:spcBef>
              <a:buClrTx/>
              <a:buFontTx/>
              <a:buNone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- Trazem o conceito de mesa de trabalho (desktop).</a:t>
            </a:r>
          </a:p>
          <a:p>
            <a:pPr eaLnBrk="1" hangingPunct="1">
              <a:spcBef>
                <a:spcPts val="1500"/>
              </a:spcBef>
              <a:buClrTx/>
              <a:buFontTx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</p:txBody>
      </p:sp>
      <p:sp>
        <p:nvSpPr>
          <p:cNvPr id="46083" name="Rectangle 5">
            <a:extLst>
              <a:ext uri="{FF2B5EF4-FFF2-40B4-BE49-F238E27FC236}">
                <a16:creationId xmlns:a16="http://schemas.microsoft.com/office/drawing/2014/main" id="{7968B2BA-C638-D657-8F91-7D2197845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228600"/>
            <a:ext cx="473868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2800" b="1">
                <a:solidFill>
                  <a:srgbClr val="3333CC"/>
                </a:solidFill>
                <a:latin typeface="Verdana" panose="020B0604030504040204" pitchFamily="34" charset="0"/>
              </a:rPr>
              <a:t>Gerações de interfaces</a:t>
            </a:r>
          </a:p>
        </p:txBody>
      </p:sp>
      <p:sp>
        <p:nvSpPr>
          <p:cNvPr id="46084" name="Rectangle 6">
            <a:extLst>
              <a:ext uri="{FF2B5EF4-FFF2-40B4-BE49-F238E27FC236}">
                <a16:creationId xmlns:a16="http://schemas.microsoft.com/office/drawing/2014/main" id="{B7C63259-4B80-547E-4200-D3065E179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1143000"/>
            <a:ext cx="31718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b="1">
                <a:solidFill>
                  <a:srgbClr val="3333CC"/>
                </a:solidFill>
                <a:latin typeface="Verdana" panose="020B0604030504040204" pitchFamily="34" charset="0"/>
              </a:rPr>
              <a:t>Terceira geração: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>
            <a:extLst>
              <a:ext uri="{FF2B5EF4-FFF2-40B4-BE49-F238E27FC236}">
                <a16:creationId xmlns:a16="http://schemas.microsoft.com/office/drawing/2014/main" id="{48ACC0F5-7574-CF6A-7BE1-26E6DEEC3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48130" name="Text Box 4">
            <a:extLst>
              <a:ext uri="{FF2B5EF4-FFF2-40B4-BE49-F238E27FC236}">
                <a16:creationId xmlns:a16="http://schemas.microsoft.com/office/drawing/2014/main" id="{FFF97170-F0A4-5CF5-E84D-9AA5BDD58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09800"/>
            <a:ext cx="6477000" cy="192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500"/>
              </a:spcBef>
              <a:buClr>
                <a:srgbClr val="3333CC"/>
              </a:buClr>
              <a:buFont typeface="Verdana" panose="020B0604030504040204" pitchFamily="34" charset="0"/>
              <a:buChar char="-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hipertexto e multitarefa (GUI + WUI). esta geração (geração corrente), soma  aos atributos das interfaces de terceira geração, as técnicas de hipertexto e multitarefa. </a:t>
            </a:r>
          </a:p>
        </p:txBody>
      </p:sp>
      <p:sp>
        <p:nvSpPr>
          <p:cNvPr id="48131" name="Rectangle 5">
            <a:extLst>
              <a:ext uri="{FF2B5EF4-FFF2-40B4-BE49-F238E27FC236}">
                <a16:creationId xmlns:a16="http://schemas.microsoft.com/office/drawing/2014/main" id="{936E13BA-0C78-3D7A-CEB8-CA0E7DE3A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228600"/>
            <a:ext cx="473868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2800" b="1">
                <a:solidFill>
                  <a:srgbClr val="3333CC"/>
                </a:solidFill>
                <a:latin typeface="Verdana" panose="020B0604030504040204" pitchFamily="34" charset="0"/>
              </a:rPr>
              <a:t>Gerações de interfaces</a:t>
            </a:r>
          </a:p>
        </p:txBody>
      </p:sp>
      <p:sp>
        <p:nvSpPr>
          <p:cNvPr id="48132" name="Rectangle 6">
            <a:extLst>
              <a:ext uri="{FF2B5EF4-FFF2-40B4-BE49-F238E27FC236}">
                <a16:creationId xmlns:a16="http://schemas.microsoft.com/office/drawing/2014/main" id="{EF7BF190-FA50-708A-636E-F7E9D1462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143000"/>
            <a:ext cx="2943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b="1">
                <a:solidFill>
                  <a:srgbClr val="3333CC"/>
                </a:solidFill>
                <a:latin typeface="Verdana" panose="020B0604030504040204" pitchFamily="34" charset="0"/>
              </a:rPr>
              <a:t>Quarta geração: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>
            <a:extLst>
              <a:ext uri="{FF2B5EF4-FFF2-40B4-BE49-F238E27FC236}">
                <a16:creationId xmlns:a16="http://schemas.microsoft.com/office/drawing/2014/main" id="{58735AD4-D1D5-457E-685A-6384E7F33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pic>
        <p:nvPicPr>
          <p:cNvPr id="50178" name="Picture 4">
            <a:extLst>
              <a:ext uri="{FF2B5EF4-FFF2-40B4-BE49-F238E27FC236}">
                <a16:creationId xmlns:a16="http://schemas.microsoft.com/office/drawing/2014/main" id="{D503D0FC-DDC4-BD72-AFA5-CB513DC5E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"/>
            <a:ext cx="3768725" cy="272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9" name="Picture 5">
            <a:extLst>
              <a:ext uri="{FF2B5EF4-FFF2-40B4-BE49-F238E27FC236}">
                <a16:creationId xmlns:a16="http://schemas.microsoft.com/office/drawing/2014/main" id="{BAA799EB-2C18-8D20-A759-EC550F0CB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482975"/>
            <a:ext cx="3408363" cy="268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6">
            <a:extLst>
              <a:ext uri="{FF2B5EF4-FFF2-40B4-BE49-F238E27FC236}">
                <a16:creationId xmlns:a16="http://schemas.microsoft.com/office/drawing/2014/main" id="{47318A11-EB17-8926-7151-5B208F721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76600"/>
            <a:ext cx="349885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Picture 7">
            <a:extLst>
              <a:ext uri="{FF2B5EF4-FFF2-40B4-BE49-F238E27FC236}">
                <a16:creationId xmlns:a16="http://schemas.microsoft.com/office/drawing/2014/main" id="{F38EDDA3-EE71-AA94-1F97-C82F71D64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33400"/>
            <a:ext cx="3589338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2" name="Rectangle 8">
            <a:extLst>
              <a:ext uri="{FF2B5EF4-FFF2-40B4-BE49-F238E27FC236}">
                <a16:creationId xmlns:a16="http://schemas.microsoft.com/office/drawing/2014/main" id="{EFA29AED-4150-1ABA-8D22-393EEA87B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0488"/>
            <a:ext cx="773906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2800" b="1">
                <a:solidFill>
                  <a:srgbClr val="3333CC"/>
                </a:solidFill>
                <a:latin typeface="Verdana" panose="020B0604030504040204" pitchFamily="34" charset="0"/>
              </a:rPr>
              <a:t>Interfaces dos sistemas operacionais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>
            <a:extLst>
              <a:ext uri="{FF2B5EF4-FFF2-40B4-BE49-F238E27FC236}">
                <a16:creationId xmlns:a16="http://schemas.microsoft.com/office/drawing/2014/main" id="{BE1C351A-585F-D9C2-F7A0-2553A759E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56322" name="Rectangle 4">
            <a:extLst>
              <a:ext uri="{FF2B5EF4-FFF2-40B4-BE49-F238E27FC236}">
                <a16:creationId xmlns:a16="http://schemas.microsoft.com/office/drawing/2014/main" id="{83027B85-94B9-9CE2-C0BD-E0EC849FA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371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56323" name="Rectangle 5">
            <a:extLst>
              <a:ext uri="{FF2B5EF4-FFF2-40B4-BE49-F238E27FC236}">
                <a16:creationId xmlns:a16="http://schemas.microsoft.com/office/drawing/2014/main" id="{AA3DD6C6-4810-C061-D68D-3BBC1E258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268413"/>
            <a:ext cx="8353425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endParaRPr lang="pt-BR" altLang="pt-BR" sz="1400">
              <a:solidFill>
                <a:srgbClr val="000000"/>
              </a:solidFill>
            </a:endParaRPr>
          </a:p>
          <a:p>
            <a:pPr eaLnBrk="1" hangingPunct="1"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Observar e analisar as características do ambiente em que vivemos é um modo de desenvolver uma sensibilidade ao mundo desenhado em que vivemos e trabalhamos;</a:t>
            </a:r>
          </a:p>
          <a:p>
            <a:pPr eaLnBrk="1" hangingPunct="1">
              <a:buClrTx/>
              <a:buFontTx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eaLnBrk="1" hangingPunct="1"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Observar projetos bem sucedidos e mal sucedidos, capturando os pontos positivos para reutilizar quando necessário e os negativos para evitá-los;</a:t>
            </a:r>
          </a:p>
          <a:p>
            <a:pPr eaLnBrk="1" hangingPunct="1">
              <a:buClrTx/>
              <a:buFontTx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  <a:p>
            <a:pPr eaLnBrk="1" hangingPunct="1">
              <a:buClr>
                <a:srgbClr val="3333CC"/>
              </a:buClr>
              <a:buFont typeface="Verdana" panose="020B0604030504040204" pitchFamily="34" charset="0"/>
              <a:buChar char="•"/>
            </a:pPr>
            <a:r>
              <a:rPr lang="pt-BR" altLang="pt-BR">
                <a:solidFill>
                  <a:srgbClr val="3333CC"/>
                </a:solidFill>
                <a:latin typeface="Verdana" panose="020B0604030504040204" pitchFamily="34" charset="0"/>
              </a:rPr>
              <a:t> Busque sempre novas idéias.</a:t>
            </a:r>
          </a:p>
          <a:p>
            <a:pPr eaLnBrk="1" hangingPunct="1">
              <a:buClrTx/>
              <a:buFontTx/>
              <a:buNone/>
            </a:pPr>
            <a:endParaRPr lang="pt-BR" altLang="pt-BR">
              <a:solidFill>
                <a:srgbClr val="3333CC"/>
              </a:solidFill>
              <a:latin typeface="Verdana" panose="020B0604030504040204" pitchFamily="34" charset="0"/>
            </a:endParaRPr>
          </a:p>
        </p:txBody>
      </p:sp>
      <p:sp>
        <p:nvSpPr>
          <p:cNvPr id="56324" name="Rectangle 6">
            <a:extLst>
              <a:ext uri="{FF2B5EF4-FFF2-40B4-BE49-F238E27FC236}">
                <a16:creationId xmlns:a16="http://schemas.microsoft.com/office/drawing/2014/main" id="{37BE790C-1224-B255-AA00-50E7E0838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333375"/>
            <a:ext cx="69215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2800" b="1">
                <a:solidFill>
                  <a:srgbClr val="3333CC"/>
                </a:solidFill>
                <a:latin typeface="Verdana" panose="020B0604030504040204" pitchFamily="34" charset="0"/>
              </a:rPr>
              <a:t>Observando e Analisando o Redor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>
            <a:extLst>
              <a:ext uri="{FF2B5EF4-FFF2-40B4-BE49-F238E27FC236}">
                <a16:creationId xmlns:a16="http://schemas.microsoft.com/office/drawing/2014/main" id="{FCC0500E-7A43-A351-486C-217E1FD7E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58370" name="Rectangle 4">
            <a:extLst>
              <a:ext uri="{FF2B5EF4-FFF2-40B4-BE49-F238E27FC236}">
                <a16:creationId xmlns:a16="http://schemas.microsoft.com/office/drawing/2014/main" id="{FD0E2E62-26D2-E153-BA3F-B6D110AAA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213100"/>
            <a:ext cx="8208962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1800" b="1">
                <a:solidFill>
                  <a:srgbClr val="3333CC"/>
                </a:solidFill>
                <a:latin typeface="Verdana" panose="020B0604030504040204" pitchFamily="34" charset="0"/>
              </a:rPr>
              <a:t>Pense e reflita sobre programas ou algum meio de comunicação que você já fez uso e descreva algum problema relatado ou encontrado em sua interface.</a:t>
            </a:r>
          </a:p>
        </p:txBody>
      </p:sp>
      <p:sp>
        <p:nvSpPr>
          <p:cNvPr id="58371" name="Rectangle 5">
            <a:extLst>
              <a:ext uri="{FF2B5EF4-FFF2-40B4-BE49-F238E27FC236}">
                <a16:creationId xmlns:a16="http://schemas.microsoft.com/office/drawing/2014/main" id="{2A18D648-A6CA-9293-7F75-92DB3D7BB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136525"/>
            <a:ext cx="197008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2500" b="1">
                <a:solidFill>
                  <a:srgbClr val="3333CC"/>
                </a:solidFill>
                <a:latin typeface="Verdana" panose="020B0604030504040204" pitchFamily="34" charset="0"/>
              </a:rPr>
              <a:t>Exercícios</a:t>
            </a:r>
          </a:p>
        </p:txBody>
      </p:sp>
      <p:pic>
        <p:nvPicPr>
          <p:cNvPr id="58372" name="Picture 6">
            <a:extLst>
              <a:ext uri="{FF2B5EF4-FFF2-40B4-BE49-F238E27FC236}">
                <a16:creationId xmlns:a16="http://schemas.microsoft.com/office/drawing/2014/main" id="{0BEE3032-B2BB-E8F1-3CAA-A96F5BC60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42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609600"/>
            <a:ext cx="299085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>
            <a:extLst>
              <a:ext uri="{FF2B5EF4-FFF2-40B4-BE49-F238E27FC236}">
                <a16:creationId xmlns:a16="http://schemas.microsoft.com/office/drawing/2014/main" id="{56B1A055-8FCD-BEAA-C1B7-886ABBE46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3366FF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pt-BR"/>
          </a:p>
        </p:txBody>
      </p:sp>
      <p:sp>
        <p:nvSpPr>
          <p:cNvPr id="60418" name="Rectangle 4">
            <a:extLst>
              <a:ext uri="{FF2B5EF4-FFF2-40B4-BE49-F238E27FC236}">
                <a16:creationId xmlns:a16="http://schemas.microsoft.com/office/drawing/2014/main" id="{7DF2316A-70CA-D9E8-21EF-BECB63E72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575" y="2438400"/>
            <a:ext cx="4432300" cy="10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6000" b="1">
                <a:solidFill>
                  <a:srgbClr val="3333CC"/>
                </a:solidFill>
                <a:latin typeface="Verdana" panose="020B0604030504040204" pitchFamily="34" charset="0"/>
              </a:rPr>
              <a:t>Obrigada!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Apothecary.thmx</Template>
  <TotalTime>3957</TotalTime>
  <Words>791</Words>
  <Application>Microsoft Office PowerPoint</Application>
  <PresentationFormat>Apresentação na tela (4:3)</PresentationFormat>
  <Paragraphs>103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News Gothic MT</vt:lpstr>
      <vt:lpstr>Times New Roman</vt:lpstr>
      <vt:lpstr>Verdana</vt:lpstr>
      <vt:lpstr>Wingdings 2</vt:lpstr>
      <vt:lpstr>Breeze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feuc</dc:creator>
  <cp:lastModifiedBy>Giovana Fadini</cp:lastModifiedBy>
  <cp:revision>100</cp:revision>
  <cp:lastPrinted>1601-01-01T00:00:00Z</cp:lastPrinted>
  <dcterms:created xsi:type="dcterms:W3CDTF">2008-01-03T14:57:52Z</dcterms:created>
  <dcterms:modified xsi:type="dcterms:W3CDTF">2024-08-22T11:05:28Z</dcterms:modified>
</cp:coreProperties>
</file>